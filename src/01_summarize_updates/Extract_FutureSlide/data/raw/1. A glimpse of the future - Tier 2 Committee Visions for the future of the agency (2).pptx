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41"/>
  </p:notesMasterIdLst>
  <p:handoutMasterIdLst>
    <p:handoutMasterId r:id="rId42"/>
  </p:handoutMasterIdLst>
  <p:sldIdLst>
    <p:sldId id="256" r:id="rId3"/>
    <p:sldId id="2147482386" r:id="rId4"/>
    <p:sldId id="257" r:id="rId5"/>
    <p:sldId id="6859" r:id="rId6"/>
    <p:sldId id="258" r:id="rId7"/>
    <p:sldId id="2147482385" r:id="rId8"/>
    <p:sldId id="319" r:id="rId9"/>
    <p:sldId id="2147482388" r:id="rId10"/>
    <p:sldId id="2147482387" r:id="rId11"/>
    <p:sldId id="6863" r:id="rId12"/>
    <p:sldId id="6864" r:id="rId13"/>
    <p:sldId id="6865" r:id="rId14"/>
    <p:sldId id="375" r:id="rId15"/>
    <p:sldId id="6871" r:id="rId16"/>
    <p:sldId id="6858" r:id="rId17"/>
    <p:sldId id="6869" r:id="rId18"/>
    <p:sldId id="6870" r:id="rId19"/>
    <p:sldId id="6872" r:id="rId20"/>
    <p:sldId id="2147482377" r:id="rId21"/>
    <p:sldId id="2147482378" r:id="rId22"/>
    <p:sldId id="2147482379" r:id="rId23"/>
    <p:sldId id="2147482380" r:id="rId24"/>
    <p:sldId id="2147482381" r:id="rId25"/>
    <p:sldId id="2147482382" r:id="rId26"/>
    <p:sldId id="6860" r:id="rId27"/>
    <p:sldId id="6852" r:id="rId28"/>
    <p:sldId id="6849" r:id="rId29"/>
    <p:sldId id="6857" r:id="rId30"/>
    <p:sldId id="6866" r:id="rId31"/>
    <p:sldId id="6868" r:id="rId32"/>
    <p:sldId id="2147482359" r:id="rId33"/>
    <p:sldId id="2147482360" r:id="rId34"/>
    <p:sldId id="2147482383" r:id="rId35"/>
    <p:sldId id="6867" r:id="rId36"/>
    <p:sldId id="6855" r:id="rId37"/>
    <p:sldId id="6854" r:id="rId38"/>
    <p:sldId id="6856" r:id="rId39"/>
    <p:sldId id="273" r:id="rId40"/>
  </p:sldIdLst>
  <p:sldSz cx="12192000" cy="6858000"/>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E9ED50-7CF0-AF54-78A3-E0764ACEB75A}" name="Karaganis, Milana (she, her | elle, la) (StatCan)" initials="MK" userId="S::milana.karaganis@statcan.gc.ca::adde4bf7-109b-40ed-ad44-d8d88b4c1092" providerId="AD"/>
  <p188:author id="{A78309A0-1955-EA0D-2F96-7B812CF73310}" name="Martin Chapman" initials="MC" userId="S::martin.chapman@statcan.gc.ca::2305b159-821a-410f-9e22-69ebe8e0cbe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C3DBC5-C867-4624-A2CC-1737CE81B67B}" type="doc">
      <dgm:prSet loTypeId="urn:microsoft.com/office/officeart/2005/8/layout/default" loCatId="list" qsTypeId="urn:microsoft.com/office/officeart/2005/8/quickstyle/simple3" qsCatId="simple" csTypeId="urn:microsoft.com/office/officeart/2005/8/colors/accent1_5" csCatId="accent1" phldr="1"/>
      <dgm:spPr/>
      <dgm:t>
        <a:bodyPr/>
        <a:lstStyle/>
        <a:p>
          <a:endParaRPr lang="en-US"/>
        </a:p>
      </dgm:t>
    </dgm:pt>
    <dgm:pt modelId="{A7935284-9271-4FBF-840D-112E73031320}">
      <dgm:prSet custT="1"/>
      <dgm:spPr/>
      <dgm:t>
        <a:bodyPr/>
        <a:lstStyle/>
        <a:p>
          <a:r>
            <a:rPr lang="en-CA" sz="1400" b="1"/>
            <a:t>Data is separated from the systems </a:t>
          </a:r>
          <a:r>
            <a:rPr lang="en-CA" sz="1400"/>
            <a:t>to minimize the movement of data between systems - data processing  designed to act on data, bringing logic to data.  </a:t>
          </a:r>
          <a:r>
            <a:rPr lang="en-CA" sz="1400" b="1"/>
            <a:t>Access to data </a:t>
          </a:r>
          <a:r>
            <a:rPr lang="en-CA" sz="1400"/>
            <a:t>is governed separately from systems – driven by digital identity</a:t>
          </a:r>
          <a:endParaRPr lang="en-US" sz="1400"/>
        </a:p>
      </dgm:t>
    </dgm:pt>
    <dgm:pt modelId="{F4D11757-50C6-4402-9021-1E26416FC3EB}" type="parTrans" cxnId="{79BF2ED8-4C9D-45B0-AAC4-F87C49B00043}">
      <dgm:prSet/>
      <dgm:spPr/>
      <dgm:t>
        <a:bodyPr/>
        <a:lstStyle/>
        <a:p>
          <a:endParaRPr lang="en-US" sz="1600"/>
        </a:p>
      </dgm:t>
    </dgm:pt>
    <dgm:pt modelId="{1F726842-BE99-4FBC-AE43-A9E32C14C30A}" type="sibTrans" cxnId="{79BF2ED8-4C9D-45B0-AAC4-F87C49B00043}">
      <dgm:prSet/>
      <dgm:spPr/>
      <dgm:t>
        <a:bodyPr/>
        <a:lstStyle/>
        <a:p>
          <a:endParaRPr lang="en-US" sz="1600"/>
        </a:p>
      </dgm:t>
    </dgm:pt>
    <dgm:pt modelId="{5F526E4F-D753-4394-B9CB-F378A6104EC3}">
      <dgm:prSet custT="1"/>
      <dgm:spPr/>
      <dgm:t>
        <a:bodyPr/>
        <a:lstStyle/>
        <a:p>
          <a:r>
            <a:rPr lang="en-CA" sz="1400"/>
            <a:t>Statistical outputs are produced using </a:t>
          </a:r>
          <a:r>
            <a:rPr lang="en-CA" sz="1400" b="1"/>
            <a:t>automated, AI-driven, end-to-end data pipelines spanning from collection to dissemination of outputs</a:t>
          </a:r>
          <a:r>
            <a:rPr lang="en-CA" sz="1400"/>
            <a:t>.  Pipelines leverage standards (e.g., standards on dissemination products)</a:t>
          </a:r>
          <a:endParaRPr lang="en-US" sz="1400"/>
        </a:p>
      </dgm:t>
    </dgm:pt>
    <dgm:pt modelId="{82967D12-D9C0-463F-8D70-DA9063E39A74}" type="parTrans" cxnId="{BCEBE310-095B-4AC6-831B-AA34D945FEEF}">
      <dgm:prSet/>
      <dgm:spPr/>
      <dgm:t>
        <a:bodyPr/>
        <a:lstStyle/>
        <a:p>
          <a:endParaRPr lang="en-US" sz="1600"/>
        </a:p>
      </dgm:t>
    </dgm:pt>
    <dgm:pt modelId="{A1BEC8E9-35BA-464B-AEAE-07018CE05997}" type="sibTrans" cxnId="{BCEBE310-095B-4AC6-831B-AA34D945FEEF}">
      <dgm:prSet/>
      <dgm:spPr/>
      <dgm:t>
        <a:bodyPr/>
        <a:lstStyle/>
        <a:p>
          <a:endParaRPr lang="en-US" sz="1600"/>
        </a:p>
      </dgm:t>
    </dgm:pt>
    <dgm:pt modelId="{84BE2B53-D95C-4036-B9B6-5F3149EE4320}">
      <dgm:prSet custT="1"/>
      <dgm:spPr/>
      <dgm:t>
        <a:bodyPr/>
        <a:lstStyle/>
        <a:p>
          <a:r>
            <a:rPr lang="en-CA" sz="1400"/>
            <a:t>Employees have </a:t>
          </a:r>
          <a:r>
            <a:rPr lang="en-CA" sz="1400" b="1"/>
            <a:t>access to pre-approved platforms and tools enabling AI solutions </a:t>
          </a:r>
          <a:r>
            <a:rPr lang="en-CA" sz="1400"/>
            <a:t>- to build data analytics solutions, build and execute data pipelines spanning from collection to dissemination, automate workflows, etc. – without needing an IT developer</a:t>
          </a:r>
          <a:endParaRPr lang="en-US" sz="1400"/>
        </a:p>
      </dgm:t>
    </dgm:pt>
    <dgm:pt modelId="{2874E723-79C3-40FE-A5B5-3EBBE1372DAF}" type="parTrans" cxnId="{EC7B299F-A6E1-4E04-8627-5E796AAE4015}">
      <dgm:prSet/>
      <dgm:spPr/>
      <dgm:t>
        <a:bodyPr/>
        <a:lstStyle/>
        <a:p>
          <a:endParaRPr lang="en-US" sz="1600"/>
        </a:p>
      </dgm:t>
    </dgm:pt>
    <dgm:pt modelId="{B1985F81-49F6-4959-B748-C1B4804AE9F2}" type="sibTrans" cxnId="{EC7B299F-A6E1-4E04-8627-5E796AAE4015}">
      <dgm:prSet/>
      <dgm:spPr/>
      <dgm:t>
        <a:bodyPr/>
        <a:lstStyle/>
        <a:p>
          <a:endParaRPr lang="en-US" sz="1600"/>
        </a:p>
      </dgm:t>
    </dgm:pt>
    <dgm:pt modelId="{26DB8FB7-7800-41AB-9DED-28B51DBDF360}">
      <dgm:prSet custT="1"/>
      <dgm:spPr/>
      <dgm:t>
        <a:bodyPr/>
        <a:lstStyle/>
        <a:p>
          <a:r>
            <a:rPr lang="en-CA" sz="1400"/>
            <a:t>For digital initiatives, programs, operations and methodology, in partnership with IT, </a:t>
          </a:r>
          <a:r>
            <a:rPr lang="en-CA" sz="1400" b="1"/>
            <a:t>jointly select the most suitable development methodology </a:t>
          </a:r>
          <a:r>
            <a:rPr lang="en-CA" sz="1400"/>
            <a:t>(business / IT) </a:t>
          </a:r>
          <a:r>
            <a:rPr lang="en-CA" sz="1400" b="1"/>
            <a:t>and digital tools</a:t>
          </a:r>
          <a:r>
            <a:rPr lang="en-CA" sz="1400"/>
            <a:t> (from a set of pre-approved platforms and tools)</a:t>
          </a:r>
          <a:endParaRPr lang="en-US" sz="1400"/>
        </a:p>
      </dgm:t>
    </dgm:pt>
    <dgm:pt modelId="{B3309B74-1014-4A68-855C-7A4EF2BE7C4B}" type="parTrans" cxnId="{0BA2A756-9568-4D07-9245-DE0011C758AA}">
      <dgm:prSet/>
      <dgm:spPr/>
      <dgm:t>
        <a:bodyPr/>
        <a:lstStyle/>
        <a:p>
          <a:endParaRPr lang="en-US" sz="1600"/>
        </a:p>
      </dgm:t>
    </dgm:pt>
    <dgm:pt modelId="{A1AAE4D3-2096-4A81-8EC2-45D287774A5C}" type="sibTrans" cxnId="{0BA2A756-9568-4D07-9245-DE0011C758AA}">
      <dgm:prSet/>
      <dgm:spPr/>
      <dgm:t>
        <a:bodyPr/>
        <a:lstStyle/>
        <a:p>
          <a:endParaRPr lang="en-US" sz="1600"/>
        </a:p>
      </dgm:t>
    </dgm:pt>
    <dgm:pt modelId="{B5496DDC-A009-4ECE-8974-A9FBF46937FD}">
      <dgm:prSet custT="1"/>
      <dgm:spPr/>
      <dgm:t>
        <a:bodyPr/>
        <a:lstStyle/>
        <a:p>
          <a:r>
            <a:rPr lang="en-CA" sz="1400"/>
            <a:t>The organization </a:t>
          </a:r>
          <a:r>
            <a:rPr lang="en-CA" sz="1400" b="1"/>
            <a:t>supports two distinct modes of delivery</a:t>
          </a:r>
          <a:r>
            <a:rPr lang="en-CA" sz="1400"/>
            <a:t>: </a:t>
          </a:r>
          <a:r>
            <a:rPr lang="en-CA" sz="1400" b="1"/>
            <a:t>an experimentation ecosystem </a:t>
          </a:r>
          <a:r>
            <a:rPr lang="en-CA" sz="1400"/>
            <a:t>for rapid research and prototyping (e.g., AI model development), and </a:t>
          </a:r>
          <a:r>
            <a:rPr lang="en-CA" sz="1400" b="1"/>
            <a:t>a secure operational ecosystem </a:t>
          </a:r>
          <a:r>
            <a:rPr lang="en-CA" sz="1400"/>
            <a:t>for deploying and scaling validated solutions</a:t>
          </a:r>
          <a:endParaRPr lang="en-US" sz="1400"/>
        </a:p>
      </dgm:t>
    </dgm:pt>
    <dgm:pt modelId="{85D7FA73-41DA-4585-B23F-AD9A31FE603D}" type="parTrans" cxnId="{A8821E9E-4347-4173-91F1-525549DA286B}">
      <dgm:prSet/>
      <dgm:spPr/>
      <dgm:t>
        <a:bodyPr/>
        <a:lstStyle/>
        <a:p>
          <a:endParaRPr lang="en-US" sz="1600"/>
        </a:p>
      </dgm:t>
    </dgm:pt>
    <dgm:pt modelId="{B4B07666-3E6A-43FD-9522-323E8C1EB2CF}" type="sibTrans" cxnId="{A8821E9E-4347-4173-91F1-525549DA286B}">
      <dgm:prSet/>
      <dgm:spPr/>
      <dgm:t>
        <a:bodyPr/>
        <a:lstStyle/>
        <a:p>
          <a:endParaRPr lang="en-US" sz="1600"/>
        </a:p>
      </dgm:t>
    </dgm:pt>
    <dgm:pt modelId="{5F17AAD0-9C76-4D4D-9647-5FD0D6DF91D7}">
      <dgm:prSet custT="1"/>
      <dgm:spPr/>
      <dgm:t>
        <a:bodyPr/>
        <a:lstStyle/>
        <a:p>
          <a:r>
            <a:rPr lang="en-CA" sz="1400"/>
            <a:t>Business-built solutions are </a:t>
          </a:r>
          <a:r>
            <a:rPr lang="en-CA" sz="1400" b="1"/>
            <a:t>developed using pre-defined development processes </a:t>
          </a:r>
          <a:r>
            <a:rPr lang="en-CA" sz="1400"/>
            <a:t>that include appropriate guardrails</a:t>
          </a:r>
          <a:endParaRPr lang="en-US" sz="1400"/>
        </a:p>
      </dgm:t>
    </dgm:pt>
    <dgm:pt modelId="{C2F6A875-0038-43C6-940D-3F0841E169D8}" type="parTrans" cxnId="{EFB7672A-F69C-4432-857F-051BC3C50A9E}">
      <dgm:prSet/>
      <dgm:spPr/>
      <dgm:t>
        <a:bodyPr/>
        <a:lstStyle/>
        <a:p>
          <a:endParaRPr lang="en-US" sz="1600"/>
        </a:p>
      </dgm:t>
    </dgm:pt>
    <dgm:pt modelId="{7D3E73C4-48C3-41B9-969F-8F99408CCB99}" type="sibTrans" cxnId="{EFB7672A-F69C-4432-857F-051BC3C50A9E}">
      <dgm:prSet/>
      <dgm:spPr/>
      <dgm:t>
        <a:bodyPr/>
        <a:lstStyle/>
        <a:p>
          <a:endParaRPr lang="en-US" sz="1600"/>
        </a:p>
      </dgm:t>
    </dgm:pt>
    <dgm:pt modelId="{80D9BF43-65FF-494E-ADFF-0C02DC9EFADF}">
      <dgm:prSet custT="1"/>
      <dgm:spPr/>
      <dgm:t>
        <a:bodyPr/>
        <a:lstStyle/>
        <a:p>
          <a:r>
            <a:rPr lang="en-US" sz="1400" b="1"/>
            <a:t>Collection of business-built applications</a:t>
          </a:r>
          <a:r>
            <a:rPr lang="en-US" sz="1400"/>
            <a:t> (e.g., libraries, reused source code etc.) is treated as </a:t>
          </a:r>
          <a:r>
            <a:rPr lang="en-US" sz="1400" b="1"/>
            <a:t>assets – </a:t>
          </a:r>
          <a:r>
            <a:rPr lang="en-CA" sz="1400" b="1"/>
            <a:t>maintained, curated, managed, searchable, and reusable</a:t>
          </a:r>
          <a:r>
            <a:rPr lang="en-CA" sz="1400"/>
            <a:t>—avoiding duplication, increasing organizational learning, and minimizing risks from unauthorized changes</a:t>
          </a:r>
          <a:endParaRPr lang="en-US" sz="1400"/>
        </a:p>
      </dgm:t>
    </dgm:pt>
    <dgm:pt modelId="{0C51D870-2221-46F6-AC51-11A7FDC8A886}" type="parTrans" cxnId="{64A7B570-21B8-4FF1-942E-3048AC538D73}">
      <dgm:prSet/>
      <dgm:spPr/>
      <dgm:t>
        <a:bodyPr/>
        <a:lstStyle/>
        <a:p>
          <a:endParaRPr lang="en-US" sz="1600"/>
        </a:p>
      </dgm:t>
    </dgm:pt>
    <dgm:pt modelId="{F3F97C68-2187-4520-A37A-89E08018660F}" type="sibTrans" cxnId="{64A7B570-21B8-4FF1-942E-3048AC538D73}">
      <dgm:prSet/>
      <dgm:spPr/>
      <dgm:t>
        <a:bodyPr/>
        <a:lstStyle/>
        <a:p>
          <a:endParaRPr lang="en-US" sz="1600"/>
        </a:p>
      </dgm:t>
    </dgm:pt>
    <dgm:pt modelId="{95204A15-F290-4BF0-8CD2-D8646D7D4EAE}">
      <dgm:prSet custT="1"/>
      <dgm:spPr/>
      <dgm:t>
        <a:bodyPr/>
        <a:lstStyle/>
        <a:p>
          <a:r>
            <a:rPr lang="en-CA" sz="1400"/>
            <a:t>Digital assets created by business developers are </a:t>
          </a:r>
          <a:r>
            <a:rPr lang="en-CA" sz="1400" b="1"/>
            <a:t>owned and maintained by the business developers</a:t>
          </a:r>
          <a:endParaRPr lang="en-US" sz="1400" b="1"/>
        </a:p>
      </dgm:t>
    </dgm:pt>
    <dgm:pt modelId="{8AD08D21-9145-4809-8CF4-D5975861200B}" type="parTrans" cxnId="{F53E2AE6-1364-40EF-ACE5-CDB300C2C68C}">
      <dgm:prSet/>
      <dgm:spPr/>
      <dgm:t>
        <a:bodyPr/>
        <a:lstStyle/>
        <a:p>
          <a:endParaRPr lang="en-US" sz="1600"/>
        </a:p>
      </dgm:t>
    </dgm:pt>
    <dgm:pt modelId="{E5EA198A-18B0-4B07-AE79-BF98607D0E09}" type="sibTrans" cxnId="{F53E2AE6-1364-40EF-ACE5-CDB300C2C68C}">
      <dgm:prSet/>
      <dgm:spPr/>
      <dgm:t>
        <a:bodyPr/>
        <a:lstStyle/>
        <a:p>
          <a:endParaRPr lang="en-US" sz="1600"/>
        </a:p>
      </dgm:t>
    </dgm:pt>
    <dgm:pt modelId="{866FE47D-3C2F-4D0B-B0EA-2D0ED01DA9B3}">
      <dgm:prSet custT="1"/>
      <dgm:spPr/>
      <dgm:t>
        <a:bodyPr/>
        <a:lstStyle/>
        <a:p>
          <a:r>
            <a:rPr lang="en-CA" sz="1400"/>
            <a:t>Business developers are </a:t>
          </a:r>
          <a:r>
            <a:rPr lang="en-CA" sz="1400" b="1"/>
            <a:t>supported through training and onboarding </a:t>
          </a:r>
          <a:r>
            <a:rPr lang="en-CA" sz="1400"/>
            <a:t>to maximize use of available tools and to use business development processes efficiently, while complying with required guardrails</a:t>
          </a:r>
          <a:endParaRPr lang="en-US" sz="1400"/>
        </a:p>
      </dgm:t>
    </dgm:pt>
    <dgm:pt modelId="{2F15E2D3-C6A1-4357-96B7-8D0255696FE2}" type="parTrans" cxnId="{F3D74B93-D856-4F68-AF06-448256492F10}">
      <dgm:prSet/>
      <dgm:spPr/>
      <dgm:t>
        <a:bodyPr/>
        <a:lstStyle/>
        <a:p>
          <a:endParaRPr lang="en-US" sz="1600"/>
        </a:p>
      </dgm:t>
    </dgm:pt>
    <dgm:pt modelId="{F5980041-89D0-4181-BD1B-A8E892A786FA}" type="sibTrans" cxnId="{F3D74B93-D856-4F68-AF06-448256492F10}">
      <dgm:prSet/>
      <dgm:spPr/>
      <dgm:t>
        <a:bodyPr/>
        <a:lstStyle/>
        <a:p>
          <a:endParaRPr lang="en-US" sz="1600"/>
        </a:p>
      </dgm:t>
    </dgm:pt>
    <dgm:pt modelId="{0D74E0E4-02A4-46B9-8642-6C7EA9729FB6}" type="pres">
      <dgm:prSet presAssocID="{DBC3DBC5-C867-4624-A2CC-1737CE81B67B}" presName="diagram" presStyleCnt="0">
        <dgm:presLayoutVars>
          <dgm:dir/>
          <dgm:resizeHandles val="exact"/>
        </dgm:presLayoutVars>
      </dgm:prSet>
      <dgm:spPr/>
    </dgm:pt>
    <dgm:pt modelId="{D3429264-FB5D-4269-A5E5-03547C538EC5}" type="pres">
      <dgm:prSet presAssocID="{A7935284-9271-4FBF-840D-112E73031320}" presName="node" presStyleLbl="node1" presStyleIdx="0" presStyleCnt="9" custScaleX="146251">
        <dgm:presLayoutVars>
          <dgm:bulletEnabled val="1"/>
        </dgm:presLayoutVars>
      </dgm:prSet>
      <dgm:spPr/>
    </dgm:pt>
    <dgm:pt modelId="{14C23C24-2040-4976-8492-EA66D194B7A3}" type="pres">
      <dgm:prSet presAssocID="{1F726842-BE99-4FBC-AE43-A9E32C14C30A}" presName="sibTrans" presStyleCnt="0"/>
      <dgm:spPr/>
    </dgm:pt>
    <dgm:pt modelId="{77A59716-06E5-49BA-9ACA-6F9518832301}" type="pres">
      <dgm:prSet presAssocID="{5F526E4F-D753-4394-B9CB-F378A6104EC3}" presName="node" presStyleLbl="node1" presStyleIdx="1" presStyleCnt="9" custScaleX="132047">
        <dgm:presLayoutVars>
          <dgm:bulletEnabled val="1"/>
        </dgm:presLayoutVars>
      </dgm:prSet>
      <dgm:spPr/>
    </dgm:pt>
    <dgm:pt modelId="{57A53B0B-DD71-4DE4-B204-E6666948380A}" type="pres">
      <dgm:prSet presAssocID="{A1BEC8E9-35BA-464B-AEAE-07018CE05997}" presName="sibTrans" presStyleCnt="0"/>
      <dgm:spPr/>
    </dgm:pt>
    <dgm:pt modelId="{F7E93305-8D2A-49AE-9CE8-F26DC3734012}" type="pres">
      <dgm:prSet presAssocID="{84BE2B53-D95C-4036-B9B6-5F3149EE4320}" presName="node" presStyleLbl="node1" presStyleIdx="2" presStyleCnt="9" custScaleX="138680">
        <dgm:presLayoutVars>
          <dgm:bulletEnabled val="1"/>
        </dgm:presLayoutVars>
      </dgm:prSet>
      <dgm:spPr/>
    </dgm:pt>
    <dgm:pt modelId="{7B93609F-296E-471E-BE18-FADE27C15CB7}" type="pres">
      <dgm:prSet presAssocID="{B1985F81-49F6-4959-B748-C1B4804AE9F2}" presName="sibTrans" presStyleCnt="0"/>
      <dgm:spPr/>
    </dgm:pt>
    <dgm:pt modelId="{0D801BEC-6BE2-4F0D-9F36-112C18270C14}" type="pres">
      <dgm:prSet presAssocID="{26DB8FB7-7800-41AB-9DED-28B51DBDF360}" presName="node" presStyleLbl="node1" presStyleIdx="3" presStyleCnt="9" custScaleX="146251">
        <dgm:presLayoutVars>
          <dgm:bulletEnabled val="1"/>
        </dgm:presLayoutVars>
      </dgm:prSet>
      <dgm:spPr/>
    </dgm:pt>
    <dgm:pt modelId="{C2D1E309-5DF2-4138-BC92-D1EAD016FB24}" type="pres">
      <dgm:prSet presAssocID="{A1AAE4D3-2096-4A81-8EC2-45D287774A5C}" presName="sibTrans" presStyleCnt="0"/>
      <dgm:spPr/>
    </dgm:pt>
    <dgm:pt modelId="{17F54CDF-1A08-432C-A489-125CBB55FA14}" type="pres">
      <dgm:prSet presAssocID="{B5496DDC-A009-4ECE-8974-A9FBF46937FD}" presName="node" presStyleLbl="node1" presStyleIdx="4" presStyleCnt="9" custScaleX="132047">
        <dgm:presLayoutVars>
          <dgm:bulletEnabled val="1"/>
        </dgm:presLayoutVars>
      </dgm:prSet>
      <dgm:spPr/>
    </dgm:pt>
    <dgm:pt modelId="{D501594D-EE8C-46B7-88B2-4722BC4BAC92}" type="pres">
      <dgm:prSet presAssocID="{B4B07666-3E6A-43FD-9522-323E8C1EB2CF}" presName="sibTrans" presStyleCnt="0"/>
      <dgm:spPr/>
    </dgm:pt>
    <dgm:pt modelId="{B4A648D2-B674-4BA8-84A8-1EC63C69CFD3}" type="pres">
      <dgm:prSet presAssocID="{5F17AAD0-9C76-4D4D-9647-5FD0D6DF91D7}" presName="node" presStyleLbl="node1" presStyleIdx="5" presStyleCnt="9" custScaleX="138680">
        <dgm:presLayoutVars>
          <dgm:bulletEnabled val="1"/>
        </dgm:presLayoutVars>
      </dgm:prSet>
      <dgm:spPr/>
    </dgm:pt>
    <dgm:pt modelId="{174F6F97-7F69-4D6C-96E2-242EF8BFA010}" type="pres">
      <dgm:prSet presAssocID="{7D3E73C4-48C3-41B9-969F-8F99408CCB99}" presName="sibTrans" presStyleCnt="0"/>
      <dgm:spPr/>
    </dgm:pt>
    <dgm:pt modelId="{90255F84-A760-41F9-823E-75BB9D455A5F}" type="pres">
      <dgm:prSet presAssocID="{80D9BF43-65FF-494E-ADFF-0C02DC9EFADF}" presName="node" presStyleLbl="node1" presStyleIdx="6" presStyleCnt="9" custScaleX="146251">
        <dgm:presLayoutVars>
          <dgm:bulletEnabled val="1"/>
        </dgm:presLayoutVars>
      </dgm:prSet>
      <dgm:spPr/>
    </dgm:pt>
    <dgm:pt modelId="{FF80743D-2773-4E4D-8824-9828DFA538A4}" type="pres">
      <dgm:prSet presAssocID="{F3F97C68-2187-4520-A37A-89E08018660F}" presName="sibTrans" presStyleCnt="0"/>
      <dgm:spPr/>
    </dgm:pt>
    <dgm:pt modelId="{AA2CC52D-1193-4C18-9AC8-A96B4E4B536E}" type="pres">
      <dgm:prSet presAssocID="{95204A15-F290-4BF0-8CD2-D8646D7D4EAE}" presName="node" presStyleLbl="node1" presStyleIdx="7" presStyleCnt="9" custScaleX="132047">
        <dgm:presLayoutVars>
          <dgm:bulletEnabled val="1"/>
        </dgm:presLayoutVars>
      </dgm:prSet>
      <dgm:spPr/>
    </dgm:pt>
    <dgm:pt modelId="{8515E10B-EB82-49BF-918C-699367679225}" type="pres">
      <dgm:prSet presAssocID="{E5EA198A-18B0-4B07-AE79-BF98607D0E09}" presName="sibTrans" presStyleCnt="0"/>
      <dgm:spPr/>
    </dgm:pt>
    <dgm:pt modelId="{20D5D5A0-E438-4DEB-A867-F108C8F731A5}" type="pres">
      <dgm:prSet presAssocID="{866FE47D-3C2F-4D0B-B0EA-2D0ED01DA9B3}" presName="node" presStyleLbl="node1" presStyleIdx="8" presStyleCnt="9" custScaleX="138680">
        <dgm:presLayoutVars>
          <dgm:bulletEnabled val="1"/>
        </dgm:presLayoutVars>
      </dgm:prSet>
      <dgm:spPr/>
    </dgm:pt>
  </dgm:ptLst>
  <dgm:cxnLst>
    <dgm:cxn modelId="{BCEBE310-095B-4AC6-831B-AA34D945FEEF}" srcId="{DBC3DBC5-C867-4624-A2CC-1737CE81B67B}" destId="{5F526E4F-D753-4394-B9CB-F378A6104EC3}" srcOrd="1" destOrd="0" parTransId="{82967D12-D9C0-463F-8D70-DA9063E39A74}" sibTransId="{A1BEC8E9-35BA-464B-AEAE-07018CE05997}"/>
    <dgm:cxn modelId="{EFB7672A-F69C-4432-857F-051BC3C50A9E}" srcId="{DBC3DBC5-C867-4624-A2CC-1737CE81B67B}" destId="{5F17AAD0-9C76-4D4D-9647-5FD0D6DF91D7}" srcOrd="5" destOrd="0" parTransId="{C2F6A875-0038-43C6-940D-3F0841E169D8}" sibTransId="{7D3E73C4-48C3-41B9-969F-8F99408CCB99}"/>
    <dgm:cxn modelId="{A01B6E62-ECB0-485A-843A-B6224FB75A52}" type="presOf" srcId="{866FE47D-3C2F-4D0B-B0EA-2D0ED01DA9B3}" destId="{20D5D5A0-E438-4DEB-A867-F108C8F731A5}" srcOrd="0" destOrd="0" presId="urn:microsoft.com/office/officeart/2005/8/layout/default"/>
    <dgm:cxn modelId="{775B2443-5C32-4E6D-9505-4E65D214AF96}" type="presOf" srcId="{5F17AAD0-9C76-4D4D-9647-5FD0D6DF91D7}" destId="{B4A648D2-B674-4BA8-84A8-1EC63C69CFD3}" srcOrd="0" destOrd="0" presId="urn:microsoft.com/office/officeart/2005/8/layout/default"/>
    <dgm:cxn modelId="{64A7B570-21B8-4FF1-942E-3048AC538D73}" srcId="{DBC3DBC5-C867-4624-A2CC-1737CE81B67B}" destId="{80D9BF43-65FF-494E-ADFF-0C02DC9EFADF}" srcOrd="6" destOrd="0" parTransId="{0C51D870-2221-46F6-AC51-11A7FDC8A886}" sibTransId="{F3F97C68-2187-4520-A37A-89E08018660F}"/>
    <dgm:cxn modelId="{EF4DD370-607E-403A-A6EF-45D7139D2DF4}" type="presOf" srcId="{84BE2B53-D95C-4036-B9B6-5F3149EE4320}" destId="{F7E93305-8D2A-49AE-9CE8-F26DC3734012}" srcOrd="0" destOrd="0" presId="urn:microsoft.com/office/officeart/2005/8/layout/default"/>
    <dgm:cxn modelId="{0BA2A756-9568-4D07-9245-DE0011C758AA}" srcId="{DBC3DBC5-C867-4624-A2CC-1737CE81B67B}" destId="{26DB8FB7-7800-41AB-9DED-28B51DBDF360}" srcOrd="3" destOrd="0" parTransId="{B3309B74-1014-4A68-855C-7A4EF2BE7C4B}" sibTransId="{A1AAE4D3-2096-4A81-8EC2-45D287774A5C}"/>
    <dgm:cxn modelId="{D4B2EF58-6A13-4EA0-9693-B0C950F16223}" type="presOf" srcId="{26DB8FB7-7800-41AB-9DED-28B51DBDF360}" destId="{0D801BEC-6BE2-4F0D-9F36-112C18270C14}" srcOrd="0" destOrd="0" presId="urn:microsoft.com/office/officeart/2005/8/layout/default"/>
    <dgm:cxn modelId="{108E9A7C-9BFE-40D4-81DA-04A95544017D}" type="presOf" srcId="{A7935284-9271-4FBF-840D-112E73031320}" destId="{D3429264-FB5D-4269-A5E5-03547C538EC5}" srcOrd="0" destOrd="0" presId="urn:microsoft.com/office/officeart/2005/8/layout/default"/>
    <dgm:cxn modelId="{0B57028C-B253-4B52-8159-4702CE41F097}" type="presOf" srcId="{80D9BF43-65FF-494E-ADFF-0C02DC9EFADF}" destId="{90255F84-A760-41F9-823E-75BB9D455A5F}" srcOrd="0" destOrd="0" presId="urn:microsoft.com/office/officeart/2005/8/layout/default"/>
    <dgm:cxn modelId="{F3D74B93-D856-4F68-AF06-448256492F10}" srcId="{DBC3DBC5-C867-4624-A2CC-1737CE81B67B}" destId="{866FE47D-3C2F-4D0B-B0EA-2D0ED01DA9B3}" srcOrd="8" destOrd="0" parTransId="{2F15E2D3-C6A1-4357-96B7-8D0255696FE2}" sibTransId="{F5980041-89D0-4181-BD1B-A8E892A786FA}"/>
    <dgm:cxn modelId="{A8821E9E-4347-4173-91F1-525549DA286B}" srcId="{DBC3DBC5-C867-4624-A2CC-1737CE81B67B}" destId="{B5496DDC-A009-4ECE-8974-A9FBF46937FD}" srcOrd="4" destOrd="0" parTransId="{85D7FA73-41DA-4585-B23F-AD9A31FE603D}" sibTransId="{B4B07666-3E6A-43FD-9522-323E8C1EB2CF}"/>
    <dgm:cxn modelId="{EC7B299F-A6E1-4E04-8627-5E796AAE4015}" srcId="{DBC3DBC5-C867-4624-A2CC-1737CE81B67B}" destId="{84BE2B53-D95C-4036-B9B6-5F3149EE4320}" srcOrd="2" destOrd="0" parTransId="{2874E723-79C3-40FE-A5B5-3EBBE1372DAF}" sibTransId="{B1985F81-49F6-4959-B748-C1B4804AE9F2}"/>
    <dgm:cxn modelId="{D05451A6-C32E-40E7-8B2A-0D9DC9F82793}" type="presOf" srcId="{B5496DDC-A009-4ECE-8974-A9FBF46937FD}" destId="{17F54CDF-1A08-432C-A489-125CBB55FA14}" srcOrd="0" destOrd="0" presId="urn:microsoft.com/office/officeart/2005/8/layout/default"/>
    <dgm:cxn modelId="{4EAFF1CF-9722-4630-9833-19EBF6084648}" type="presOf" srcId="{5F526E4F-D753-4394-B9CB-F378A6104EC3}" destId="{77A59716-06E5-49BA-9ACA-6F9518832301}" srcOrd="0" destOrd="0" presId="urn:microsoft.com/office/officeart/2005/8/layout/default"/>
    <dgm:cxn modelId="{25EDD3D7-CEFA-4B3B-AFDC-36DBB35F4A0C}" type="presOf" srcId="{95204A15-F290-4BF0-8CD2-D8646D7D4EAE}" destId="{AA2CC52D-1193-4C18-9AC8-A96B4E4B536E}" srcOrd="0" destOrd="0" presId="urn:microsoft.com/office/officeart/2005/8/layout/default"/>
    <dgm:cxn modelId="{79BF2ED8-4C9D-45B0-AAC4-F87C49B00043}" srcId="{DBC3DBC5-C867-4624-A2CC-1737CE81B67B}" destId="{A7935284-9271-4FBF-840D-112E73031320}" srcOrd="0" destOrd="0" parTransId="{F4D11757-50C6-4402-9021-1E26416FC3EB}" sibTransId="{1F726842-BE99-4FBC-AE43-A9E32C14C30A}"/>
    <dgm:cxn modelId="{F53E2AE6-1364-40EF-ACE5-CDB300C2C68C}" srcId="{DBC3DBC5-C867-4624-A2CC-1737CE81B67B}" destId="{95204A15-F290-4BF0-8CD2-D8646D7D4EAE}" srcOrd="7" destOrd="0" parTransId="{8AD08D21-9145-4809-8CF4-D5975861200B}" sibTransId="{E5EA198A-18B0-4B07-AE79-BF98607D0E09}"/>
    <dgm:cxn modelId="{082906FA-002E-4C51-970A-03FA2CFC98CC}" type="presOf" srcId="{DBC3DBC5-C867-4624-A2CC-1737CE81B67B}" destId="{0D74E0E4-02A4-46B9-8642-6C7EA9729FB6}" srcOrd="0" destOrd="0" presId="urn:microsoft.com/office/officeart/2005/8/layout/default"/>
    <dgm:cxn modelId="{FBB2FDA6-CB32-4D9F-9A1B-0F225CFCB8E7}" type="presParOf" srcId="{0D74E0E4-02A4-46B9-8642-6C7EA9729FB6}" destId="{D3429264-FB5D-4269-A5E5-03547C538EC5}" srcOrd="0" destOrd="0" presId="urn:microsoft.com/office/officeart/2005/8/layout/default"/>
    <dgm:cxn modelId="{60DB1097-A994-4426-ABF4-CEDB106C148F}" type="presParOf" srcId="{0D74E0E4-02A4-46B9-8642-6C7EA9729FB6}" destId="{14C23C24-2040-4976-8492-EA66D194B7A3}" srcOrd="1" destOrd="0" presId="urn:microsoft.com/office/officeart/2005/8/layout/default"/>
    <dgm:cxn modelId="{789BAA91-5CFF-4262-B661-018D75251906}" type="presParOf" srcId="{0D74E0E4-02A4-46B9-8642-6C7EA9729FB6}" destId="{77A59716-06E5-49BA-9ACA-6F9518832301}" srcOrd="2" destOrd="0" presId="urn:microsoft.com/office/officeart/2005/8/layout/default"/>
    <dgm:cxn modelId="{972294F4-3F10-4818-A34B-8B3A825EBE5E}" type="presParOf" srcId="{0D74E0E4-02A4-46B9-8642-6C7EA9729FB6}" destId="{57A53B0B-DD71-4DE4-B204-E6666948380A}" srcOrd="3" destOrd="0" presId="urn:microsoft.com/office/officeart/2005/8/layout/default"/>
    <dgm:cxn modelId="{84927115-1374-45AF-962B-06E19C78C134}" type="presParOf" srcId="{0D74E0E4-02A4-46B9-8642-6C7EA9729FB6}" destId="{F7E93305-8D2A-49AE-9CE8-F26DC3734012}" srcOrd="4" destOrd="0" presId="urn:microsoft.com/office/officeart/2005/8/layout/default"/>
    <dgm:cxn modelId="{E1AF1430-F8DE-459E-B8B9-471DC7061A53}" type="presParOf" srcId="{0D74E0E4-02A4-46B9-8642-6C7EA9729FB6}" destId="{7B93609F-296E-471E-BE18-FADE27C15CB7}" srcOrd="5" destOrd="0" presId="urn:microsoft.com/office/officeart/2005/8/layout/default"/>
    <dgm:cxn modelId="{4732CD86-3738-4C06-B8D6-85C117A12AD2}" type="presParOf" srcId="{0D74E0E4-02A4-46B9-8642-6C7EA9729FB6}" destId="{0D801BEC-6BE2-4F0D-9F36-112C18270C14}" srcOrd="6" destOrd="0" presId="urn:microsoft.com/office/officeart/2005/8/layout/default"/>
    <dgm:cxn modelId="{90582012-E404-4A1F-A6D2-73908947CD8E}" type="presParOf" srcId="{0D74E0E4-02A4-46B9-8642-6C7EA9729FB6}" destId="{C2D1E309-5DF2-4138-BC92-D1EAD016FB24}" srcOrd="7" destOrd="0" presId="urn:microsoft.com/office/officeart/2005/8/layout/default"/>
    <dgm:cxn modelId="{CF8C7D65-5EDA-46CC-89C2-184F74083C7D}" type="presParOf" srcId="{0D74E0E4-02A4-46B9-8642-6C7EA9729FB6}" destId="{17F54CDF-1A08-432C-A489-125CBB55FA14}" srcOrd="8" destOrd="0" presId="urn:microsoft.com/office/officeart/2005/8/layout/default"/>
    <dgm:cxn modelId="{D794C6E9-5157-4829-A844-2A93BCB91DB5}" type="presParOf" srcId="{0D74E0E4-02A4-46B9-8642-6C7EA9729FB6}" destId="{D501594D-EE8C-46B7-88B2-4722BC4BAC92}" srcOrd="9" destOrd="0" presId="urn:microsoft.com/office/officeart/2005/8/layout/default"/>
    <dgm:cxn modelId="{D86D1D27-205B-4721-8034-E766B82360D2}" type="presParOf" srcId="{0D74E0E4-02A4-46B9-8642-6C7EA9729FB6}" destId="{B4A648D2-B674-4BA8-84A8-1EC63C69CFD3}" srcOrd="10" destOrd="0" presId="urn:microsoft.com/office/officeart/2005/8/layout/default"/>
    <dgm:cxn modelId="{DB9933E3-F883-46E9-A4BD-FAC007479904}" type="presParOf" srcId="{0D74E0E4-02A4-46B9-8642-6C7EA9729FB6}" destId="{174F6F97-7F69-4D6C-96E2-242EF8BFA010}" srcOrd="11" destOrd="0" presId="urn:microsoft.com/office/officeart/2005/8/layout/default"/>
    <dgm:cxn modelId="{E1930BE4-F4A9-46DB-A263-9F414548086F}" type="presParOf" srcId="{0D74E0E4-02A4-46B9-8642-6C7EA9729FB6}" destId="{90255F84-A760-41F9-823E-75BB9D455A5F}" srcOrd="12" destOrd="0" presId="urn:microsoft.com/office/officeart/2005/8/layout/default"/>
    <dgm:cxn modelId="{FF193257-DCC9-49BA-828B-E65E45E4560A}" type="presParOf" srcId="{0D74E0E4-02A4-46B9-8642-6C7EA9729FB6}" destId="{FF80743D-2773-4E4D-8824-9828DFA538A4}" srcOrd="13" destOrd="0" presId="urn:microsoft.com/office/officeart/2005/8/layout/default"/>
    <dgm:cxn modelId="{1390F24A-C9BA-4A99-82B0-A7E8750E8132}" type="presParOf" srcId="{0D74E0E4-02A4-46B9-8642-6C7EA9729FB6}" destId="{AA2CC52D-1193-4C18-9AC8-A96B4E4B536E}" srcOrd="14" destOrd="0" presId="urn:microsoft.com/office/officeart/2005/8/layout/default"/>
    <dgm:cxn modelId="{5BD57D97-7FF7-48E2-BC99-81D715DDAD12}" type="presParOf" srcId="{0D74E0E4-02A4-46B9-8642-6C7EA9729FB6}" destId="{8515E10B-EB82-49BF-918C-699367679225}" srcOrd="15" destOrd="0" presId="urn:microsoft.com/office/officeart/2005/8/layout/default"/>
    <dgm:cxn modelId="{48819B4C-068E-438F-90F5-4591C94D7AD0}" type="presParOf" srcId="{0D74E0E4-02A4-46B9-8642-6C7EA9729FB6}" destId="{20D5D5A0-E438-4DEB-A867-F108C8F731A5}"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1D7ADF-223A-46B7-94B5-7B1F69364FD0}"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CA"/>
        </a:p>
      </dgm:t>
    </dgm:pt>
    <dgm:pt modelId="{A7EA2273-88D4-4D2F-883A-6B76130885E0}">
      <dgm:prSet/>
      <dgm:spPr/>
      <dgm:t>
        <a:bodyPr/>
        <a:lstStyle/>
        <a:p>
          <a:r>
            <a:rPr lang="en-US" b="1" i="0" baseline="0"/>
            <a:t>Specify Needs</a:t>
          </a:r>
          <a:endParaRPr lang="en-CA"/>
        </a:p>
      </dgm:t>
    </dgm:pt>
    <dgm:pt modelId="{05562A5C-C5A2-46D1-8039-4DD756E40183}" type="parTrans" cxnId="{72360B20-93BA-4ED7-8FA9-440C26D56244}">
      <dgm:prSet/>
      <dgm:spPr/>
      <dgm:t>
        <a:bodyPr/>
        <a:lstStyle/>
        <a:p>
          <a:endParaRPr lang="en-CA"/>
        </a:p>
      </dgm:t>
    </dgm:pt>
    <dgm:pt modelId="{E72AB08E-644E-472A-BBC1-02F6486C8F21}" type="sibTrans" cxnId="{72360B20-93BA-4ED7-8FA9-440C26D56244}">
      <dgm:prSet/>
      <dgm:spPr/>
      <dgm:t>
        <a:bodyPr/>
        <a:lstStyle/>
        <a:p>
          <a:endParaRPr lang="en-CA"/>
        </a:p>
      </dgm:t>
    </dgm:pt>
    <dgm:pt modelId="{5CEE3926-E9F9-48D5-97B4-3F56F75CB597}">
      <dgm:prSet/>
      <dgm:spPr/>
      <dgm:t>
        <a:bodyPr/>
        <a:lstStyle/>
        <a:p>
          <a:r>
            <a:rPr lang="en-CA"/>
            <a:t>An AI chatbot on the agency’s website can gather real-time feedback from stakeholders about their statistical needs, fostering continuous engagement.</a:t>
          </a:r>
        </a:p>
      </dgm:t>
    </dgm:pt>
    <dgm:pt modelId="{61D174E9-6DCB-48BB-A447-3C0C2B710A6F}" type="sibTrans" cxnId="{DCF40F03-9EB5-47F2-BB91-56729C928D72}">
      <dgm:prSet/>
      <dgm:spPr/>
      <dgm:t>
        <a:bodyPr/>
        <a:lstStyle/>
        <a:p>
          <a:endParaRPr lang="en-CA"/>
        </a:p>
      </dgm:t>
    </dgm:pt>
    <dgm:pt modelId="{DAC04ED9-5267-453C-A24D-5AAF6E20FD1E}" type="parTrans" cxnId="{DCF40F03-9EB5-47F2-BB91-56729C928D72}">
      <dgm:prSet/>
      <dgm:spPr/>
      <dgm:t>
        <a:bodyPr/>
        <a:lstStyle/>
        <a:p>
          <a:endParaRPr lang="en-CA"/>
        </a:p>
      </dgm:t>
    </dgm:pt>
    <dgm:pt modelId="{E7E4865A-F7D3-4859-BB88-ABDDCF760FA6}">
      <dgm:prSet/>
      <dgm:spPr/>
      <dgm:t>
        <a:bodyPr/>
        <a:lstStyle/>
        <a:p>
          <a:r>
            <a:rPr lang="en-CA" b="1"/>
            <a:t>GSBPM 2.2 (Designing variable descriptions):</a:t>
          </a:r>
          <a:r>
            <a:rPr lang="en-CA"/>
            <a:t> LLMs can assist in generating and refining descriptions for statistical variables.</a:t>
          </a:r>
        </a:p>
      </dgm:t>
    </dgm:pt>
    <dgm:pt modelId="{B164981B-B862-4E31-ADD6-CCC96ACF371B}" type="sibTrans" cxnId="{ADA23BF4-4B32-4CD2-B3D5-EFB41856D398}">
      <dgm:prSet/>
      <dgm:spPr/>
      <dgm:t>
        <a:bodyPr/>
        <a:lstStyle/>
        <a:p>
          <a:endParaRPr lang="en-CA"/>
        </a:p>
      </dgm:t>
    </dgm:pt>
    <dgm:pt modelId="{D9B9FB02-AB8B-43BC-95B4-6486CE94A93F}" type="parTrans" cxnId="{ADA23BF4-4B32-4CD2-B3D5-EFB41856D398}">
      <dgm:prSet/>
      <dgm:spPr/>
      <dgm:t>
        <a:bodyPr/>
        <a:lstStyle/>
        <a:p>
          <a:endParaRPr lang="en-CA"/>
        </a:p>
      </dgm:t>
    </dgm:pt>
    <dgm:pt modelId="{78455254-9A0C-4D60-A5BC-366FF700DBF0}">
      <dgm:prSet/>
      <dgm:spPr/>
      <dgm:t>
        <a:bodyPr/>
        <a:lstStyle/>
        <a:p>
          <a:r>
            <a:rPr lang="en-US" b="1" i="0" baseline="0"/>
            <a:t>Build</a:t>
          </a:r>
          <a:endParaRPr lang="en-CA"/>
        </a:p>
      </dgm:t>
    </dgm:pt>
    <dgm:pt modelId="{D4C89961-8E2F-43A8-95D1-10FC02D1CB9D}" type="sibTrans" cxnId="{A8ED6E3A-6767-4067-AEE5-F688C47B0F9E}">
      <dgm:prSet/>
      <dgm:spPr/>
      <dgm:t>
        <a:bodyPr/>
        <a:lstStyle/>
        <a:p>
          <a:endParaRPr lang="en-CA"/>
        </a:p>
      </dgm:t>
    </dgm:pt>
    <dgm:pt modelId="{77F8257B-D17C-4D0B-B9A9-D5AD8E3C8CB7}" type="parTrans" cxnId="{A8ED6E3A-6767-4067-AEE5-F688C47B0F9E}">
      <dgm:prSet/>
      <dgm:spPr/>
      <dgm:t>
        <a:bodyPr/>
        <a:lstStyle/>
        <a:p>
          <a:endParaRPr lang="en-CA"/>
        </a:p>
      </dgm:t>
    </dgm:pt>
    <dgm:pt modelId="{B1879D10-9C7C-48FE-9929-9A07C2CA7429}">
      <dgm:prSet/>
      <dgm:spPr/>
      <dgm:t>
        <a:bodyPr/>
        <a:lstStyle/>
        <a:p>
          <a:r>
            <a:rPr lang="en-CA"/>
            <a:t>LLMs can assist in building, debugging, and translating existing code.</a:t>
          </a:r>
        </a:p>
      </dgm:t>
    </dgm:pt>
    <dgm:pt modelId="{275A58DF-87DA-4DB0-B75B-FD1C79E1F5FA}" type="sibTrans" cxnId="{4DF2723B-FB05-4FB0-A7B2-B29A81CE5102}">
      <dgm:prSet/>
      <dgm:spPr/>
      <dgm:t>
        <a:bodyPr/>
        <a:lstStyle/>
        <a:p>
          <a:endParaRPr lang="en-CA"/>
        </a:p>
      </dgm:t>
    </dgm:pt>
    <dgm:pt modelId="{3243771D-6BB5-413F-9877-83974F886528}" type="parTrans" cxnId="{4DF2723B-FB05-4FB0-A7B2-B29A81CE5102}">
      <dgm:prSet/>
      <dgm:spPr/>
      <dgm:t>
        <a:bodyPr/>
        <a:lstStyle/>
        <a:p>
          <a:endParaRPr lang="en-CA"/>
        </a:p>
      </dgm:t>
    </dgm:pt>
    <dgm:pt modelId="{CBE4BC7C-B562-4041-ADC5-CC081AD4FCBF}">
      <dgm:prSet/>
      <dgm:spPr/>
      <dgm:t>
        <a:bodyPr/>
        <a:lstStyle/>
        <a:p>
          <a:r>
            <a:rPr lang="en-US" b="1" i="0" baseline="0"/>
            <a:t>Collect</a:t>
          </a:r>
          <a:endParaRPr lang="en-CA"/>
        </a:p>
      </dgm:t>
    </dgm:pt>
    <dgm:pt modelId="{B75E9CCB-8A84-427B-A788-F07621B2A890}" type="sibTrans" cxnId="{C695AB4D-CF61-4917-8AE2-7B6BB6AC9C9E}">
      <dgm:prSet/>
      <dgm:spPr/>
      <dgm:t>
        <a:bodyPr/>
        <a:lstStyle/>
        <a:p>
          <a:endParaRPr lang="en-CA"/>
        </a:p>
      </dgm:t>
    </dgm:pt>
    <dgm:pt modelId="{F6E3759A-3E6B-4EF3-95DC-D415B0D9F9B0}" type="parTrans" cxnId="{C695AB4D-CF61-4917-8AE2-7B6BB6AC9C9E}">
      <dgm:prSet/>
      <dgm:spPr/>
      <dgm:t>
        <a:bodyPr/>
        <a:lstStyle/>
        <a:p>
          <a:endParaRPr lang="en-CA"/>
        </a:p>
      </dgm:t>
    </dgm:pt>
    <dgm:pt modelId="{DEA5B541-A4D0-45ED-9A64-25D1EAD9362D}">
      <dgm:prSet/>
      <dgm:spPr/>
      <dgm:t>
        <a:bodyPr/>
        <a:lstStyle/>
        <a:p>
          <a:r>
            <a:rPr lang="en-CA" b="1"/>
            <a:t>GSBPM 4.1 (Create frame and select sample):</a:t>
          </a:r>
          <a:r>
            <a:rPr lang="en-CA"/>
            <a:t> LLMs can support record linkage to create a more accurate sampling frame.</a:t>
          </a:r>
        </a:p>
      </dgm:t>
    </dgm:pt>
    <dgm:pt modelId="{D5B49E9E-DFA2-4DF9-B45B-57B5AA492FEB}" type="sibTrans" cxnId="{44715A0C-84FE-4BB7-B7E9-E2E975545FE6}">
      <dgm:prSet/>
      <dgm:spPr/>
      <dgm:t>
        <a:bodyPr/>
        <a:lstStyle/>
        <a:p>
          <a:endParaRPr lang="en-CA"/>
        </a:p>
      </dgm:t>
    </dgm:pt>
    <dgm:pt modelId="{D66AF839-7113-4418-9174-8570B07CFD4E}" type="parTrans" cxnId="{44715A0C-84FE-4BB7-B7E9-E2E975545FE6}">
      <dgm:prSet/>
      <dgm:spPr/>
      <dgm:t>
        <a:bodyPr/>
        <a:lstStyle/>
        <a:p>
          <a:endParaRPr lang="en-CA"/>
        </a:p>
      </dgm:t>
    </dgm:pt>
    <dgm:pt modelId="{3278C972-29DD-48A9-B78D-28BB27D5EA2E}">
      <dgm:prSet/>
      <dgm:spPr/>
      <dgm:t>
        <a:bodyPr/>
        <a:lstStyle/>
        <a:p>
          <a:r>
            <a:rPr lang="en-US" b="1" i="0" baseline="0"/>
            <a:t>Process</a:t>
          </a:r>
          <a:endParaRPr lang="en-CA"/>
        </a:p>
      </dgm:t>
    </dgm:pt>
    <dgm:pt modelId="{D36D0DB5-D547-4BCF-ABB1-DB80038125B0}" type="sibTrans" cxnId="{6E0D403C-FBD6-4716-8942-272398F1DE57}">
      <dgm:prSet/>
      <dgm:spPr/>
      <dgm:t>
        <a:bodyPr/>
        <a:lstStyle/>
        <a:p>
          <a:endParaRPr lang="en-CA"/>
        </a:p>
      </dgm:t>
    </dgm:pt>
    <dgm:pt modelId="{6CBC677F-F841-48B3-8146-D2EC9EA3234D}" type="parTrans" cxnId="{6E0D403C-FBD6-4716-8942-272398F1DE57}">
      <dgm:prSet/>
      <dgm:spPr/>
      <dgm:t>
        <a:bodyPr/>
        <a:lstStyle/>
        <a:p>
          <a:endParaRPr lang="en-CA"/>
        </a:p>
      </dgm:t>
    </dgm:pt>
    <dgm:pt modelId="{17B8AAA0-7084-4086-AADD-068C9AE072E3}">
      <dgm:prSet/>
      <dgm:spPr/>
      <dgm:t>
        <a:bodyPr/>
        <a:lstStyle/>
        <a:p>
          <a:r>
            <a:rPr lang="en-CA" b="1"/>
            <a:t>GSBPM 5.1 </a:t>
          </a:r>
          <a:r>
            <a:rPr lang="en-CA"/>
            <a:t>LLMs can automate record linkage across multiple datasets, reducing manual errors and ensuring a comprehensive, accurate integrated dataset for analysis.</a:t>
          </a:r>
        </a:p>
      </dgm:t>
    </dgm:pt>
    <dgm:pt modelId="{62FD800B-8CF0-4720-80E8-ADB97F8096D6}" type="sibTrans" cxnId="{AFB0F12E-13E7-4037-B183-9738DB092988}">
      <dgm:prSet/>
      <dgm:spPr/>
      <dgm:t>
        <a:bodyPr/>
        <a:lstStyle/>
        <a:p>
          <a:endParaRPr lang="en-CA"/>
        </a:p>
      </dgm:t>
    </dgm:pt>
    <dgm:pt modelId="{F24C06A4-92B8-408C-9D4C-A2AACE9933EC}" type="parTrans" cxnId="{AFB0F12E-13E7-4037-B183-9738DB092988}">
      <dgm:prSet/>
      <dgm:spPr/>
      <dgm:t>
        <a:bodyPr/>
        <a:lstStyle/>
        <a:p>
          <a:endParaRPr lang="en-CA"/>
        </a:p>
      </dgm:t>
    </dgm:pt>
    <dgm:pt modelId="{B079F5F5-25F5-4B2B-AECB-2CDC2F3C6E7F}">
      <dgm:prSet/>
      <dgm:spPr/>
      <dgm:t>
        <a:bodyPr/>
        <a:lstStyle/>
        <a:p>
          <a:r>
            <a:rPr lang="en-US" b="1" i="0" baseline="0"/>
            <a:t>Analyze</a:t>
          </a:r>
          <a:endParaRPr lang="en-CA"/>
        </a:p>
      </dgm:t>
    </dgm:pt>
    <dgm:pt modelId="{9E4A1ED2-C2E3-4EA7-84B7-8F1151361D0D}" type="sibTrans" cxnId="{1CD4677B-D4B4-43CF-955D-88475396F0AC}">
      <dgm:prSet/>
      <dgm:spPr/>
      <dgm:t>
        <a:bodyPr/>
        <a:lstStyle/>
        <a:p>
          <a:endParaRPr lang="en-CA"/>
        </a:p>
      </dgm:t>
    </dgm:pt>
    <dgm:pt modelId="{86119E98-5EFB-4699-A5E1-B618A83ADFD7}" type="parTrans" cxnId="{1CD4677B-D4B4-43CF-955D-88475396F0AC}">
      <dgm:prSet/>
      <dgm:spPr/>
      <dgm:t>
        <a:bodyPr/>
        <a:lstStyle/>
        <a:p>
          <a:endParaRPr lang="en-CA"/>
        </a:p>
      </dgm:t>
    </dgm:pt>
    <dgm:pt modelId="{ECAA2EB8-0843-4AF6-BC4F-B3AE2F6192AB}">
      <dgm:prSet/>
      <dgm:spPr/>
      <dgm:t>
        <a:bodyPr/>
        <a:lstStyle/>
        <a:p>
          <a:r>
            <a:rPr lang="en-CA" b="1"/>
            <a:t>GSBPM 6.1 (Prepare Draft Outputs)</a:t>
          </a:r>
          <a:r>
            <a:rPr lang="en-CA"/>
            <a:t>: LLMs streamline report generation by automating draft outputs (e.g., summaries, tables, charts), allowing analysts to focus on interpretation.</a:t>
          </a:r>
        </a:p>
      </dgm:t>
    </dgm:pt>
    <dgm:pt modelId="{584E84A7-5FAF-4AAF-8A8A-34478D6EB56E}" type="sibTrans" cxnId="{2CDA0A7D-B7C1-4845-AFC3-C8847A97A997}">
      <dgm:prSet/>
      <dgm:spPr/>
      <dgm:t>
        <a:bodyPr/>
        <a:lstStyle/>
        <a:p>
          <a:endParaRPr lang="en-CA"/>
        </a:p>
      </dgm:t>
    </dgm:pt>
    <dgm:pt modelId="{4F5295F3-19FF-444D-A818-7FBAD5FA61D0}" type="parTrans" cxnId="{2CDA0A7D-B7C1-4845-AFC3-C8847A97A997}">
      <dgm:prSet/>
      <dgm:spPr/>
      <dgm:t>
        <a:bodyPr/>
        <a:lstStyle/>
        <a:p>
          <a:endParaRPr lang="en-CA"/>
        </a:p>
      </dgm:t>
    </dgm:pt>
    <dgm:pt modelId="{5F0D793A-FF62-4277-8546-27F9D2483184}">
      <dgm:prSet/>
      <dgm:spPr/>
      <dgm:t>
        <a:bodyPr/>
        <a:lstStyle/>
        <a:p>
          <a:r>
            <a:rPr lang="en-US" b="1" i="0" baseline="0"/>
            <a:t>Disseminate</a:t>
          </a:r>
          <a:endParaRPr lang="en-CA"/>
        </a:p>
      </dgm:t>
    </dgm:pt>
    <dgm:pt modelId="{57299B5D-6CBB-4588-85B8-5A1425965A6C}" type="sibTrans" cxnId="{87C733DE-B175-4574-994E-8F2F4BA6BC0D}">
      <dgm:prSet/>
      <dgm:spPr/>
      <dgm:t>
        <a:bodyPr/>
        <a:lstStyle/>
        <a:p>
          <a:endParaRPr lang="en-CA"/>
        </a:p>
      </dgm:t>
    </dgm:pt>
    <dgm:pt modelId="{F6D1642C-4AF3-4D28-B67A-697551684FE6}" type="parTrans" cxnId="{87C733DE-B175-4574-994E-8F2F4BA6BC0D}">
      <dgm:prSet/>
      <dgm:spPr/>
      <dgm:t>
        <a:bodyPr/>
        <a:lstStyle/>
        <a:p>
          <a:endParaRPr lang="en-CA"/>
        </a:p>
      </dgm:t>
    </dgm:pt>
    <dgm:pt modelId="{1011D665-11C0-4936-8B43-95F3F48444C2}">
      <dgm:prSet/>
      <dgm:spPr/>
      <dgm:t>
        <a:bodyPr/>
        <a:lstStyle/>
        <a:p>
          <a:r>
            <a:rPr lang="en-CA" b="1"/>
            <a:t>GSBPM 7.2 (Produce Dissemination Products)</a:t>
          </a:r>
          <a:r>
            <a:rPr lang="en-CA"/>
            <a:t>: LLMs automate the creation of dissemination products, generating draft reports, summaries, or narratives from data tables, which analysts can refine for specific audiences. AI also assists with automated charts and visual representations of data.</a:t>
          </a:r>
        </a:p>
      </dgm:t>
    </dgm:pt>
    <dgm:pt modelId="{627C6720-F812-4FD3-9A95-F0C87E199352}" type="sibTrans" cxnId="{ABEEBDC1-19C7-4AD7-8EC6-2C6399A8D209}">
      <dgm:prSet/>
      <dgm:spPr/>
      <dgm:t>
        <a:bodyPr/>
        <a:lstStyle/>
        <a:p>
          <a:endParaRPr lang="en-CA"/>
        </a:p>
      </dgm:t>
    </dgm:pt>
    <dgm:pt modelId="{BB0F8F2F-B533-4CD6-8B4A-A867B7303232}" type="parTrans" cxnId="{ABEEBDC1-19C7-4AD7-8EC6-2C6399A8D209}">
      <dgm:prSet/>
      <dgm:spPr/>
      <dgm:t>
        <a:bodyPr/>
        <a:lstStyle/>
        <a:p>
          <a:endParaRPr lang="en-CA"/>
        </a:p>
      </dgm:t>
    </dgm:pt>
    <dgm:pt modelId="{4375A670-4B32-449B-B1B7-C064F57CB987}">
      <dgm:prSet/>
      <dgm:spPr/>
      <dgm:t>
        <a:bodyPr/>
        <a:lstStyle/>
        <a:p>
          <a:r>
            <a:rPr lang="en-US" b="1" i="0" baseline="0"/>
            <a:t>Evaluate</a:t>
          </a:r>
          <a:endParaRPr lang="en-CA"/>
        </a:p>
      </dgm:t>
    </dgm:pt>
    <dgm:pt modelId="{C6F8D709-F87B-4B64-9684-8395B4EE49E9}" type="sibTrans" cxnId="{3569DA8B-2478-4059-8731-7E0F7B74A1DF}">
      <dgm:prSet/>
      <dgm:spPr/>
      <dgm:t>
        <a:bodyPr/>
        <a:lstStyle/>
        <a:p>
          <a:endParaRPr lang="en-CA"/>
        </a:p>
      </dgm:t>
    </dgm:pt>
    <dgm:pt modelId="{6C771EA2-9459-4220-A978-C91432BDEC03}" type="parTrans" cxnId="{3569DA8B-2478-4059-8731-7E0F7B74A1DF}">
      <dgm:prSet/>
      <dgm:spPr/>
      <dgm:t>
        <a:bodyPr/>
        <a:lstStyle/>
        <a:p>
          <a:endParaRPr lang="en-CA"/>
        </a:p>
      </dgm:t>
    </dgm:pt>
    <dgm:pt modelId="{7F825514-9A8E-408A-844A-D46CCAD4AECF}">
      <dgm:prSet/>
      <dgm:spPr/>
      <dgm:t>
        <a:bodyPr/>
        <a:lstStyle/>
        <a:p>
          <a:r>
            <a:rPr lang="en-CA" b="1"/>
            <a:t>GSBPM 8.1 (Gather evaluation feedback),</a:t>
          </a:r>
          <a:r>
            <a:rPr lang="en-CA"/>
            <a:t> LLMs can help collect and analyze both internal and external feedback from users, respondents, and stakeholders. </a:t>
          </a:r>
        </a:p>
      </dgm:t>
    </dgm:pt>
    <dgm:pt modelId="{3C619BC8-A94F-4756-B8FA-6E4277FF58FC}" type="sibTrans" cxnId="{CE164FAE-B255-4ADE-BF37-10236656F9BA}">
      <dgm:prSet/>
      <dgm:spPr/>
      <dgm:t>
        <a:bodyPr/>
        <a:lstStyle/>
        <a:p>
          <a:endParaRPr lang="en-CA"/>
        </a:p>
      </dgm:t>
    </dgm:pt>
    <dgm:pt modelId="{744D5B99-6A18-477F-8EB6-2C3FFD1A12E4}" type="parTrans" cxnId="{CE164FAE-B255-4ADE-BF37-10236656F9BA}">
      <dgm:prSet/>
      <dgm:spPr/>
      <dgm:t>
        <a:bodyPr/>
        <a:lstStyle/>
        <a:p>
          <a:endParaRPr lang="en-CA"/>
        </a:p>
      </dgm:t>
    </dgm:pt>
    <dgm:pt modelId="{5ABD7A0C-8924-4520-B95E-797FF128EE21}">
      <dgm:prSet/>
      <dgm:spPr/>
      <dgm:t>
        <a:bodyPr/>
        <a:lstStyle/>
        <a:p>
          <a:pPr>
            <a:buFont typeface="Symbol" panose="05050102010706020507" pitchFamily="18" charset="2"/>
            <a:buChar char=""/>
          </a:pPr>
          <a:r>
            <a:rPr lang="en-CA"/>
            <a:t>Gen-AI can analyze feedback from stakeholders, summarize common themes or concerns, and identify data gaps within the agency.</a:t>
          </a:r>
        </a:p>
      </dgm:t>
    </dgm:pt>
    <dgm:pt modelId="{55D59C60-A15C-4268-917D-ECA8A3500C38}" type="parTrans" cxnId="{08049633-CA04-4A5A-84D5-B0AA74B4FA5A}">
      <dgm:prSet/>
      <dgm:spPr/>
      <dgm:t>
        <a:bodyPr/>
        <a:lstStyle/>
        <a:p>
          <a:endParaRPr lang="en-CA"/>
        </a:p>
      </dgm:t>
    </dgm:pt>
    <dgm:pt modelId="{B3C13042-2850-4B97-B164-A6BE43BEE712}" type="sibTrans" cxnId="{08049633-CA04-4A5A-84D5-B0AA74B4FA5A}">
      <dgm:prSet/>
      <dgm:spPr/>
      <dgm:t>
        <a:bodyPr/>
        <a:lstStyle/>
        <a:p>
          <a:endParaRPr lang="en-CA"/>
        </a:p>
      </dgm:t>
    </dgm:pt>
    <dgm:pt modelId="{B05DB63D-5C88-4314-BE44-34507B2507A9}">
      <dgm:prSet/>
      <dgm:spPr/>
      <dgm:t>
        <a:bodyPr/>
        <a:lstStyle/>
        <a:p>
          <a:pPr>
            <a:buFont typeface="Symbol" panose="05050102010706020507" pitchFamily="18" charset="2"/>
            <a:buChar char=""/>
          </a:pPr>
          <a:r>
            <a:rPr lang="en-CA"/>
            <a:t>AI tools can assist in translating code between programming languages (e.g., SAS to Python), enhancing efficiency.</a:t>
          </a:r>
        </a:p>
      </dgm:t>
    </dgm:pt>
    <dgm:pt modelId="{9A1A9E09-D70F-4B0F-9FD1-756EE5FBC4FC}" type="parTrans" cxnId="{EE7DDCB7-4D4E-4196-8F04-E7CB839CB492}">
      <dgm:prSet/>
      <dgm:spPr/>
      <dgm:t>
        <a:bodyPr/>
        <a:lstStyle/>
        <a:p>
          <a:endParaRPr lang="en-CA"/>
        </a:p>
      </dgm:t>
    </dgm:pt>
    <dgm:pt modelId="{4C7BA8A0-D3B9-41D2-B38C-C5153B3A0A20}" type="sibTrans" cxnId="{EE7DDCB7-4D4E-4196-8F04-E7CB839CB492}">
      <dgm:prSet/>
      <dgm:spPr/>
      <dgm:t>
        <a:bodyPr/>
        <a:lstStyle/>
        <a:p>
          <a:endParaRPr lang="en-CA"/>
        </a:p>
      </dgm:t>
    </dgm:pt>
    <dgm:pt modelId="{83670AE6-B3AE-4E77-A13A-B33AD7C18B77}">
      <dgm:prSet/>
      <dgm:spPr/>
      <dgm:t>
        <a:bodyPr/>
        <a:lstStyle/>
        <a:p>
          <a:pPr>
            <a:buFont typeface="Symbol" panose="05050102010706020507" pitchFamily="18" charset="2"/>
            <a:buChar char=""/>
          </a:pPr>
          <a:r>
            <a:rPr lang="en-CA" b="1"/>
            <a:t>GSBPM 1.2:</a:t>
          </a:r>
          <a:r>
            <a:rPr lang="en-CA"/>
            <a:t> AI can assess the relevance of identified needs using text generation, clarify the purpose, and detect information gaps through web scraping and analysis.</a:t>
          </a:r>
        </a:p>
      </dgm:t>
    </dgm:pt>
    <dgm:pt modelId="{41DBFCAD-0F49-4133-A8CA-859CB536A860}" type="parTrans" cxnId="{63C270A9-77D1-4159-8ADD-DE2F6A846ABF}">
      <dgm:prSet/>
      <dgm:spPr/>
      <dgm:t>
        <a:bodyPr/>
        <a:lstStyle/>
        <a:p>
          <a:endParaRPr lang="en-CA"/>
        </a:p>
      </dgm:t>
    </dgm:pt>
    <dgm:pt modelId="{B23DC5CA-B353-4F62-A27F-3CC098FE66C1}" type="sibTrans" cxnId="{63C270A9-77D1-4159-8ADD-DE2F6A846ABF}">
      <dgm:prSet/>
      <dgm:spPr/>
      <dgm:t>
        <a:bodyPr/>
        <a:lstStyle/>
        <a:p>
          <a:endParaRPr lang="en-CA"/>
        </a:p>
      </dgm:t>
    </dgm:pt>
    <dgm:pt modelId="{DF0348BC-ABD9-4624-8291-A30436BC1669}">
      <dgm:prSet/>
      <dgm:spPr/>
      <dgm:t>
        <a:bodyPr/>
        <a:lstStyle/>
        <a:p>
          <a:pPr>
            <a:buFont typeface="Symbol" panose="05050102010706020507" pitchFamily="18" charset="2"/>
            <a:buChar char=""/>
          </a:pPr>
          <a:r>
            <a:rPr lang="en-CA" b="1"/>
            <a:t>GSBPM 1.5. </a:t>
          </a:r>
          <a:r>
            <a:rPr lang="en-CA"/>
            <a:t>AI can find innovative data sources to improve relevance and reduce response burden.</a:t>
          </a:r>
        </a:p>
      </dgm:t>
    </dgm:pt>
    <dgm:pt modelId="{C363D072-76E7-4178-868D-F90EE519046E}" type="parTrans" cxnId="{D9318CC3-5088-4A52-B0EA-D8CE2ABB199B}">
      <dgm:prSet/>
      <dgm:spPr/>
      <dgm:t>
        <a:bodyPr/>
        <a:lstStyle/>
        <a:p>
          <a:endParaRPr lang="en-CA"/>
        </a:p>
      </dgm:t>
    </dgm:pt>
    <dgm:pt modelId="{C3FF7F5E-89E9-46ED-8CC1-7C38B220D322}" type="sibTrans" cxnId="{D9318CC3-5088-4A52-B0EA-D8CE2ABB199B}">
      <dgm:prSet/>
      <dgm:spPr/>
      <dgm:t>
        <a:bodyPr/>
        <a:lstStyle/>
        <a:p>
          <a:endParaRPr lang="en-CA"/>
        </a:p>
      </dgm:t>
    </dgm:pt>
    <dgm:pt modelId="{28FEA577-CEEA-4591-B2B8-7480AC34EBF7}">
      <dgm:prSet/>
      <dgm:spPr/>
      <dgm:t>
        <a:bodyPr/>
        <a:lstStyle/>
        <a:p>
          <a:pPr>
            <a:buFont typeface="Symbol" panose="05050102010706020507" pitchFamily="18" charset="2"/>
            <a:buChar char=""/>
          </a:pPr>
          <a:r>
            <a:rPr lang="en-CA" b="1"/>
            <a:t>GSBPM 1.6:</a:t>
          </a:r>
          <a:r>
            <a:rPr lang="en-CA"/>
            <a:t> Generative AI can “critically” evaluate and improve business cases.</a:t>
          </a:r>
        </a:p>
      </dgm:t>
    </dgm:pt>
    <dgm:pt modelId="{7152326D-6C41-4879-A0C1-8CEDE3F933E1}" type="parTrans" cxnId="{AA6A989A-6020-4498-9758-8A907599D89B}">
      <dgm:prSet/>
      <dgm:spPr/>
      <dgm:t>
        <a:bodyPr/>
        <a:lstStyle/>
        <a:p>
          <a:endParaRPr lang="en-CA"/>
        </a:p>
      </dgm:t>
    </dgm:pt>
    <dgm:pt modelId="{80E3CE1E-CB89-47D6-B835-6F6A47C068F6}" type="sibTrans" cxnId="{AA6A989A-6020-4498-9758-8A907599D89B}">
      <dgm:prSet/>
      <dgm:spPr/>
      <dgm:t>
        <a:bodyPr/>
        <a:lstStyle/>
        <a:p>
          <a:endParaRPr lang="en-CA"/>
        </a:p>
      </dgm:t>
    </dgm:pt>
    <dgm:pt modelId="{BD4EA19F-29D5-4C66-9847-66BC6067EC11}">
      <dgm:prSet/>
      <dgm:spPr/>
      <dgm:t>
        <a:bodyPr/>
        <a:lstStyle/>
        <a:p>
          <a:r>
            <a:rPr lang="en-US" b="1" i="0" baseline="0"/>
            <a:t>Design</a:t>
          </a:r>
          <a:endParaRPr lang="en-CA"/>
        </a:p>
      </dgm:t>
    </dgm:pt>
    <dgm:pt modelId="{F217C2D3-4745-46E2-8A6D-9DAB67C6EAF5}" type="sibTrans" cxnId="{0EBE4FAD-8ACF-49D3-8FB1-5E9CDEC6030A}">
      <dgm:prSet/>
      <dgm:spPr/>
      <dgm:t>
        <a:bodyPr/>
        <a:lstStyle/>
        <a:p>
          <a:endParaRPr lang="en-CA"/>
        </a:p>
      </dgm:t>
    </dgm:pt>
    <dgm:pt modelId="{A5452913-CBC4-42FD-9BE2-2E20A8EFC698}" type="parTrans" cxnId="{0EBE4FAD-8ACF-49D3-8FB1-5E9CDEC6030A}">
      <dgm:prSet/>
      <dgm:spPr/>
      <dgm:t>
        <a:bodyPr/>
        <a:lstStyle/>
        <a:p>
          <a:endParaRPr lang="en-CA"/>
        </a:p>
      </dgm:t>
    </dgm:pt>
    <dgm:pt modelId="{C076DBCD-23E9-4453-9C80-A69B914D1EF0}">
      <dgm:prSet/>
      <dgm:spPr/>
      <dgm:t>
        <a:bodyPr/>
        <a:lstStyle/>
        <a:p>
          <a:pPr>
            <a:buFont typeface="Symbol" panose="05050102010706020507" pitchFamily="18" charset="2"/>
            <a:buChar char=""/>
          </a:pPr>
          <a:r>
            <a:rPr lang="en-CA" b="1"/>
            <a:t>GSBPM 2.3 (Design collection):</a:t>
          </a:r>
          <a:r>
            <a:rPr lang="en-CA"/>
            <a:t> LLMs can enhance the design of surveys and questionnaires by suggesting questions, formats, and phrasing that are more likely to produce accurate responses and increase response rate (by tailoring motivation techniques and ad hoc capability to provide </a:t>
          </a:r>
          <a:r>
            <a:rPr lang="en-CA" b="1"/>
            <a:t>translations</a:t>
          </a:r>
          <a:r>
            <a:rPr lang="en-CA"/>
            <a:t> and script suggestions for presenting the survey (e.g., using video, text, or audio formats).</a:t>
          </a:r>
        </a:p>
      </dgm:t>
    </dgm:pt>
    <dgm:pt modelId="{DA03D34A-56A9-45BF-9B86-322C07EE1C8E}" type="parTrans" cxnId="{9A8B71CF-88B3-471C-B2A2-5B3D1EE41927}">
      <dgm:prSet/>
      <dgm:spPr/>
      <dgm:t>
        <a:bodyPr/>
        <a:lstStyle/>
        <a:p>
          <a:endParaRPr lang="en-CA"/>
        </a:p>
      </dgm:t>
    </dgm:pt>
    <dgm:pt modelId="{D825EEF4-155A-44B7-B12F-18C43C12F036}" type="sibTrans" cxnId="{9A8B71CF-88B3-471C-B2A2-5B3D1EE41927}">
      <dgm:prSet/>
      <dgm:spPr/>
      <dgm:t>
        <a:bodyPr/>
        <a:lstStyle/>
        <a:p>
          <a:endParaRPr lang="en-CA"/>
        </a:p>
      </dgm:t>
    </dgm:pt>
    <dgm:pt modelId="{98FE757A-745B-4B0D-A900-74E920226FFF}">
      <dgm:prSet/>
      <dgm:spPr/>
      <dgm:t>
        <a:bodyPr/>
        <a:lstStyle/>
        <a:p>
          <a:pPr>
            <a:buFont typeface="Symbol" panose="05050102010706020507" pitchFamily="18" charset="2"/>
            <a:buChar char=""/>
          </a:pPr>
          <a:r>
            <a:rPr lang="en-CA"/>
            <a:t>LLMs can translate questionnaires and detect potential issues with specific questions.</a:t>
          </a:r>
        </a:p>
      </dgm:t>
    </dgm:pt>
    <dgm:pt modelId="{7DB3A2E8-937E-49A7-86E3-85F798C3C21E}" type="parTrans" cxnId="{F869D21D-93EE-473A-AB30-D5B94617C9A5}">
      <dgm:prSet/>
      <dgm:spPr/>
      <dgm:t>
        <a:bodyPr/>
        <a:lstStyle/>
        <a:p>
          <a:endParaRPr lang="en-CA"/>
        </a:p>
      </dgm:t>
    </dgm:pt>
    <dgm:pt modelId="{9A1C9572-FAE5-48B0-A6F2-AA1C7B4493FC}" type="sibTrans" cxnId="{F869D21D-93EE-473A-AB30-D5B94617C9A5}">
      <dgm:prSet/>
      <dgm:spPr/>
      <dgm:t>
        <a:bodyPr/>
        <a:lstStyle/>
        <a:p>
          <a:endParaRPr lang="en-CA"/>
        </a:p>
      </dgm:t>
    </dgm:pt>
    <dgm:pt modelId="{A774598B-4B63-4989-8E53-FD8761AABD9A}">
      <dgm:prSet/>
      <dgm:spPr/>
      <dgm:t>
        <a:bodyPr/>
        <a:lstStyle/>
        <a:p>
          <a:pPr>
            <a:buFont typeface="Symbol" panose="05050102010706020507" pitchFamily="18" charset="2"/>
            <a:buChar char=""/>
          </a:pPr>
          <a:r>
            <a:rPr lang="en-CA"/>
            <a:t>AI can support code generation, particularly in the automation of statistical programming (generate, debug and translate code).</a:t>
          </a:r>
        </a:p>
      </dgm:t>
    </dgm:pt>
    <dgm:pt modelId="{6E1A663F-FBBB-4514-B375-695AE4F64292}" type="parTrans" cxnId="{17A99ED0-C711-4494-B66A-281363FEA69C}">
      <dgm:prSet/>
      <dgm:spPr/>
      <dgm:t>
        <a:bodyPr/>
        <a:lstStyle/>
        <a:p>
          <a:endParaRPr lang="en-CA"/>
        </a:p>
      </dgm:t>
    </dgm:pt>
    <dgm:pt modelId="{2488DE3E-F178-451E-9461-F943E205F808}" type="sibTrans" cxnId="{17A99ED0-C711-4494-B66A-281363FEA69C}">
      <dgm:prSet/>
      <dgm:spPr/>
      <dgm:t>
        <a:bodyPr/>
        <a:lstStyle/>
        <a:p>
          <a:endParaRPr lang="en-CA"/>
        </a:p>
      </dgm:t>
    </dgm:pt>
    <dgm:pt modelId="{26768D2F-995F-467B-AAF5-2F98B8F6491D}">
      <dgm:prSet/>
      <dgm:spPr/>
      <dgm:t>
        <a:bodyPr/>
        <a:lstStyle/>
        <a:p>
          <a:pPr>
            <a:buFont typeface="Symbol" panose="05050102010706020507" pitchFamily="18" charset="2"/>
            <a:buChar char=""/>
          </a:pPr>
          <a:r>
            <a:rPr lang="en-CA"/>
            <a:t>AI could assist in tailoring survey instruments based on respondent behaviour. In online surveys, AI could adapt the sequence or phrasing of questions in real-time based on respondent’s previous answers. </a:t>
          </a:r>
        </a:p>
      </dgm:t>
    </dgm:pt>
    <dgm:pt modelId="{F707DE27-2DC2-45F2-B2C8-8F0ABC9B9542}" type="parTrans" cxnId="{7BE58371-53CD-4F0F-ACA5-9976D68E3520}">
      <dgm:prSet/>
      <dgm:spPr/>
      <dgm:t>
        <a:bodyPr/>
        <a:lstStyle/>
        <a:p>
          <a:endParaRPr lang="en-CA"/>
        </a:p>
      </dgm:t>
    </dgm:pt>
    <dgm:pt modelId="{542F7593-D105-42B1-B155-1888C5E2537C}" type="sibTrans" cxnId="{7BE58371-53CD-4F0F-ACA5-9976D68E3520}">
      <dgm:prSet/>
      <dgm:spPr/>
      <dgm:t>
        <a:bodyPr/>
        <a:lstStyle/>
        <a:p>
          <a:endParaRPr lang="en-CA"/>
        </a:p>
      </dgm:t>
    </dgm:pt>
    <dgm:pt modelId="{382E3815-6600-4811-8175-5591316998CA}">
      <dgm:prSet/>
      <dgm:spPr/>
      <dgm:t>
        <a:bodyPr/>
        <a:lstStyle/>
        <a:p>
          <a:pPr>
            <a:buFont typeface="Symbol" panose="05050102010706020507" pitchFamily="18" charset="2"/>
            <a:buChar char=""/>
          </a:pPr>
          <a:r>
            <a:rPr lang="en-CA"/>
            <a:t>AI can simulate entire statistical processes, identifying inefficiencies or areas for improvement.</a:t>
          </a:r>
        </a:p>
      </dgm:t>
    </dgm:pt>
    <dgm:pt modelId="{B6D9D921-7EFD-4A63-A0D1-98B46928F3F9}" type="parTrans" cxnId="{A5021924-1578-4C49-876C-FD290265F9DB}">
      <dgm:prSet/>
      <dgm:spPr/>
      <dgm:t>
        <a:bodyPr/>
        <a:lstStyle/>
        <a:p>
          <a:endParaRPr lang="en-CA"/>
        </a:p>
      </dgm:t>
    </dgm:pt>
    <dgm:pt modelId="{2315BC28-7C3B-4F96-A3CE-52B2585EF959}" type="sibTrans" cxnId="{A5021924-1578-4C49-876C-FD290265F9DB}">
      <dgm:prSet/>
      <dgm:spPr/>
      <dgm:t>
        <a:bodyPr/>
        <a:lstStyle/>
        <a:p>
          <a:endParaRPr lang="en-CA"/>
        </a:p>
      </dgm:t>
    </dgm:pt>
    <dgm:pt modelId="{4C592377-04AA-410B-947F-840F408272B6}">
      <dgm:prSet/>
      <dgm:spPr/>
      <dgm:t>
        <a:bodyPr/>
        <a:lstStyle/>
        <a:p>
          <a:pPr>
            <a:buFont typeface="Symbol" panose="05050102010706020507" pitchFamily="18" charset="2"/>
            <a:buChar char=""/>
          </a:pPr>
          <a:r>
            <a:rPr lang="en-CA" b="1"/>
            <a:t>Generation of synthetic data</a:t>
          </a:r>
          <a:r>
            <a:rPr lang="en-CA"/>
            <a:t>: Privacy and data use are critical when testing statistical methodologies. LLMs can generate synthetic data, allowing statistical methodologies to be tested without real-world data in test environments.</a:t>
          </a:r>
        </a:p>
      </dgm:t>
    </dgm:pt>
    <dgm:pt modelId="{52A1AD5A-E133-4BD0-BA20-E4E8B6CE1CD5}" type="parTrans" cxnId="{BF94702C-C8AB-4D4F-870C-15327D4FB576}">
      <dgm:prSet/>
      <dgm:spPr/>
      <dgm:t>
        <a:bodyPr/>
        <a:lstStyle/>
        <a:p>
          <a:endParaRPr lang="en-CA"/>
        </a:p>
      </dgm:t>
    </dgm:pt>
    <dgm:pt modelId="{4ED4BC1A-C796-49D7-913B-A75811FE2522}" type="sibTrans" cxnId="{BF94702C-C8AB-4D4F-870C-15327D4FB576}">
      <dgm:prSet/>
      <dgm:spPr/>
      <dgm:t>
        <a:bodyPr/>
        <a:lstStyle/>
        <a:p>
          <a:endParaRPr lang="en-CA"/>
        </a:p>
      </dgm:t>
    </dgm:pt>
    <dgm:pt modelId="{91513491-0475-4CB0-92DC-D1F3499DF800}">
      <dgm:prSet/>
      <dgm:spPr/>
      <dgm:t>
        <a:bodyPr/>
        <a:lstStyle/>
        <a:p>
          <a:pPr>
            <a:buFont typeface="Symbol" panose="05050102010706020507" pitchFamily="18" charset="2"/>
            <a:buChar char=""/>
          </a:pPr>
          <a:r>
            <a:rPr lang="en-CA" b="1"/>
            <a:t>GSBPM 4.2 (Set up collection):</a:t>
          </a:r>
          <a:r>
            <a:rPr lang="en-CA"/>
            <a:t> Generative AI can propose final edits for collection instruments, optimizing them for accuracy.</a:t>
          </a:r>
        </a:p>
      </dgm:t>
    </dgm:pt>
    <dgm:pt modelId="{F9EDA021-1002-4A99-AB16-8B22EBD8033F}" type="parTrans" cxnId="{A0549EA8-39BC-472C-8FDD-23C9C46DD90F}">
      <dgm:prSet/>
      <dgm:spPr/>
      <dgm:t>
        <a:bodyPr/>
        <a:lstStyle/>
        <a:p>
          <a:endParaRPr lang="en-CA"/>
        </a:p>
      </dgm:t>
    </dgm:pt>
    <dgm:pt modelId="{8B9C52B1-C29F-4BFA-9D28-5369420CF2A4}" type="sibTrans" cxnId="{A0549EA8-39BC-472C-8FDD-23C9C46DD90F}">
      <dgm:prSet/>
      <dgm:spPr/>
      <dgm:t>
        <a:bodyPr/>
        <a:lstStyle/>
        <a:p>
          <a:endParaRPr lang="en-CA"/>
        </a:p>
      </dgm:t>
    </dgm:pt>
    <dgm:pt modelId="{7ACAD879-177D-40BE-BC89-131639B4109D}">
      <dgm:prSet/>
      <dgm:spPr/>
      <dgm:t>
        <a:bodyPr/>
        <a:lstStyle/>
        <a:p>
          <a:pPr>
            <a:buFont typeface="Symbol" panose="05050102010706020507" pitchFamily="18" charset="2"/>
            <a:buChar char=""/>
          </a:pPr>
          <a:r>
            <a:rPr lang="en-CA"/>
            <a:t>AI can extract text and data from scanned documents, receipts, or PDFs to create analytical datasets.</a:t>
          </a:r>
        </a:p>
      </dgm:t>
    </dgm:pt>
    <dgm:pt modelId="{7001BBB7-216A-4658-ADA9-72F5358CE95A}" type="parTrans" cxnId="{CB9CE8C0-19DE-4E6C-BDAB-846E7A0CE163}">
      <dgm:prSet/>
      <dgm:spPr/>
      <dgm:t>
        <a:bodyPr/>
        <a:lstStyle/>
        <a:p>
          <a:endParaRPr lang="en-CA"/>
        </a:p>
      </dgm:t>
    </dgm:pt>
    <dgm:pt modelId="{8C0A8FB5-6EC7-4606-B9ED-E84708159507}" type="sibTrans" cxnId="{CB9CE8C0-19DE-4E6C-BDAB-846E7A0CE163}">
      <dgm:prSet/>
      <dgm:spPr/>
      <dgm:t>
        <a:bodyPr/>
        <a:lstStyle/>
        <a:p>
          <a:endParaRPr lang="en-CA"/>
        </a:p>
      </dgm:t>
    </dgm:pt>
    <dgm:pt modelId="{554266AD-F884-4EA1-9FF2-2E34B1B927E4}">
      <dgm:prSet/>
      <dgm:spPr/>
      <dgm:t>
        <a:bodyPr/>
        <a:lstStyle/>
        <a:p>
          <a:pPr>
            <a:buFont typeface="Symbol" panose="05050102010706020507" pitchFamily="18" charset="2"/>
            <a:buChar char=""/>
          </a:pPr>
          <a:r>
            <a:rPr lang="en-CA"/>
            <a:t>Computer vision techniques can analyze image data and extract relevant information to build comprehensive databases.</a:t>
          </a:r>
        </a:p>
      </dgm:t>
    </dgm:pt>
    <dgm:pt modelId="{FFB7E215-EF45-4A3E-AC37-A3FD84BE9589}" type="parTrans" cxnId="{99C8EA51-AEF2-4FF0-935D-AC5E996F41E5}">
      <dgm:prSet/>
      <dgm:spPr/>
      <dgm:t>
        <a:bodyPr/>
        <a:lstStyle/>
        <a:p>
          <a:endParaRPr lang="en-CA"/>
        </a:p>
      </dgm:t>
    </dgm:pt>
    <dgm:pt modelId="{8755E0A0-1468-46DE-A073-41F3695EE5D1}" type="sibTrans" cxnId="{99C8EA51-AEF2-4FF0-935D-AC5E996F41E5}">
      <dgm:prSet/>
      <dgm:spPr/>
      <dgm:t>
        <a:bodyPr/>
        <a:lstStyle/>
        <a:p>
          <a:endParaRPr lang="en-CA"/>
        </a:p>
      </dgm:t>
    </dgm:pt>
    <dgm:pt modelId="{A13348BD-4EFA-4977-9C22-ECE015D76615}">
      <dgm:prSet/>
      <dgm:spPr/>
      <dgm:t>
        <a:bodyPr/>
        <a:lstStyle/>
        <a:p>
          <a:pPr>
            <a:buFont typeface="Symbol" panose="05050102010706020507" pitchFamily="18" charset="2"/>
            <a:buChar char=""/>
          </a:pPr>
          <a:r>
            <a:rPr lang="en-CA" b="1"/>
            <a:t>GSBPM 4.3 (Set up collection): </a:t>
          </a:r>
          <a:r>
            <a:rPr lang="en-CA"/>
            <a:t>Data collection is assisted by optimizing contact touch points / contact attempts, </a:t>
          </a:r>
          <a:r>
            <a:rPr lang="en-CA" b="1"/>
            <a:t>ad hoc translations</a:t>
          </a:r>
          <a:r>
            <a:rPr lang="en-CA"/>
            <a:t>, complementary checks.</a:t>
          </a:r>
        </a:p>
      </dgm:t>
    </dgm:pt>
    <dgm:pt modelId="{3104B07B-1035-4E51-8A34-BF51BDA45A5B}" type="parTrans" cxnId="{D798F761-8C89-4667-B91C-96CC0AD0D791}">
      <dgm:prSet/>
      <dgm:spPr/>
      <dgm:t>
        <a:bodyPr/>
        <a:lstStyle/>
        <a:p>
          <a:endParaRPr lang="en-CA"/>
        </a:p>
      </dgm:t>
    </dgm:pt>
    <dgm:pt modelId="{F005DE83-2CE7-41EB-9119-EB29C3876BBB}" type="sibTrans" cxnId="{D798F761-8C89-4667-B91C-96CC0AD0D791}">
      <dgm:prSet/>
      <dgm:spPr/>
      <dgm:t>
        <a:bodyPr/>
        <a:lstStyle/>
        <a:p>
          <a:endParaRPr lang="en-CA"/>
        </a:p>
      </dgm:t>
    </dgm:pt>
    <dgm:pt modelId="{A2C11BC5-5705-40A5-8533-3D8DDED060F7}">
      <dgm:prSet/>
      <dgm:spPr/>
      <dgm:t>
        <a:bodyPr/>
        <a:lstStyle/>
        <a:p>
          <a:pPr>
            <a:buFont typeface="Symbol" panose="05050102010706020507" pitchFamily="18" charset="2"/>
            <a:buChar char=""/>
          </a:pPr>
          <a:endParaRPr lang="en-CA"/>
        </a:p>
      </dgm:t>
    </dgm:pt>
    <dgm:pt modelId="{ED033911-C36D-4C3B-9C7E-684EC15CF372}" type="parTrans" cxnId="{527DAAD0-7564-4FB1-A093-9AE385AEFEC6}">
      <dgm:prSet/>
      <dgm:spPr/>
      <dgm:t>
        <a:bodyPr/>
        <a:lstStyle/>
        <a:p>
          <a:endParaRPr lang="en-CA"/>
        </a:p>
      </dgm:t>
    </dgm:pt>
    <dgm:pt modelId="{A3436325-99F8-4096-9002-408ABE8DD9C4}" type="sibTrans" cxnId="{527DAAD0-7564-4FB1-A093-9AE385AEFEC6}">
      <dgm:prSet/>
      <dgm:spPr/>
      <dgm:t>
        <a:bodyPr/>
        <a:lstStyle/>
        <a:p>
          <a:endParaRPr lang="en-CA"/>
        </a:p>
      </dgm:t>
    </dgm:pt>
    <dgm:pt modelId="{246D0487-C815-43E2-8508-C26C18508F18}">
      <dgm:prSet/>
      <dgm:spPr/>
      <dgm:t>
        <a:bodyPr/>
        <a:lstStyle/>
        <a:p>
          <a:pPr>
            <a:buFont typeface="Symbol" panose="05050102010706020507" pitchFamily="18" charset="2"/>
            <a:buChar char=""/>
          </a:pPr>
          <a:r>
            <a:rPr lang="en-CA" b="1"/>
            <a:t>GSBPM 8.2 (Conduct evaluation),</a:t>
          </a:r>
          <a:r>
            <a:rPr lang="en-CA"/>
            <a:t> LLMs can assist in evaluating the overall performance of statistical processes by analyzing feedback data and suggesting potential improvements for the next iteration of a survey or process. By reviewing the performance of statistical models, collection instruments, and dissemination methods, LLMs can help assess what worked well and what needs to be refined. For instance, they can analyze patterns of errors or discrepancies, providing actionable insights that human evaluators can then further explore and implement in future stages.</a:t>
          </a:r>
        </a:p>
      </dgm:t>
    </dgm:pt>
    <dgm:pt modelId="{5ACD80E5-1673-4219-8141-C3E7718E99D9}" type="parTrans" cxnId="{1DC7E7A1-D39D-4971-9E63-15AC9008DAB6}">
      <dgm:prSet/>
      <dgm:spPr/>
      <dgm:t>
        <a:bodyPr/>
        <a:lstStyle/>
        <a:p>
          <a:endParaRPr lang="en-CA"/>
        </a:p>
      </dgm:t>
    </dgm:pt>
    <dgm:pt modelId="{494AA143-48C9-4E3E-BB70-A54A9EA5AF55}" type="sibTrans" cxnId="{1DC7E7A1-D39D-4971-9E63-15AC9008DAB6}">
      <dgm:prSet/>
      <dgm:spPr/>
      <dgm:t>
        <a:bodyPr/>
        <a:lstStyle/>
        <a:p>
          <a:endParaRPr lang="en-CA"/>
        </a:p>
      </dgm:t>
    </dgm:pt>
    <dgm:pt modelId="{9F46DEBA-8F1D-40B8-BC5F-73313AD2BE18}">
      <dgm:prSet/>
      <dgm:spPr/>
      <dgm:t>
        <a:bodyPr/>
        <a:lstStyle/>
        <a:p>
          <a:r>
            <a:rPr lang="en-CA" b="1"/>
            <a:t>GSBPM 5.2 </a:t>
          </a:r>
          <a:r>
            <a:rPr lang="en-CA"/>
            <a:t>LLMs can be employed to </a:t>
          </a:r>
          <a:r>
            <a:rPr lang="en-CA" b="0"/>
            <a:t>classify industry and occupation codes (e.g</a:t>
          </a:r>
          <a:r>
            <a:rPr lang="en-CA"/>
            <a:t>., NAICS and NOC codes) based on text descriptions.</a:t>
          </a:r>
        </a:p>
      </dgm:t>
    </dgm:pt>
    <dgm:pt modelId="{06D07328-666B-4D93-AE74-ACDC3019CFD8}" type="parTrans" cxnId="{6B2224EC-F480-42CA-9067-35B5FD147951}">
      <dgm:prSet/>
      <dgm:spPr/>
      <dgm:t>
        <a:bodyPr/>
        <a:lstStyle/>
        <a:p>
          <a:endParaRPr lang="en-CA"/>
        </a:p>
      </dgm:t>
    </dgm:pt>
    <dgm:pt modelId="{08DD40A4-CED9-45AD-A248-1C4C1F116EF1}" type="sibTrans" cxnId="{6B2224EC-F480-42CA-9067-35B5FD147951}">
      <dgm:prSet/>
      <dgm:spPr/>
      <dgm:t>
        <a:bodyPr/>
        <a:lstStyle/>
        <a:p>
          <a:endParaRPr lang="en-CA"/>
        </a:p>
      </dgm:t>
    </dgm:pt>
    <dgm:pt modelId="{CA7F72EB-B2AD-48D4-AC42-BA746B3F8EAF}">
      <dgm:prSet/>
      <dgm:spPr/>
      <dgm:t>
        <a:bodyPr/>
        <a:lstStyle/>
        <a:p>
          <a:r>
            <a:rPr lang="en-CA" b="1"/>
            <a:t>GSBPM 5.3 </a:t>
          </a:r>
          <a:r>
            <a:rPr lang="en-CA"/>
            <a:t>LLMs streamline data validation by identifying inconsistencies, missing values, and errors. They flag outliers or unusual patterns for human review, reducing manual validation time.</a:t>
          </a:r>
        </a:p>
      </dgm:t>
    </dgm:pt>
    <dgm:pt modelId="{83F282EB-AE4E-4878-80F9-5FA8C3F051C0}" type="parTrans" cxnId="{4E083ECE-FC99-4884-8D3D-1609F0EE0EC0}">
      <dgm:prSet/>
      <dgm:spPr/>
      <dgm:t>
        <a:bodyPr/>
        <a:lstStyle/>
        <a:p>
          <a:endParaRPr lang="en-CA"/>
        </a:p>
      </dgm:t>
    </dgm:pt>
    <dgm:pt modelId="{3172FC94-4BC5-49FC-91F3-5B80418C5A2A}" type="sibTrans" cxnId="{4E083ECE-FC99-4884-8D3D-1609F0EE0EC0}">
      <dgm:prSet/>
      <dgm:spPr/>
      <dgm:t>
        <a:bodyPr/>
        <a:lstStyle/>
        <a:p>
          <a:endParaRPr lang="en-CA"/>
        </a:p>
      </dgm:t>
    </dgm:pt>
    <dgm:pt modelId="{4858DFEE-61F4-4EB5-ABF9-96E76DDCF25A}">
      <dgm:prSet/>
      <dgm:spPr/>
      <dgm:t>
        <a:bodyPr/>
        <a:lstStyle/>
        <a:p>
          <a:r>
            <a:rPr lang="en-CA" b="1"/>
            <a:t>GSBPM</a:t>
          </a:r>
          <a:r>
            <a:rPr lang="en-CA"/>
            <a:t>: LLMs and ML models assist in imputation, suggesting replacements for missing or incorrect values.</a:t>
          </a:r>
        </a:p>
      </dgm:t>
    </dgm:pt>
    <dgm:pt modelId="{DD70832D-0A92-4828-A9E2-191341AFA762}" type="parTrans" cxnId="{9079E816-3D79-4B19-9371-B2B51813EB53}">
      <dgm:prSet/>
      <dgm:spPr/>
      <dgm:t>
        <a:bodyPr/>
        <a:lstStyle/>
        <a:p>
          <a:endParaRPr lang="en-CA"/>
        </a:p>
      </dgm:t>
    </dgm:pt>
    <dgm:pt modelId="{2815CFF5-818E-4FE0-B0FE-FA1EB42D0054}" type="sibTrans" cxnId="{9079E816-3D79-4B19-9371-B2B51813EB53}">
      <dgm:prSet/>
      <dgm:spPr/>
      <dgm:t>
        <a:bodyPr/>
        <a:lstStyle/>
        <a:p>
          <a:endParaRPr lang="en-CA"/>
        </a:p>
      </dgm:t>
    </dgm:pt>
    <dgm:pt modelId="{A355886D-0DCA-48C1-BE6D-73EE79DC0EDC}">
      <dgm:prSet/>
      <dgm:spPr/>
      <dgm:t>
        <a:bodyPr/>
        <a:lstStyle/>
        <a:p>
          <a:r>
            <a:rPr lang="en-CA" b="1"/>
            <a:t>GSBPM 6.2 </a:t>
          </a:r>
          <a:r>
            <a:rPr lang="en-CA"/>
            <a:t>Generative AI can help detect anomalies and outliers in data/outputs.</a:t>
          </a:r>
        </a:p>
      </dgm:t>
    </dgm:pt>
    <dgm:pt modelId="{23DFE8C0-3934-4DBC-9F9A-9AD5921A3052}" type="parTrans" cxnId="{429D4F12-7FBB-42D6-AA9B-6B596A09B4C5}">
      <dgm:prSet/>
      <dgm:spPr/>
      <dgm:t>
        <a:bodyPr/>
        <a:lstStyle/>
        <a:p>
          <a:endParaRPr lang="en-CA"/>
        </a:p>
      </dgm:t>
    </dgm:pt>
    <dgm:pt modelId="{489FD511-6ACB-4B10-B40C-36EAF2725B3A}" type="sibTrans" cxnId="{429D4F12-7FBB-42D6-AA9B-6B596A09B4C5}">
      <dgm:prSet/>
      <dgm:spPr/>
      <dgm:t>
        <a:bodyPr/>
        <a:lstStyle/>
        <a:p>
          <a:endParaRPr lang="en-CA"/>
        </a:p>
      </dgm:t>
    </dgm:pt>
    <dgm:pt modelId="{E39259BF-C1B6-4C34-B8A6-BA602EBB96A9}">
      <dgm:prSet/>
      <dgm:spPr/>
      <dgm:t>
        <a:bodyPr/>
        <a:lstStyle/>
        <a:p>
          <a:r>
            <a:rPr lang="en-CA" b="1"/>
            <a:t>GSBPM 6.3)</a:t>
          </a:r>
          <a:r>
            <a:rPr lang="en-CA"/>
            <a:t>: LLMs offer insights and suggest explanations for complex statistical results, aiding human experts in making data accessible to non-technical audiences. They also provide visualizations and narrative explanations for better data interpretation.</a:t>
          </a:r>
        </a:p>
      </dgm:t>
    </dgm:pt>
    <dgm:pt modelId="{DF912E43-F58E-49A0-A1CA-5C644B9E3B4D}" type="parTrans" cxnId="{464DB4B7-A8A3-4331-ACC2-A2B330F0974A}">
      <dgm:prSet/>
      <dgm:spPr/>
      <dgm:t>
        <a:bodyPr/>
        <a:lstStyle/>
        <a:p>
          <a:endParaRPr lang="en-CA"/>
        </a:p>
      </dgm:t>
    </dgm:pt>
    <dgm:pt modelId="{7B2CA522-565B-494C-9241-186F2C1F964B}" type="sibTrans" cxnId="{464DB4B7-A8A3-4331-ACC2-A2B330F0974A}">
      <dgm:prSet/>
      <dgm:spPr/>
      <dgm:t>
        <a:bodyPr/>
        <a:lstStyle/>
        <a:p>
          <a:endParaRPr lang="en-CA"/>
        </a:p>
      </dgm:t>
    </dgm:pt>
    <dgm:pt modelId="{23758CDD-68EC-4793-85C2-046B1E5DA367}">
      <dgm:prSet/>
      <dgm:spPr/>
      <dgm:t>
        <a:bodyPr/>
        <a:lstStyle/>
        <a:p>
          <a:r>
            <a:rPr lang="en-CA" b="1"/>
            <a:t>GSBPM 6.4 </a:t>
          </a:r>
          <a:r>
            <a:rPr lang="en-CA"/>
            <a:t>: Privacy-enhancing AI tools can automatically apply disclosure control, ensuring sensitive data protection before external sharing.</a:t>
          </a:r>
        </a:p>
      </dgm:t>
    </dgm:pt>
    <dgm:pt modelId="{C3992A45-BF27-4610-A595-E9721E34D278}" type="parTrans" cxnId="{E599944D-8E9E-4F32-AA9E-1AB143ABEEDB}">
      <dgm:prSet/>
      <dgm:spPr/>
      <dgm:t>
        <a:bodyPr/>
        <a:lstStyle/>
        <a:p>
          <a:endParaRPr lang="en-CA"/>
        </a:p>
      </dgm:t>
    </dgm:pt>
    <dgm:pt modelId="{5057524C-2BB8-4C9E-B3D5-05FCDD2A5A1C}" type="sibTrans" cxnId="{E599944D-8E9E-4F32-AA9E-1AB143ABEEDB}">
      <dgm:prSet/>
      <dgm:spPr/>
      <dgm:t>
        <a:bodyPr/>
        <a:lstStyle/>
        <a:p>
          <a:endParaRPr lang="en-CA"/>
        </a:p>
      </dgm:t>
    </dgm:pt>
    <dgm:pt modelId="{DB031FCE-0657-4972-AC62-9B5DDABED753}">
      <dgm:prSet/>
      <dgm:spPr/>
      <dgm:t>
        <a:bodyPr/>
        <a:lstStyle/>
        <a:p>
          <a:r>
            <a:rPr lang="en-CA" b="1"/>
            <a:t>Predictive Analytics</a:t>
          </a:r>
          <a:r>
            <a:rPr lang="en-CA"/>
            <a:t>: LLMs and ML/AI models support predictive analytics by forecasting trends from historical data.</a:t>
          </a:r>
        </a:p>
      </dgm:t>
    </dgm:pt>
    <dgm:pt modelId="{94DF2A3F-A9BE-4814-AE0F-CAF5C6D32EEC}" type="parTrans" cxnId="{0A48929E-B547-4ACD-B15B-5B537DB20C3E}">
      <dgm:prSet/>
      <dgm:spPr/>
      <dgm:t>
        <a:bodyPr/>
        <a:lstStyle/>
        <a:p>
          <a:endParaRPr lang="en-CA"/>
        </a:p>
      </dgm:t>
    </dgm:pt>
    <dgm:pt modelId="{07C29454-942D-4FD9-8B5A-5C2A5A9C142D}" type="sibTrans" cxnId="{0A48929E-B547-4ACD-B15B-5B537DB20C3E}">
      <dgm:prSet/>
      <dgm:spPr/>
      <dgm:t>
        <a:bodyPr/>
        <a:lstStyle/>
        <a:p>
          <a:endParaRPr lang="en-CA"/>
        </a:p>
      </dgm:t>
    </dgm:pt>
    <dgm:pt modelId="{17DAD078-6D10-4C48-9582-C2531D43D43F}">
      <dgm:prSet/>
      <dgm:spPr/>
      <dgm:t>
        <a:bodyPr/>
        <a:lstStyle/>
        <a:p>
          <a:r>
            <a:rPr lang="en-CA" b="1"/>
            <a:t>GSBPM 7.4 (Promote Dissemination Products)</a:t>
          </a:r>
          <a:r>
            <a:rPr lang="en-CA"/>
            <a:t>: AI can suggest messaging formats and strategies for various stakeholders, customizing content for platforms like social media, newsletters, and websites to enhance communication effectiveness.</a:t>
          </a:r>
        </a:p>
      </dgm:t>
    </dgm:pt>
    <dgm:pt modelId="{84888C30-9808-4F50-9652-937939158C1C}" type="parTrans" cxnId="{C5096733-68DC-42C2-B0E3-C3084A925F8B}">
      <dgm:prSet/>
      <dgm:spPr/>
      <dgm:t>
        <a:bodyPr/>
        <a:lstStyle/>
        <a:p>
          <a:endParaRPr lang="en-CA"/>
        </a:p>
      </dgm:t>
    </dgm:pt>
    <dgm:pt modelId="{F56A71BB-7E41-4BE4-98D0-196F6E1D7314}" type="sibTrans" cxnId="{C5096733-68DC-42C2-B0E3-C3084A925F8B}">
      <dgm:prSet/>
      <dgm:spPr/>
      <dgm:t>
        <a:bodyPr/>
        <a:lstStyle/>
        <a:p>
          <a:endParaRPr lang="en-CA"/>
        </a:p>
      </dgm:t>
    </dgm:pt>
    <dgm:pt modelId="{426696BC-B0B3-432A-9D5A-D062A2B265DE}">
      <dgm:prSet/>
      <dgm:spPr/>
      <dgm:t>
        <a:bodyPr/>
        <a:lstStyle/>
        <a:p>
          <a:r>
            <a:rPr lang="en-CA" b="1"/>
            <a:t>GSBPM 7.5 (Manage User Support)</a:t>
          </a:r>
          <a:r>
            <a:rPr lang="en-CA"/>
            <a:t>: AI tools like chatbots offer real-time support, helping users navigate datasets, interpret data, and find publications, improving engagement and easing human support workload.</a:t>
          </a:r>
        </a:p>
      </dgm:t>
    </dgm:pt>
    <dgm:pt modelId="{E37A0AAB-8B36-4C85-9271-EE70A0469CF7}" type="parTrans" cxnId="{0BE28B76-78F2-4B8E-A781-8A21ED4994D1}">
      <dgm:prSet/>
      <dgm:spPr/>
      <dgm:t>
        <a:bodyPr/>
        <a:lstStyle/>
        <a:p>
          <a:endParaRPr lang="en-CA"/>
        </a:p>
      </dgm:t>
    </dgm:pt>
    <dgm:pt modelId="{F46B3D4F-7E09-4300-A42E-BEAD3F19422A}" type="sibTrans" cxnId="{0BE28B76-78F2-4B8E-A781-8A21ED4994D1}">
      <dgm:prSet/>
      <dgm:spPr/>
      <dgm:t>
        <a:bodyPr/>
        <a:lstStyle/>
        <a:p>
          <a:endParaRPr lang="en-CA"/>
        </a:p>
      </dgm:t>
    </dgm:pt>
    <dgm:pt modelId="{06E927CF-F0D0-434D-A4D6-F25451905F9A}">
      <dgm:prSet/>
      <dgm:spPr/>
      <dgm:t>
        <a:bodyPr/>
        <a:lstStyle/>
        <a:p>
          <a:r>
            <a:rPr lang="en-CA" b="1"/>
            <a:t>Predictive Analytics</a:t>
          </a:r>
          <a:r>
            <a:rPr lang="en-CA"/>
            <a:t>: LLMs aid predictive analytics by analyzing historical data to forecast trends, highlight risks, and support data-driven decisions, enriching statistical outputs.</a:t>
          </a:r>
        </a:p>
      </dgm:t>
    </dgm:pt>
    <dgm:pt modelId="{24CACF3D-EF6C-44E3-A109-A56169D57CB9}" type="parTrans" cxnId="{42181D24-FD1A-4A35-86C3-E62374BB073E}">
      <dgm:prSet/>
      <dgm:spPr/>
      <dgm:t>
        <a:bodyPr/>
        <a:lstStyle/>
        <a:p>
          <a:endParaRPr lang="en-CA"/>
        </a:p>
      </dgm:t>
    </dgm:pt>
    <dgm:pt modelId="{217BD695-2094-4548-A8BB-A48D913194E7}" type="sibTrans" cxnId="{42181D24-FD1A-4A35-86C3-E62374BB073E}">
      <dgm:prSet/>
      <dgm:spPr/>
      <dgm:t>
        <a:bodyPr/>
        <a:lstStyle/>
        <a:p>
          <a:endParaRPr lang="en-CA"/>
        </a:p>
      </dgm:t>
    </dgm:pt>
    <dgm:pt modelId="{FFC3941C-3FE9-4F9E-A9D5-78DE696D4B41}" type="pres">
      <dgm:prSet presAssocID="{4D1D7ADF-223A-46B7-94B5-7B1F69364FD0}" presName="Name0" presStyleCnt="0">
        <dgm:presLayoutVars>
          <dgm:dir/>
          <dgm:animLvl val="lvl"/>
          <dgm:resizeHandles val="exact"/>
        </dgm:presLayoutVars>
      </dgm:prSet>
      <dgm:spPr/>
    </dgm:pt>
    <dgm:pt modelId="{A69A6B5A-E909-48D3-92C1-0164852C032F}" type="pres">
      <dgm:prSet presAssocID="{A7EA2273-88D4-4D2F-883A-6B76130885E0}" presName="composite" presStyleCnt="0"/>
      <dgm:spPr/>
    </dgm:pt>
    <dgm:pt modelId="{7E85CBBC-EF6E-41FE-A45B-5D6AAD30558F}" type="pres">
      <dgm:prSet presAssocID="{A7EA2273-88D4-4D2F-883A-6B76130885E0}" presName="parTx" presStyleLbl="alignNode1" presStyleIdx="0" presStyleCnt="8">
        <dgm:presLayoutVars>
          <dgm:chMax val="0"/>
          <dgm:chPref val="0"/>
          <dgm:bulletEnabled val="1"/>
        </dgm:presLayoutVars>
      </dgm:prSet>
      <dgm:spPr/>
    </dgm:pt>
    <dgm:pt modelId="{565B26BF-AFEF-4F44-B0AD-FF4EC6E16E94}" type="pres">
      <dgm:prSet presAssocID="{A7EA2273-88D4-4D2F-883A-6B76130885E0}" presName="desTx" presStyleLbl="alignAccFollowNode1" presStyleIdx="0" presStyleCnt="8">
        <dgm:presLayoutVars>
          <dgm:bulletEnabled val="1"/>
        </dgm:presLayoutVars>
      </dgm:prSet>
      <dgm:spPr/>
    </dgm:pt>
    <dgm:pt modelId="{918EE944-975D-4283-93C2-FADF786BAE72}" type="pres">
      <dgm:prSet presAssocID="{E72AB08E-644E-472A-BBC1-02F6486C8F21}" presName="space" presStyleCnt="0"/>
      <dgm:spPr/>
    </dgm:pt>
    <dgm:pt modelId="{ABBDEE7B-6B2E-4F0D-986B-7CE6E6B03657}" type="pres">
      <dgm:prSet presAssocID="{BD4EA19F-29D5-4C66-9847-66BC6067EC11}" presName="composite" presStyleCnt="0"/>
      <dgm:spPr/>
    </dgm:pt>
    <dgm:pt modelId="{075A4455-B8A1-464F-A1C2-71FB9C3D7EC6}" type="pres">
      <dgm:prSet presAssocID="{BD4EA19F-29D5-4C66-9847-66BC6067EC11}" presName="parTx" presStyleLbl="alignNode1" presStyleIdx="1" presStyleCnt="8">
        <dgm:presLayoutVars>
          <dgm:chMax val="0"/>
          <dgm:chPref val="0"/>
          <dgm:bulletEnabled val="1"/>
        </dgm:presLayoutVars>
      </dgm:prSet>
      <dgm:spPr/>
    </dgm:pt>
    <dgm:pt modelId="{C5A468D1-97AF-4449-9D86-3F2AF2920579}" type="pres">
      <dgm:prSet presAssocID="{BD4EA19F-29D5-4C66-9847-66BC6067EC11}" presName="desTx" presStyleLbl="alignAccFollowNode1" presStyleIdx="1" presStyleCnt="8">
        <dgm:presLayoutVars>
          <dgm:bulletEnabled val="1"/>
        </dgm:presLayoutVars>
      </dgm:prSet>
      <dgm:spPr/>
    </dgm:pt>
    <dgm:pt modelId="{FBCE0788-5FF2-47F0-A0FC-654DCA63CEB9}" type="pres">
      <dgm:prSet presAssocID="{F217C2D3-4745-46E2-8A6D-9DAB67C6EAF5}" presName="space" presStyleCnt="0"/>
      <dgm:spPr/>
    </dgm:pt>
    <dgm:pt modelId="{0DF0F645-069D-4176-AB68-3AB1A205109F}" type="pres">
      <dgm:prSet presAssocID="{78455254-9A0C-4D60-A5BC-366FF700DBF0}" presName="composite" presStyleCnt="0"/>
      <dgm:spPr/>
    </dgm:pt>
    <dgm:pt modelId="{5712ECB8-160B-413E-BFBB-AAA53B852CF8}" type="pres">
      <dgm:prSet presAssocID="{78455254-9A0C-4D60-A5BC-366FF700DBF0}" presName="parTx" presStyleLbl="alignNode1" presStyleIdx="2" presStyleCnt="8">
        <dgm:presLayoutVars>
          <dgm:chMax val="0"/>
          <dgm:chPref val="0"/>
          <dgm:bulletEnabled val="1"/>
        </dgm:presLayoutVars>
      </dgm:prSet>
      <dgm:spPr/>
    </dgm:pt>
    <dgm:pt modelId="{1446AE6D-49D9-49E0-813D-C1FE7DD39CC1}" type="pres">
      <dgm:prSet presAssocID="{78455254-9A0C-4D60-A5BC-366FF700DBF0}" presName="desTx" presStyleLbl="alignAccFollowNode1" presStyleIdx="2" presStyleCnt="8">
        <dgm:presLayoutVars>
          <dgm:bulletEnabled val="1"/>
        </dgm:presLayoutVars>
      </dgm:prSet>
      <dgm:spPr/>
    </dgm:pt>
    <dgm:pt modelId="{E4D67814-F198-4641-A3F9-F2CA133165D9}" type="pres">
      <dgm:prSet presAssocID="{D4C89961-8E2F-43A8-95D1-10FC02D1CB9D}" presName="space" presStyleCnt="0"/>
      <dgm:spPr/>
    </dgm:pt>
    <dgm:pt modelId="{8BB42C8A-D13D-492B-9E5D-289153E4668C}" type="pres">
      <dgm:prSet presAssocID="{CBE4BC7C-B562-4041-ADC5-CC081AD4FCBF}" presName="composite" presStyleCnt="0"/>
      <dgm:spPr/>
    </dgm:pt>
    <dgm:pt modelId="{74AC0208-7A6D-4791-8715-3AE4EC7FE5A5}" type="pres">
      <dgm:prSet presAssocID="{CBE4BC7C-B562-4041-ADC5-CC081AD4FCBF}" presName="parTx" presStyleLbl="alignNode1" presStyleIdx="3" presStyleCnt="8">
        <dgm:presLayoutVars>
          <dgm:chMax val="0"/>
          <dgm:chPref val="0"/>
          <dgm:bulletEnabled val="1"/>
        </dgm:presLayoutVars>
      </dgm:prSet>
      <dgm:spPr/>
    </dgm:pt>
    <dgm:pt modelId="{C4CA4708-EE5D-4FAD-8318-17378CC681F3}" type="pres">
      <dgm:prSet presAssocID="{CBE4BC7C-B562-4041-ADC5-CC081AD4FCBF}" presName="desTx" presStyleLbl="alignAccFollowNode1" presStyleIdx="3" presStyleCnt="8">
        <dgm:presLayoutVars>
          <dgm:bulletEnabled val="1"/>
        </dgm:presLayoutVars>
      </dgm:prSet>
      <dgm:spPr/>
    </dgm:pt>
    <dgm:pt modelId="{F9417226-5A3E-41B1-912F-EC048CA22B18}" type="pres">
      <dgm:prSet presAssocID="{B75E9CCB-8A84-427B-A788-F07621B2A890}" presName="space" presStyleCnt="0"/>
      <dgm:spPr/>
    </dgm:pt>
    <dgm:pt modelId="{822AA50D-3BD5-425A-BB44-706EDB033222}" type="pres">
      <dgm:prSet presAssocID="{3278C972-29DD-48A9-B78D-28BB27D5EA2E}" presName="composite" presStyleCnt="0"/>
      <dgm:spPr/>
    </dgm:pt>
    <dgm:pt modelId="{2F144BA7-55BB-4CD8-BB8E-CBAE0339FCDF}" type="pres">
      <dgm:prSet presAssocID="{3278C972-29DD-48A9-B78D-28BB27D5EA2E}" presName="parTx" presStyleLbl="alignNode1" presStyleIdx="4" presStyleCnt="8">
        <dgm:presLayoutVars>
          <dgm:chMax val="0"/>
          <dgm:chPref val="0"/>
          <dgm:bulletEnabled val="1"/>
        </dgm:presLayoutVars>
      </dgm:prSet>
      <dgm:spPr/>
    </dgm:pt>
    <dgm:pt modelId="{CF7F9ADB-B455-41CE-85F1-A2E8CC3B883C}" type="pres">
      <dgm:prSet presAssocID="{3278C972-29DD-48A9-B78D-28BB27D5EA2E}" presName="desTx" presStyleLbl="alignAccFollowNode1" presStyleIdx="4" presStyleCnt="8">
        <dgm:presLayoutVars>
          <dgm:bulletEnabled val="1"/>
        </dgm:presLayoutVars>
      </dgm:prSet>
      <dgm:spPr/>
    </dgm:pt>
    <dgm:pt modelId="{55B8B274-C17C-43C0-9AA5-D51E1F9DAEF7}" type="pres">
      <dgm:prSet presAssocID="{D36D0DB5-D547-4BCF-ABB1-DB80038125B0}" presName="space" presStyleCnt="0"/>
      <dgm:spPr/>
    </dgm:pt>
    <dgm:pt modelId="{5B11A156-E0A6-4237-B869-94D762FA3586}" type="pres">
      <dgm:prSet presAssocID="{B079F5F5-25F5-4B2B-AECB-2CDC2F3C6E7F}" presName="composite" presStyleCnt="0"/>
      <dgm:spPr/>
    </dgm:pt>
    <dgm:pt modelId="{79E067F4-D801-437D-B3F9-1512435F2AAB}" type="pres">
      <dgm:prSet presAssocID="{B079F5F5-25F5-4B2B-AECB-2CDC2F3C6E7F}" presName="parTx" presStyleLbl="alignNode1" presStyleIdx="5" presStyleCnt="8">
        <dgm:presLayoutVars>
          <dgm:chMax val="0"/>
          <dgm:chPref val="0"/>
          <dgm:bulletEnabled val="1"/>
        </dgm:presLayoutVars>
      </dgm:prSet>
      <dgm:spPr/>
    </dgm:pt>
    <dgm:pt modelId="{553FF351-85D2-4E3A-BE5F-F35DD3016587}" type="pres">
      <dgm:prSet presAssocID="{B079F5F5-25F5-4B2B-AECB-2CDC2F3C6E7F}" presName="desTx" presStyleLbl="alignAccFollowNode1" presStyleIdx="5" presStyleCnt="8">
        <dgm:presLayoutVars>
          <dgm:bulletEnabled val="1"/>
        </dgm:presLayoutVars>
      </dgm:prSet>
      <dgm:spPr/>
    </dgm:pt>
    <dgm:pt modelId="{469C1182-B5CB-4854-89A3-ED13BEF68CBD}" type="pres">
      <dgm:prSet presAssocID="{9E4A1ED2-C2E3-4EA7-84B7-8F1151361D0D}" presName="space" presStyleCnt="0"/>
      <dgm:spPr/>
    </dgm:pt>
    <dgm:pt modelId="{FD0FA82B-56D4-4A16-9CE6-B02C7138742B}" type="pres">
      <dgm:prSet presAssocID="{5F0D793A-FF62-4277-8546-27F9D2483184}" presName="composite" presStyleCnt="0"/>
      <dgm:spPr/>
    </dgm:pt>
    <dgm:pt modelId="{006CF390-312E-4A58-909F-24978E063C1C}" type="pres">
      <dgm:prSet presAssocID="{5F0D793A-FF62-4277-8546-27F9D2483184}" presName="parTx" presStyleLbl="alignNode1" presStyleIdx="6" presStyleCnt="8">
        <dgm:presLayoutVars>
          <dgm:chMax val="0"/>
          <dgm:chPref val="0"/>
          <dgm:bulletEnabled val="1"/>
        </dgm:presLayoutVars>
      </dgm:prSet>
      <dgm:spPr/>
    </dgm:pt>
    <dgm:pt modelId="{D9CC4CD5-F324-48B7-8525-F787679CDD83}" type="pres">
      <dgm:prSet presAssocID="{5F0D793A-FF62-4277-8546-27F9D2483184}" presName="desTx" presStyleLbl="alignAccFollowNode1" presStyleIdx="6" presStyleCnt="8">
        <dgm:presLayoutVars>
          <dgm:bulletEnabled val="1"/>
        </dgm:presLayoutVars>
      </dgm:prSet>
      <dgm:spPr/>
    </dgm:pt>
    <dgm:pt modelId="{958C57D2-B8A4-4CFE-8D4C-3824B081CA70}" type="pres">
      <dgm:prSet presAssocID="{57299B5D-6CBB-4588-85B8-5A1425965A6C}" presName="space" presStyleCnt="0"/>
      <dgm:spPr/>
    </dgm:pt>
    <dgm:pt modelId="{41490635-971C-483E-8C8F-AC10B1991FC8}" type="pres">
      <dgm:prSet presAssocID="{4375A670-4B32-449B-B1B7-C064F57CB987}" presName="composite" presStyleCnt="0"/>
      <dgm:spPr/>
    </dgm:pt>
    <dgm:pt modelId="{FDFFC00E-A769-4D39-A38C-0A179647644D}" type="pres">
      <dgm:prSet presAssocID="{4375A670-4B32-449B-B1B7-C064F57CB987}" presName="parTx" presStyleLbl="alignNode1" presStyleIdx="7" presStyleCnt="8">
        <dgm:presLayoutVars>
          <dgm:chMax val="0"/>
          <dgm:chPref val="0"/>
          <dgm:bulletEnabled val="1"/>
        </dgm:presLayoutVars>
      </dgm:prSet>
      <dgm:spPr/>
    </dgm:pt>
    <dgm:pt modelId="{C1D798DB-7031-42D1-A568-6F1F0D86EE2D}" type="pres">
      <dgm:prSet presAssocID="{4375A670-4B32-449B-B1B7-C064F57CB987}" presName="desTx" presStyleLbl="alignAccFollowNode1" presStyleIdx="7" presStyleCnt="8">
        <dgm:presLayoutVars>
          <dgm:bulletEnabled val="1"/>
        </dgm:presLayoutVars>
      </dgm:prSet>
      <dgm:spPr/>
    </dgm:pt>
  </dgm:ptLst>
  <dgm:cxnLst>
    <dgm:cxn modelId="{8D930302-CBE4-4EFC-825A-AD59D859A9FF}" type="presOf" srcId="{06E927CF-F0D0-434D-A4D6-F25451905F9A}" destId="{CF7F9ADB-B455-41CE-85F1-A2E8CC3B883C}" srcOrd="0" destOrd="4" presId="urn:microsoft.com/office/officeart/2005/8/layout/hList1"/>
    <dgm:cxn modelId="{DCF40F03-9EB5-47F2-BB91-56729C928D72}" srcId="{A7EA2273-88D4-4D2F-883A-6B76130885E0}" destId="{5CEE3926-E9F9-48D5-97B4-3F56F75CB597}" srcOrd="0" destOrd="0" parTransId="{DAC04ED9-5267-453C-A24D-5AAF6E20FD1E}" sibTransId="{61D174E9-6DCB-48BB-A447-3C0C2B710A6F}"/>
    <dgm:cxn modelId="{2B4D8306-267F-4841-8C77-F24604F2D864}" type="presOf" srcId="{1011D665-11C0-4936-8B43-95F3F48444C2}" destId="{D9CC4CD5-F324-48B7-8525-F787679CDD83}" srcOrd="0" destOrd="0" presId="urn:microsoft.com/office/officeart/2005/8/layout/hList1"/>
    <dgm:cxn modelId="{44715A0C-84FE-4BB7-B7E9-E2E975545FE6}" srcId="{CBE4BC7C-B562-4041-ADC5-CC081AD4FCBF}" destId="{DEA5B541-A4D0-45ED-9A64-25D1EAD9362D}" srcOrd="0" destOrd="0" parTransId="{D66AF839-7113-4418-9174-8570B07CFD4E}" sibTransId="{D5B49E9E-DFA2-4DF9-B45B-57B5AA492FEB}"/>
    <dgm:cxn modelId="{429D4F12-7FBB-42D6-AA9B-6B596A09B4C5}" srcId="{B079F5F5-25F5-4B2B-AECB-2CDC2F3C6E7F}" destId="{A355886D-0DCA-48C1-BE6D-73EE79DC0EDC}" srcOrd="1" destOrd="0" parTransId="{23DFE8C0-3934-4DBC-9F9A-9AD5921A3052}" sibTransId="{489FD511-6ACB-4B10-B40C-36EAF2725B3A}"/>
    <dgm:cxn modelId="{743CC312-185F-4BF0-ADD3-8A3487457F74}" type="presOf" srcId="{4858DFEE-61F4-4EB5-ABF9-96E76DDCF25A}" destId="{CF7F9ADB-B455-41CE-85F1-A2E8CC3B883C}" srcOrd="0" destOrd="3" presId="urn:microsoft.com/office/officeart/2005/8/layout/hList1"/>
    <dgm:cxn modelId="{9079E816-3D79-4B19-9371-B2B51813EB53}" srcId="{3278C972-29DD-48A9-B78D-28BB27D5EA2E}" destId="{4858DFEE-61F4-4EB5-ABF9-96E76DDCF25A}" srcOrd="3" destOrd="0" parTransId="{DD70832D-0A92-4828-A9E2-191341AFA762}" sibTransId="{2815CFF5-818E-4FE0-B0FE-FA1EB42D0054}"/>
    <dgm:cxn modelId="{F00F7718-769F-4D30-8CA1-C0595927E7C7}" type="presOf" srcId="{28FEA577-CEEA-4591-B2B8-7480AC34EBF7}" destId="{565B26BF-AFEF-4F44-B0AD-FF4EC6E16E94}" srcOrd="0" destOrd="5" presId="urn:microsoft.com/office/officeart/2005/8/layout/hList1"/>
    <dgm:cxn modelId="{C577B21B-7EF2-4384-8214-E8EA93BCBC20}" type="presOf" srcId="{CBE4BC7C-B562-4041-ADC5-CC081AD4FCBF}" destId="{74AC0208-7A6D-4791-8715-3AE4EC7FE5A5}" srcOrd="0" destOrd="0" presId="urn:microsoft.com/office/officeart/2005/8/layout/hList1"/>
    <dgm:cxn modelId="{CBFB7D1C-C52E-46BF-B598-F54415FF894D}" type="presOf" srcId="{26768D2F-995F-467B-AAF5-2F98B8F6491D}" destId="{1446AE6D-49D9-49E0-813D-C1FE7DD39CC1}" srcOrd="0" destOrd="1" presId="urn:microsoft.com/office/officeart/2005/8/layout/hList1"/>
    <dgm:cxn modelId="{F869D21D-93EE-473A-AB30-D5B94617C9A5}" srcId="{BD4EA19F-29D5-4C66-9847-66BC6067EC11}" destId="{98FE757A-745B-4B0D-A900-74E920226FFF}" srcOrd="2" destOrd="0" parTransId="{7DB3A2E8-937E-49A7-86E3-85F798C3C21E}" sibTransId="{9A1C9572-FAE5-48B0-A6F2-AA1C7B4493FC}"/>
    <dgm:cxn modelId="{72360B20-93BA-4ED7-8FA9-440C26D56244}" srcId="{4D1D7ADF-223A-46B7-94B5-7B1F69364FD0}" destId="{A7EA2273-88D4-4D2F-883A-6B76130885E0}" srcOrd="0" destOrd="0" parTransId="{05562A5C-C5A2-46D1-8039-4DD756E40183}" sibTransId="{E72AB08E-644E-472A-BBC1-02F6486C8F21}"/>
    <dgm:cxn modelId="{A5021924-1578-4C49-876C-FD290265F9DB}" srcId="{78455254-9A0C-4D60-A5BC-366FF700DBF0}" destId="{382E3815-6600-4811-8175-5591316998CA}" srcOrd="2" destOrd="0" parTransId="{B6D9D921-7EFD-4A63-A0D1-98B46928F3F9}" sibTransId="{2315BC28-7C3B-4F96-A3CE-52B2585EF959}"/>
    <dgm:cxn modelId="{42181D24-FD1A-4A35-86C3-E62374BB073E}" srcId="{3278C972-29DD-48A9-B78D-28BB27D5EA2E}" destId="{06E927CF-F0D0-434D-A4D6-F25451905F9A}" srcOrd="4" destOrd="0" parTransId="{24CACF3D-EF6C-44E3-A109-A56169D57CB9}" sibTransId="{217BD695-2094-4548-A8BB-A48D913194E7}"/>
    <dgm:cxn modelId="{1B398927-2C52-4ABD-9C60-40F1D8B71030}" type="presOf" srcId="{4C592377-04AA-410B-947F-840F408272B6}" destId="{1446AE6D-49D9-49E0-813D-C1FE7DD39CC1}" srcOrd="0" destOrd="3" presId="urn:microsoft.com/office/officeart/2005/8/layout/hList1"/>
    <dgm:cxn modelId="{BF94702C-C8AB-4D4F-870C-15327D4FB576}" srcId="{78455254-9A0C-4D60-A5BC-366FF700DBF0}" destId="{4C592377-04AA-410B-947F-840F408272B6}" srcOrd="3" destOrd="0" parTransId="{52A1AD5A-E133-4BD0-BA20-E4E8B6CE1CD5}" sibTransId="{4ED4BC1A-C796-49D7-913B-A75811FE2522}"/>
    <dgm:cxn modelId="{AFB0F12E-13E7-4037-B183-9738DB092988}" srcId="{3278C972-29DD-48A9-B78D-28BB27D5EA2E}" destId="{17B8AAA0-7084-4086-AADD-068C9AE072E3}" srcOrd="0" destOrd="0" parTransId="{F24C06A4-92B8-408C-9D4C-A2AACE9933EC}" sibTransId="{62FD800B-8CF0-4720-80E8-ADB97F8096D6}"/>
    <dgm:cxn modelId="{C5096733-68DC-42C2-B0E3-C3084A925F8B}" srcId="{5F0D793A-FF62-4277-8546-27F9D2483184}" destId="{17DAD078-6D10-4C48-9582-C2531D43D43F}" srcOrd="1" destOrd="0" parTransId="{84888C30-9808-4F50-9652-937939158C1C}" sibTransId="{F56A71BB-7E41-4BE4-98D0-196F6E1D7314}"/>
    <dgm:cxn modelId="{08049633-CA04-4A5A-84D5-B0AA74B4FA5A}" srcId="{A7EA2273-88D4-4D2F-883A-6B76130885E0}" destId="{5ABD7A0C-8924-4520-B95E-797FF128EE21}" srcOrd="1" destOrd="0" parTransId="{55D59C60-A15C-4268-917D-ECA8A3500C38}" sibTransId="{B3C13042-2850-4B97-B164-A6BE43BEE712}"/>
    <dgm:cxn modelId="{27513A36-F082-468D-BEE6-AEAD678B5F94}" type="presOf" srcId="{A13348BD-4EFA-4977-9C22-ECE015D76615}" destId="{C4CA4708-EE5D-4FAD-8318-17378CC681F3}" srcOrd="0" destOrd="4" presId="urn:microsoft.com/office/officeart/2005/8/layout/hList1"/>
    <dgm:cxn modelId="{46E81A39-853A-4824-9D2C-2E27206EAE7B}" type="presOf" srcId="{83670AE6-B3AE-4E77-A13A-B33AD7C18B77}" destId="{565B26BF-AFEF-4F44-B0AD-FF4EC6E16E94}" srcOrd="0" destOrd="3" presId="urn:microsoft.com/office/officeart/2005/8/layout/hList1"/>
    <dgm:cxn modelId="{59EE5D39-ED58-4B81-8F25-5BA76A16424A}" type="presOf" srcId="{246D0487-C815-43E2-8508-C26C18508F18}" destId="{C1D798DB-7031-42D1-A568-6F1F0D86EE2D}" srcOrd="0" destOrd="1" presId="urn:microsoft.com/office/officeart/2005/8/layout/hList1"/>
    <dgm:cxn modelId="{A8ED6E3A-6767-4067-AEE5-F688C47B0F9E}" srcId="{4D1D7ADF-223A-46B7-94B5-7B1F69364FD0}" destId="{78455254-9A0C-4D60-A5BC-366FF700DBF0}" srcOrd="2" destOrd="0" parTransId="{77F8257B-D17C-4D0B-B9A9-D5AD8E3C8CB7}" sibTransId="{D4C89961-8E2F-43A8-95D1-10FC02D1CB9D}"/>
    <dgm:cxn modelId="{4DF2723B-FB05-4FB0-A7B2-B29A81CE5102}" srcId="{78455254-9A0C-4D60-A5BC-366FF700DBF0}" destId="{B1879D10-9C7C-48FE-9929-9A07C2CA7429}" srcOrd="0" destOrd="0" parTransId="{3243771D-6BB5-413F-9877-83974F886528}" sibTransId="{275A58DF-87DA-4DB0-B75B-FD1C79E1F5FA}"/>
    <dgm:cxn modelId="{6E0D403C-FBD6-4716-8942-272398F1DE57}" srcId="{4D1D7ADF-223A-46B7-94B5-7B1F69364FD0}" destId="{3278C972-29DD-48A9-B78D-28BB27D5EA2E}" srcOrd="4" destOrd="0" parTransId="{6CBC677F-F841-48B3-8146-D2EC9EA3234D}" sibTransId="{D36D0DB5-D547-4BCF-ABB1-DB80038125B0}"/>
    <dgm:cxn modelId="{052CDC5C-E345-4503-8F26-26A6FC20024C}" type="presOf" srcId="{B05DB63D-5C88-4314-BE44-34507B2507A9}" destId="{565B26BF-AFEF-4F44-B0AD-FF4EC6E16E94}" srcOrd="0" destOrd="2" presId="urn:microsoft.com/office/officeart/2005/8/layout/hList1"/>
    <dgm:cxn modelId="{C6D0645D-1EEF-4CD7-B405-B4CFA159FA65}" type="presOf" srcId="{4375A670-4B32-449B-B1B7-C064F57CB987}" destId="{FDFFC00E-A769-4D39-A38C-0A179647644D}" srcOrd="0" destOrd="0" presId="urn:microsoft.com/office/officeart/2005/8/layout/hList1"/>
    <dgm:cxn modelId="{D798F761-8C89-4667-B91C-96CC0AD0D791}" srcId="{CBE4BC7C-B562-4041-ADC5-CC081AD4FCBF}" destId="{A13348BD-4EFA-4977-9C22-ECE015D76615}" srcOrd="4" destOrd="0" parTransId="{3104B07B-1035-4E51-8A34-BF51BDA45A5B}" sibTransId="{F005DE83-2CE7-41EB-9119-EB29C3876BBB}"/>
    <dgm:cxn modelId="{A57F2442-A936-480D-AA82-750539C97BF6}" type="presOf" srcId="{DEA5B541-A4D0-45ED-9A64-25D1EAD9362D}" destId="{C4CA4708-EE5D-4FAD-8318-17378CC681F3}" srcOrd="0" destOrd="0" presId="urn:microsoft.com/office/officeart/2005/8/layout/hList1"/>
    <dgm:cxn modelId="{BAA73C67-33F0-4108-9C06-68E34D772168}" type="presOf" srcId="{4D1D7ADF-223A-46B7-94B5-7B1F69364FD0}" destId="{FFC3941C-3FE9-4F9E-A9D5-78DE696D4B41}" srcOrd="0" destOrd="0" presId="urn:microsoft.com/office/officeart/2005/8/layout/hList1"/>
    <dgm:cxn modelId="{D09C3F69-AF4A-4065-AE8B-B2E47664C637}" type="presOf" srcId="{A355886D-0DCA-48C1-BE6D-73EE79DC0EDC}" destId="{553FF351-85D2-4E3A-BE5F-F35DD3016587}" srcOrd="0" destOrd="1" presId="urn:microsoft.com/office/officeart/2005/8/layout/hList1"/>
    <dgm:cxn modelId="{E80CBA4C-E57F-422E-AB41-774AE7490DB6}" type="presOf" srcId="{ECAA2EB8-0843-4AF6-BC4F-B3AE2F6192AB}" destId="{553FF351-85D2-4E3A-BE5F-F35DD3016587}" srcOrd="0" destOrd="0" presId="urn:microsoft.com/office/officeart/2005/8/layout/hList1"/>
    <dgm:cxn modelId="{E599944D-8E9E-4F32-AA9E-1AB143ABEEDB}" srcId="{B079F5F5-25F5-4B2B-AECB-2CDC2F3C6E7F}" destId="{23758CDD-68EC-4793-85C2-046B1E5DA367}" srcOrd="3" destOrd="0" parTransId="{C3992A45-BF27-4610-A595-E9721E34D278}" sibTransId="{5057524C-2BB8-4C9E-B3D5-05FCDD2A5A1C}"/>
    <dgm:cxn modelId="{C695AB4D-CF61-4917-8AE2-7B6BB6AC9C9E}" srcId="{4D1D7ADF-223A-46B7-94B5-7B1F69364FD0}" destId="{CBE4BC7C-B562-4041-ADC5-CC081AD4FCBF}" srcOrd="3" destOrd="0" parTransId="{F6E3759A-3E6B-4EF3-95DC-D415B0D9F9B0}" sibTransId="{B75E9CCB-8A84-427B-A788-F07621B2A890}"/>
    <dgm:cxn modelId="{B3D4EA50-9BA6-4F23-8460-103ADFD93687}" type="presOf" srcId="{5F0D793A-FF62-4277-8546-27F9D2483184}" destId="{006CF390-312E-4A58-909F-24978E063C1C}" srcOrd="0" destOrd="0" presId="urn:microsoft.com/office/officeart/2005/8/layout/hList1"/>
    <dgm:cxn modelId="{7BE58371-53CD-4F0F-ACA5-9976D68E3520}" srcId="{78455254-9A0C-4D60-A5BC-366FF700DBF0}" destId="{26768D2F-995F-467B-AAF5-2F98B8F6491D}" srcOrd="1" destOrd="0" parTransId="{F707DE27-2DC2-45F2-B2C8-8F0ABC9B9542}" sibTransId="{542F7593-D105-42B1-B155-1888C5E2537C}"/>
    <dgm:cxn modelId="{99C8EA51-AEF2-4FF0-935D-AC5E996F41E5}" srcId="{CBE4BC7C-B562-4041-ADC5-CC081AD4FCBF}" destId="{554266AD-F884-4EA1-9FF2-2E34B1B927E4}" srcOrd="3" destOrd="0" parTransId="{FFB7E215-EF45-4A3E-AC37-A3FD84BE9589}" sibTransId="{8755E0A0-1468-46DE-A073-41F3695EE5D1}"/>
    <dgm:cxn modelId="{C5A59F54-C145-46BF-BDF4-7A875DF27805}" type="presOf" srcId="{382E3815-6600-4811-8175-5591316998CA}" destId="{1446AE6D-49D9-49E0-813D-C1FE7DD39CC1}" srcOrd="0" destOrd="2" presId="urn:microsoft.com/office/officeart/2005/8/layout/hList1"/>
    <dgm:cxn modelId="{15606955-ED45-44E8-8DEA-E72281E82FF6}" type="presOf" srcId="{C076DBCD-23E9-4453-9C80-A69B914D1EF0}" destId="{C5A468D1-97AF-4449-9D86-3F2AF2920579}" srcOrd="0" destOrd="1" presId="urn:microsoft.com/office/officeart/2005/8/layout/hList1"/>
    <dgm:cxn modelId="{8A5DD055-C5B2-4B07-B17C-33E4117EEEBC}" type="presOf" srcId="{17DAD078-6D10-4C48-9582-C2531D43D43F}" destId="{D9CC4CD5-F324-48B7-8525-F787679CDD83}" srcOrd="0" destOrd="1" presId="urn:microsoft.com/office/officeart/2005/8/layout/hList1"/>
    <dgm:cxn modelId="{0BE28B76-78F2-4B8E-A781-8A21ED4994D1}" srcId="{5F0D793A-FF62-4277-8546-27F9D2483184}" destId="{426696BC-B0B3-432A-9D5A-D062A2B265DE}" srcOrd="2" destOrd="0" parTransId="{E37A0AAB-8B36-4C85-9271-EE70A0469CF7}" sibTransId="{F46B3D4F-7E09-4300-A42E-BEAD3F19422A}"/>
    <dgm:cxn modelId="{511A2A79-AC11-40A2-B98C-6D2FAA98BAA7}" type="presOf" srcId="{DF0348BC-ABD9-4624-8291-A30436BC1669}" destId="{565B26BF-AFEF-4F44-B0AD-FF4EC6E16E94}" srcOrd="0" destOrd="4" presId="urn:microsoft.com/office/officeart/2005/8/layout/hList1"/>
    <dgm:cxn modelId="{1CD4677B-D4B4-43CF-955D-88475396F0AC}" srcId="{4D1D7ADF-223A-46B7-94B5-7B1F69364FD0}" destId="{B079F5F5-25F5-4B2B-AECB-2CDC2F3C6E7F}" srcOrd="5" destOrd="0" parTransId="{86119E98-5EFB-4699-A5E1-B618A83ADFD7}" sibTransId="{9E4A1ED2-C2E3-4EA7-84B7-8F1151361D0D}"/>
    <dgm:cxn modelId="{2CDA0A7D-B7C1-4845-AFC3-C8847A97A997}" srcId="{B079F5F5-25F5-4B2B-AECB-2CDC2F3C6E7F}" destId="{ECAA2EB8-0843-4AF6-BC4F-B3AE2F6192AB}" srcOrd="0" destOrd="0" parTransId="{4F5295F3-19FF-444D-A818-7FBAD5FA61D0}" sibTransId="{584E84A7-5FAF-4AAF-8A8A-34478D6EB56E}"/>
    <dgm:cxn modelId="{3FCAF17E-FDDD-4807-BFFA-DAAA4EEB53CB}" type="presOf" srcId="{B079F5F5-25F5-4B2B-AECB-2CDC2F3C6E7F}" destId="{79E067F4-D801-437D-B3F9-1512435F2AAB}" srcOrd="0" destOrd="0" presId="urn:microsoft.com/office/officeart/2005/8/layout/hList1"/>
    <dgm:cxn modelId="{0665B781-2C25-4A74-B272-865741770DC8}" type="presOf" srcId="{B1879D10-9C7C-48FE-9929-9A07C2CA7429}" destId="{1446AE6D-49D9-49E0-813D-C1FE7DD39CC1}" srcOrd="0" destOrd="0" presId="urn:microsoft.com/office/officeart/2005/8/layout/hList1"/>
    <dgm:cxn modelId="{65029D87-1F27-4027-BAE4-9089ABE3603E}" type="presOf" srcId="{E39259BF-C1B6-4C34-B8A6-BA602EBB96A9}" destId="{553FF351-85D2-4E3A-BE5F-F35DD3016587}" srcOrd="0" destOrd="2" presId="urn:microsoft.com/office/officeart/2005/8/layout/hList1"/>
    <dgm:cxn modelId="{3569DA8B-2478-4059-8731-7E0F7B74A1DF}" srcId="{4D1D7ADF-223A-46B7-94B5-7B1F69364FD0}" destId="{4375A670-4B32-449B-B1B7-C064F57CB987}" srcOrd="7" destOrd="0" parTransId="{6C771EA2-9459-4220-A978-C91432BDEC03}" sibTransId="{C6F8D709-F87B-4B64-9684-8395B4EE49E9}"/>
    <dgm:cxn modelId="{F5FBFE8D-560A-414D-A17B-98EE3624CA77}" type="presOf" srcId="{17B8AAA0-7084-4086-AADD-068C9AE072E3}" destId="{CF7F9ADB-B455-41CE-85F1-A2E8CC3B883C}" srcOrd="0" destOrd="0" presId="urn:microsoft.com/office/officeart/2005/8/layout/hList1"/>
    <dgm:cxn modelId="{20A2298E-D165-45EA-8A52-27CAA145D715}" type="presOf" srcId="{9F46DEBA-8F1D-40B8-BC5F-73313AD2BE18}" destId="{CF7F9ADB-B455-41CE-85F1-A2E8CC3B883C}" srcOrd="0" destOrd="1" presId="urn:microsoft.com/office/officeart/2005/8/layout/hList1"/>
    <dgm:cxn modelId="{A8EC7590-4267-42A2-96AD-693699FC6AD4}" type="presOf" srcId="{DB031FCE-0657-4972-AC62-9B5DDABED753}" destId="{553FF351-85D2-4E3A-BE5F-F35DD3016587}" srcOrd="0" destOrd="4" presId="urn:microsoft.com/office/officeart/2005/8/layout/hList1"/>
    <dgm:cxn modelId="{7363F496-2E54-4874-9A5E-646F74A4F549}" type="presOf" srcId="{7F825514-9A8E-408A-844A-D46CCAD4AECF}" destId="{C1D798DB-7031-42D1-A568-6F1F0D86EE2D}" srcOrd="0" destOrd="0" presId="urn:microsoft.com/office/officeart/2005/8/layout/hList1"/>
    <dgm:cxn modelId="{1DBDE199-604D-4BAD-9C8F-E1EF75286573}" type="presOf" srcId="{23758CDD-68EC-4793-85C2-046B1E5DA367}" destId="{553FF351-85D2-4E3A-BE5F-F35DD3016587}" srcOrd="0" destOrd="3" presId="urn:microsoft.com/office/officeart/2005/8/layout/hList1"/>
    <dgm:cxn modelId="{AA6A989A-6020-4498-9758-8A907599D89B}" srcId="{A7EA2273-88D4-4D2F-883A-6B76130885E0}" destId="{28FEA577-CEEA-4591-B2B8-7480AC34EBF7}" srcOrd="5" destOrd="0" parTransId="{7152326D-6C41-4879-A0C1-8CEDE3F933E1}" sibTransId="{80E3CE1E-CB89-47D6-B835-6F6A47C068F6}"/>
    <dgm:cxn modelId="{0A48929E-B547-4ACD-B15B-5B537DB20C3E}" srcId="{B079F5F5-25F5-4B2B-AECB-2CDC2F3C6E7F}" destId="{DB031FCE-0657-4972-AC62-9B5DDABED753}" srcOrd="4" destOrd="0" parTransId="{94DF2A3F-A9BE-4814-AE0F-CAF5C6D32EEC}" sibTransId="{07C29454-942D-4FD9-8B5A-5C2A5A9C142D}"/>
    <dgm:cxn modelId="{D447709F-7EEF-48DF-97A5-E6B08E94299B}" type="presOf" srcId="{A774598B-4B63-4989-8E53-FD8761AABD9A}" destId="{C5A468D1-97AF-4449-9D86-3F2AF2920579}" srcOrd="0" destOrd="3" presId="urn:microsoft.com/office/officeart/2005/8/layout/hList1"/>
    <dgm:cxn modelId="{1DC7E7A1-D39D-4971-9E63-15AC9008DAB6}" srcId="{4375A670-4B32-449B-B1B7-C064F57CB987}" destId="{246D0487-C815-43E2-8508-C26C18508F18}" srcOrd="1" destOrd="0" parTransId="{5ACD80E5-1673-4219-8141-C3E7718E99D9}" sibTransId="{494AA143-48C9-4E3E-BB70-A54A9EA5AF55}"/>
    <dgm:cxn modelId="{A0549EA8-39BC-472C-8FDD-23C9C46DD90F}" srcId="{CBE4BC7C-B562-4041-ADC5-CC081AD4FCBF}" destId="{91513491-0475-4CB0-92DC-D1F3499DF800}" srcOrd="1" destOrd="0" parTransId="{F9EDA021-1002-4A99-AB16-8B22EBD8033F}" sibTransId="{8B9C52B1-C29F-4BFA-9D28-5369420CF2A4}"/>
    <dgm:cxn modelId="{63C270A9-77D1-4159-8ADD-DE2F6A846ABF}" srcId="{A7EA2273-88D4-4D2F-883A-6B76130885E0}" destId="{83670AE6-B3AE-4E77-A13A-B33AD7C18B77}" srcOrd="3" destOrd="0" parTransId="{41DBFCAD-0F49-4133-A8CA-859CB536A860}" sibTransId="{B23DC5CA-B353-4F62-A27F-3CC098FE66C1}"/>
    <dgm:cxn modelId="{0EBE4FAD-8ACF-49D3-8FB1-5E9CDEC6030A}" srcId="{4D1D7ADF-223A-46B7-94B5-7B1F69364FD0}" destId="{BD4EA19F-29D5-4C66-9847-66BC6067EC11}" srcOrd="1" destOrd="0" parTransId="{A5452913-CBC4-42FD-9BE2-2E20A8EFC698}" sibTransId="{F217C2D3-4745-46E2-8A6D-9DAB67C6EAF5}"/>
    <dgm:cxn modelId="{CE164FAE-B255-4ADE-BF37-10236656F9BA}" srcId="{4375A670-4B32-449B-B1B7-C064F57CB987}" destId="{7F825514-9A8E-408A-844A-D46CCAD4AECF}" srcOrd="0" destOrd="0" parTransId="{744D5B99-6A18-477F-8EB6-2C3FFD1A12E4}" sibTransId="{3C619BC8-A94F-4756-B8FA-6E4277FF58FC}"/>
    <dgm:cxn modelId="{252F85AF-12D7-459F-A866-94251A18A1B2}" type="presOf" srcId="{3278C972-29DD-48A9-B78D-28BB27D5EA2E}" destId="{2F144BA7-55BB-4CD8-BB8E-CBAE0339FCDF}" srcOrd="0" destOrd="0" presId="urn:microsoft.com/office/officeart/2005/8/layout/hList1"/>
    <dgm:cxn modelId="{464DB4B7-A8A3-4331-ACC2-A2B330F0974A}" srcId="{B079F5F5-25F5-4B2B-AECB-2CDC2F3C6E7F}" destId="{E39259BF-C1B6-4C34-B8A6-BA602EBB96A9}" srcOrd="2" destOrd="0" parTransId="{DF912E43-F58E-49A0-A1CA-5C644B9E3B4D}" sibTransId="{7B2CA522-565B-494C-9241-186F2C1F964B}"/>
    <dgm:cxn modelId="{EE7DDCB7-4D4E-4196-8F04-E7CB839CB492}" srcId="{A7EA2273-88D4-4D2F-883A-6B76130885E0}" destId="{B05DB63D-5C88-4314-BE44-34507B2507A9}" srcOrd="2" destOrd="0" parTransId="{9A1A9E09-D70F-4B0F-9FD1-756EE5FBC4FC}" sibTransId="{4C7BA8A0-D3B9-41D2-B38C-C5153B3A0A20}"/>
    <dgm:cxn modelId="{C563F4BA-D3B8-4720-9F84-2DE11EA49AE1}" type="presOf" srcId="{78455254-9A0C-4D60-A5BC-366FF700DBF0}" destId="{5712ECB8-160B-413E-BFBB-AAA53B852CF8}" srcOrd="0" destOrd="0" presId="urn:microsoft.com/office/officeart/2005/8/layout/hList1"/>
    <dgm:cxn modelId="{CB9CE8C0-19DE-4E6C-BDAB-846E7A0CE163}" srcId="{CBE4BC7C-B562-4041-ADC5-CC081AD4FCBF}" destId="{7ACAD879-177D-40BE-BC89-131639B4109D}" srcOrd="2" destOrd="0" parTransId="{7001BBB7-216A-4658-ADA9-72F5358CE95A}" sibTransId="{8C0A8FB5-6EC7-4606-B9ED-E84708159507}"/>
    <dgm:cxn modelId="{9584F1C0-E569-4B6E-9E03-5EF9EC865680}" type="presOf" srcId="{98FE757A-745B-4B0D-A900-74E920226FFF}" destId="{C5A468D1-97AF-4449-9D86-3F2AF2920579}" srcOrd="0" destOrd="2" presId="urn:microsoft.com/office/officeart/2005/8/layout/hList1"/>
    <dgm:cxn modelId="{ABEEBDC1-19C7-4AD7-8EC6-2C6399A8D209}" srcId="{5F0D793A-FF62-4277-8546-27F9D2483184}" destId="{1011D665-11C0-4936-8B43-95F3F48444C2}" srcOrd="0" destOrd="0" parTransId="{BB0F8F2F-B533-4CD6-8B4A-A867B7303232}" sibTransId="{627C6720-F812-4FD3-9A95-F0C87E199352}"/>
    <dgm:cxn modelId="{D9318CC3-5088-4A52-B0EA-D8CE2ABB199B}" srcId="{A7EA2273-88D4-4D2F-883A-6B76130885E0}" destId="{DF0348BC-ABD9-4624-8291-A30436BC1669}" srcOrd="4" destOrd="0" parTransId="{C363D072-76E7-4178-868D-F90EE519046E}" sibTransId="{C3FF7F5E-89E9-46ED-8CC1-7C38B220D322}"/>
    <dgm:cxn modelId="{F5624ACB-EF50-4616-8DDF-7B9780CEF52E}" type="presOf" srcId="{426696BC-B0B3-432A-9D5A-D062A2B265DE}" destId="{D9CC4CD5-F324-48B7-8525-F787679CDD83}" srcOrd="0" destOrd="2" presId="urn:microsoft.com/office/officeart/2005/8/layout/hList1"/>
    <dgm:cxn modelId="{9824BFCB-5A6F-47CB-A64C-3114DCE34384}" type="presOf" srcId="{A7EA2273-88D4-4D2F-883A-6B76130885E0}" destId="{7E85CBBC-EF6E-41FE-A45B-5D6AAD30558F}" srcOrd="0" destOrd="0" presId="urn:microsoft.com/office/officeart/2005/8/layout/hList1"/>
    <dgm:cxn modelId="{4E083ECE-FC99-4884-8D3D-1609F0EE0EC0}" srcId="{3278C972-29DD-48A9-B78D-28BB27D5EA2E}" destId="{CA7F72EB-B2AD-48D4-AC42-BA746B3F8EAF}" srcOrd="2" destOrd="0" parTransId="{83F282EB-AE4E-4878-80F9-5FA8C3F051C0}" sibTransId="{3172FC94-4BC5-49FC-91F3-5B80418C5A2A}"/>
    <dgm:cxn modelId="{9A8B71CF-88B3-471C-B2A2-5B3D1EE41927}" srcId="{BD4EA19F-29D5-4C66-9847-66BC6067EC11}" destId="{C076DBCD-23E9-4453-9C80-A69B914D1EF0}" srcOrd="1" destOrd="0" parTransId="{DA03D34A-56A9-45BF-9B86-322C07EE1C8E}" sibTransId="{D825EEF4-155A-44B7-B12F-18C43C12F036}"/>
    <dgm:cxn modelId="{17A99ED0-C711-4494-B66A-281363FEA69C}" srcId="{BD4EA19F-29D5-4C66-9847-66BC6067EC11}" destId="{A774598B-4B63-4989-8E53-FD8761AABD9A}" srcOrd="3" destOrd="0" parTransId="{6E1A663F-FBBB-4514-B375-695AE4F64292}" sibTransId="{2488DE3E-F178-451E-9461-F943E205F808}"/>
    <dgm:cxn modelId="{527DAAD0-7564-4FB1-A093-9AE385AEFEC6}" srcId="{5F0D793A-FF62-4277-8546-27F9D2483184}" destId="{A2C11BC5-5705-40A5-8533-3D8DDED060F7}" srcOrd="3" destOrd="0" parTransId="{ED033911-C36D-4C3B-9C7E-684EC15CF372}" sibTransId="{A3436325-99F8-4096-9002-408ABE8DD9C4}"/>
    <dgm:cxn modelId="{111B30D1-F1AB-40A5-8F86-5F67E747193B}" type="presOf" srcId="{7ACAD879-177D-40BE-BC89-131639B4109D}" destId="{C4CA4708-EE5D-4FAD-8318-17378CC681F3}" srcOrd="0" destOrd="2" presId="urn:microsoft.com/office/officeart/2005/8/layout/hList1"/>
    <dgm:cxn modelId="{FC38FBD4-E2B7-4DD4-BD60-ED9E30F1512C}" type="presOf" srcId="{A2C11BC5-5705-40A5-8533-3D8DDED060F7}" destId="{D9CC4CD5-F324-48B7-8525-F787679CDD83}" srcOrd="0" destOrd="3" presId="urn:microsoft.com/office/officeart/2005/8/layout/hList1"/>
    <dgm:cxn modelId="{59180DDD-11D9-40F3-87CA-74618CD1A02A}" type="presOf" srcId="{CA7F72EB-B2AD-48D4-AC42-BA746B3F8EAF}" destId="{CF7F9ADB-B455-41CE-85F1-A2E8CC3B883C}" srcOrd="0" destOrd="2" presId="urn:microsoft.com/office/officeart/2005/8/layout/hList1"/>
    <dgm:cxn modelId="{87C733DE-B175-4574-994E-8F2F4BA6BC0D}" srcId="{4D1D7ADF-223A-46B7-94B5-7B1F69364FD0}" destId="{5F0D793A-FF62-4277-8546-27F9D2483184}" srcOrd="6" destOrd="0" parTransId="{F6D1642C-4AF3-4D28-B67A-697551684FE6}" sibTransId="{57299B5D-6CBB-4588-85B8-5A1425965A6C}"/>
    <dgm:cxn modelId="{9FC2DAE0-0DF1-4A1E-BCBB-978BB38AC67A}" type="presOf" srcId="{5CEE3926-E9F9-48D5-97B4-3F56F75CB597}" destId="{565B26BF-AFEF-4F44-B0AD-FF4EC6E16E94}" srcOrd="0" destOrd="0" presId="urn:microsoft.com/office/officeart/2005/8/layout/hList1"/>
    <dgm:cxn modelId="{7DF2C4E3-E82B-4CF5-973C-47A465638C02}" type="presOf" srcId="{554266AD-F884-4EA1-9FF2-2E34B1B927E4}" destId="{C4CA4708-EE5D-4FAD-8318-17378CC681F3}" srcOrd="0" destOrd="3" presId="urn:microsoft.com/office/officeart/2005/8/layout/hList1"/>
    <dgm:cxn modelId="{0544C4E9-2DDC-42E0-A559-1D208EE1EF7E}" type="presOf" srcId="{91513491-0475-4CB0-92DC-D1F3499DF800}" destId="{C4CA4708-EE5D-4FAD-8318-17378CC681F3}" srcOrd="0" destOrd="1" presId="urn:microsoft.com/office/officeart/2005/8/layout/hList1"/>
    <dgm:cxn modelId="{6B2224EC-F480-42CA-9067-35B5FD147951}" srcId="{3278C972-29DD-48A9-B78D-28BB27D5EA2E}" destId="{9F46DEBA-8F1D-40B8-BC5F-73313AD2BE18}" srcOrd="1" destOrd="0" parTransId="{06D07328-666B-4D93-AE74-ACDC3019CFD8}" sibTransId="{08DD40A4-CED9-45AD-A248-1C4C1F116EF1}"/>
    <dgm:cxn modelId="{75FC51F3-3E92-4812-8A30-4A55FCE5A646}" type="presOf" srcId="{E7E4865A-F7D3-4859-BB88-ABDDCF760FA6}" destId="{C5A468D1-97AF-4449-9D86-3F2AF2920579}" srcOrd="0" destOrd="0" presId="urn:microsoft.com/office/officeart/2005/8/layout/hList1"/>
    <dgm:cxn modelId="{ADA23BF4-4B32-4CD2-B3D5-EFB41856D398}" srcId="{BD4EA19F-29D5-4C66-9847-66BC6067EC11}" destId="{E7E4865A-F7D3-4859-BB88-ABDDCF760FA6}" srcOrd="0" destOrd="0" parTransId="{D9B9FB02-AB8B-43BC-95B4-6486CE94A93F}" sibTransId="{B164981B-B862-4E31-ADD6-CCC96ACF371B}"/>
    <dgm:cxn modelId="{51DEE3F8-5EDB-4C0D-B9A3-D68C79413C74}" type="presOf" srcId="{BD4EA19F-29D5-4C66-9847-66BC6067EC11}" destId="{075A4455-B8A1-464F-A1C2-71FB9C3D7EC6}" srcOrd="0" destOrd="0" presId="urn:microsoft.com/office/officeart/2005/8/layout/hList1"/>
    <dgm:cxn modelId="{177E59FC-D535-4A47-BEE5-2E7AA432D2FC}" type="presOf" srcId="{5ABD7A0C-8924-4520-B95E-797FF128EE21}" destId="{565B26BF-AFEF-4F44-B0AD-FF4EC6E16E94}" srcOrd="0" destOrd="1" presId="urn:microsoft.com/office/officeart/2005/8/layout/hList1"/>
    <dgm:cxn modelId="{C4BEB39B-8F4C-469B-9099-22905052ABCF}" type="presParOf" srcId="{FFC3941C-3FE9-4F9E-A9D5-78DE696D4B41}" destId="{A69A6B5A-E909-48D3-92C1-0164852C032F}" srcOrd="0" destOrd="0" presId="urn:microsoft.com/office/officeart/2005/8/layout/hList1"/>
    <dgm:cxn modelId="{A6A1DFCD-82DB-4F2D-ABAA-5ECEA6BBDDD2}" type="presParOf" srcId="{A69A6B5A-E909-48D3-92C1-0164852C032F}" destId="{7E85CBBC-EF6E-41FE-A45B-5D6AAD30558F}" srcOrd="0" destOrd="0" presId="urn:microsoft.com/office/officeart/2005/8/layout/hList1"/>
    <dgm:cxn modelId="{6B43E144-B511-4447-BD36-77912EAF849C}" type="presParOf" srcId="{A69A6B5A-E909-48D3-92C1-0164852C032F}" destId="{565B26BF-AFEF-4F44-B0AD-FF4EC6E16E94}" srcOrd="1" destOrd="0" presId="urn:microsoft.com/office/officeart/2005/8/layout/hList1"/>
    <dgm:cxn modelId="{932AFF20-9148-4C33-9178-0C5BC9A2829F}" type="presParOf" srcId="{FFC3941C-3FE9-4F9E-A9D5-78DE696D4B41}" destId="{918EE944-975D-4283-93C2-FADF786BAE72}" srcOrd="1" destOrd="0" presId="urn:microsoft.com/office/officeart/2005/8/layout/hList1"/>
    <dgm:cxn modelId="{030D7088-4501-4608-980D-0D835F05A452}" type="presParOf" srcId="{FFC3941C-3FE9-4F9E-A9D5-78DE696D4B41}" destId="{ABBDEE7B-6B2E-4F0D-986B-7CE6E6B03657}" srcOrd="2" destOrd="0" presId="urn:microsoft.com/office/officeart/2005/8/layout/hList1"/>
    <dgm:cxn modelId="{3B9B5579-4D8C-4236-A103-B874A80103D1}" type="presParOf" srcId="{ABBDEE7B-6B2E-4F0D-986B-7CE6E6B03657}" destId="{075A4455-B8A1-464F-A1C2-71FB9C3D7EC6}" srcOrd="0" destOrd="0" presId="urn:microsoft.com/office/officeart/2005/8/layout/hList1"/>
    <dgm:cxn modelId="{959325B1-CCC9-4983-A934-2DCD1A6220D3}" type="presParOf" srcId="{ABBDEE7B-6B2E-4F0D-986B-7CE6E6B03657}" destId="{C5A468D1-97AF-4449-9D86-3F2AF2920579}" srcOrd="1" destOrd="0" presId="urn:microsoft.com/office/officeart/2005/8/layout/hList1"/>
    <dgm:cxn modelId="{C6A163E0-7FBD-4E6A-9FB7-2C8873E8038C}" type="presParOf" srcId="{FFC3941C-3FE9-4F9E-A9D5-78DE696D4B41}" destId="{FBCE0788-5FF2-47F0-A0FC-654DCA63CEB9}" srcOrd="3" destOrd="0" presId="urn:microsoft.com/office/officeart/2005/8/layout/hList1"/>
    <dgm:cxn modelId="{D6BC695D-643A-4A96-BB0D-9C4C755CF8A8}" type="presParOf" srcId="{FFC3941C-3FE9-4F9E-A9D5-78DE696D4B41}" destId="{0DF0F645-069D-4176-AB68-3AB1A205109F}" srcOrd="4" destOrd="0" presId="urn:microsoft.com/office/officeart/2005/8/layout/hList1"/>
    <dgm:cxn modelId="{2F020193-B65E-409A-AC87-B21688E2588E}" type="presParOf" srcId="{0DF0F645-069D-4176-AB68-3AB1A205109F}" destId="{5712ECB8-160B-413E-BFBB-AAA53B852CF8}" srcOrd="0" destOrd="0" presId="urn:microsoft.com/office/officeart/2005/8/layout/hList1"/>
    <dgm:cxn modelId="{753F9F57-27AD-46C6-919E-BFF9119B5044}" type="presParOf" srcId="{0DF0F645-069D-4176-AB68-3AB1A205109F}" destId="{1446AE6D-49D9-49E0-813D-C1FE7DD39CC1}" srcOrd="1" destOrd="0" presId="urn:microsoft.com/office/officeart/2005/8/layout/hList1"/>
    <dgm:cxn modelId="{C5CA14A2-538A-4031-806F-D8FAEF71EE5C}" type="presParOf" srcId="{FFC3941C-3FE9-4F9E-A9D5-78DE696D4B41}" destId="{E4D67814-F198-4641-A3F9-F2CA133165D9}" srcOrd="5" destOrd="0" presId="urn:microsoft.com/office/officeart/2005/8/layout/hList1"/>
    <dgm:cxn modelId="{F7CC25B7-AFF0-4111-8588-A09B54D96A00}" type="presParOf" srcId="{FFC3941C-3FE9-4F9E-A9D5-78DE696D4B41}" destId="{8BB42C8A-D13D-492B-9E5D-289153E4668C}" srcOrd="6" destOrd="0" presId="urn:microsoft.com/office/officeart/2005/8/layout/hList1"/>
    <dgm:cxn modelId="{FA3234A0-FC58-4D2A-97DA-19CBE32909BB}" type="presParOf" srcId="{8BB42C8A-D13D-492B-9E5D-289153E4668C}" destId="{74AC0208-7A6D-4791-8715-3AE4EC7FE5A5}" srcOrd="0" destOrd="0" presId="urn:microsoft.com/office/officeart/2005/8/layout/hList1"/>
    <dgm:cxn modelId="{C343B12B-327D-4D1C-BF75-E5F3EB4FA676}" type="presParOf" srcId="{8BB42C8A-D13D-492B-9E5D-289153E4668C}" destId="{C4CA4708-EE5D-4FAD-8318-17378CC681F3}" srcOrd="1" destOrd="0" presId="urn:microsoft.com/office/officeart/2005/8/layout/hList1"/>
    <dgm:cxn modelId="{8A5CC2A5-3EFF-4440-A727-A311FED469A8}" type="presParOf" srcId="{FFC3941C-3FE9-4F9E-A9D5-78DE696D4B41}" destId="{F9417226-5A3E-41B1-912F-EC048CA22B18}" srcOrd="7" destOrd="0" presId="urn:microsoft.com/office/officeart/2005/8/layout/hList1"/>
    <dgm:cxn modelId="{C53AD703-9A30-4AD0-8CD8-24CF61590337}" type="presParOf" srcId="{FFC3941C-3FE9-4F9E-A9D5-78DE696D4B41}" destId="{822AA50D-3BD5-425A-BB44-706EDB033222}" srcOrd="8" destOrd="0" presId="urn:microsoft.com/office/officeart/2005/8/layout/hList1"/>
    <dgm:cxn modelId="{333F1654-0308-487A-92B1-2F7A08A066E6}" type="presParOf" srcId="{822AA50D-3BD5-425A-BB44-706EDB033222}" destId="{2F144BA7-55BB-4CD8-BB8E-CBAE0339FCDF}" srcOrd="0" destOrd="0" presId="urn:microsoft.com/office/officeart/2005/8/layout/hList1"/>
    <dgm:cxn modelId="{A391BB6C-511A-439B-BBC4-262554C1DAE6}" type="presParOf" srcId="{822AA50D-3BD5-425A-BB44-706EDB033222}" destId="{CF7F9ADB-B455-41CE-85F1-A2E8CC3B883C}" srcOrd="1" destOrd="0" presId="urn:microsoft.com/office/officeart/2005/8/layout/hList1"/>
    <dgm:cxn modelId="{E76F0FFA-5A45-45DC-9374-5D5C95F29FBF}" type="presParOf" srcId="{FFC3941C-3FE9-4F9E-A9D5-78DE696D4B41}" destId="{55B8B274-C17C-43C0-9AA5-D51E1F9DAEF7}" srcOrd="9" destOrd="0" presId="urn:microsoft.com/office/officeart/2005/8/layout/hList1"/>
    <dgm:cxn modelId="{41F5E20D-67D7-4934-84AB-A6D3877EACB4}" type="presParOf" srcId="{FFC3941C-3FE9-4F9E-A9D5-78DE696D4B41}" destId="{5B11A156-E0A6-4237-B869-94D762FA3586}" srcOrd="10" destOrd="0" presId="urn:microsoft.com/office/officeart/2005/8/layout/hList1"/>
    <dgm:cxn modelId="{407D67F6-83BF-4383-B12D-12986C641509}" type="presParOf" srcId="{5B11A156-E0A6-4237-B869-94D762FA3586}" destId="{79E067F4-D801-437D-B3F9-1512435F2AAB}" srcOrd="0" destOrd="0" presId="urn:microsoft.com/office/officeart/2005/8/layout/hList1"/>
    <dgm:cxn modelId="{C6FF9536-7C9B-4174-ABCA-BCADFC72F2AE}" type="presParOf" srcId="{5B11A156-E0A6-4237-B869-94D762FA3586}" destId="{553FF351-85D2-4E3A-BE5F-F35DD3016587}" srcOrd="1" destOrd="0" presId="urn:microsoft.com/office/officeart/2005/8/layout/hList1"/>
    <dgm:cxn modelId="{0453FCCA-F99C-402C-92CD-616ECE4F1156}" type="presParOf" srcId="{FFC3941C-3FE9-4F9E-A9D5-78DE696D4B41}" destId="{469C1182-B5CB-4854-89A3-ED13BEF68CBD}" srcOrd="11" destOrd="0" presId="urn:microsoft.com/office/officeart/2005/8/layout/hList1"/>
    <dgm:cxn modelId="{14BD2138-744A-4974-844B-636BA4CB2C75}" type="presParOf" srcId="{FFC3941C-3FE9-4F9E-A9D5-78DE696D4B41}" destId="{FD0FA82B-56D4-4A16-9CE6-B02C7138742B}" srcOrd="12" destOrd="0" presId="urn:microsoft.com/office/officeart/2005/8/layout/hList1"/>
    <dgm:cxn modelId="{762E735B-FF73-4A53-9CBD-C6838E65B13E}" type="presParOf" srcId="{FD0FA82B-56D4-4A16-9CE6-B02C7138742B}" destId="{006CF390-312E-4A58-909F-24978E063C1C}" srcOrd="0" destOrd="0" presId="urn:microsoft.com/office/officeart/2005/8/layout/hList1"/>
    <dgm:cxn modelId="{48DE94CF-C150-4997-9EA0-D8888A522DC7}" type="presParOf" srcId="{FD0FA82B-56D4-4A16-9CE6-B02C7138742B}" destId="{D9CC4CD5-F324-48B7-8525-F787679CDD83}" srcOrd="1" destOrd="0" presId="urn:microsoft.com/office/officeart/2005/8/layout/hList1"/>
    <dgm:cxn modelId="{18030BE5-3F98-47EF-B669-225CC689076E}" type="presParOf" srcId="{FFC3941C-3FE9-4F9E-A9D5-78DE696D4B41}" destId="{958C57D2-B8A4-4CFE-8D4C-3824B081CA70}" srcOrd="13" destOrd="0" presId="urn:microsoft.com/office/officeart/2005/8/layout/hList1"/>
    <dgm:cxn modelId="{DA409B82-4DC7-4A72-8FC6-CD1531F40943}" type="presParOf" srcId="{FFC3941C-3FE9-4F9E-A9D5-78DE696D4B41}" destId="{41490635-971C-483E-8C8F-AC10B1991FC8}" srcOrd="14" destOrd="0" presId="urn:microsoft.com/office/officeart/2005/8/layout/hList1"/>
    <dgm:cxn modelId="{4E3A74D8-335F-4253-8554-A66C999E13F9}" type="presParOf" srcId="{41490635-971C-483E-8C8F-AC10B1991FC8}" destId="{FDFFC00E-A769-4D39-A38C-0A179647644D}" srcOrd="0" destOrd="0" presId="urn:microsoft.com/office/officeart/2005/8/layout/hList1"/>
    <dgm:cxn modelId="{D0F5AD70-C357-4F10-9937-FCA6BED799F0}" type="presParOf" srcId="{41490635-971C-483E-8C8F-AC10B1991FC8}" destId="{C1D798DB-7031-42D1-A568-6F1F0D86EE2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429264-FB5D-4269-A5E5-03547C538EC5}">
      <dsp:nvSpPr>
        <dsp:cNvPr id="0" name=""/>
        <dsp:cNvSpPr/>
      </dsp:nvSpPr>
      <dsp:spPr>
        <a:xfrm>
          <a:off x="2088" y="93654"/>
          <a:ext cx="3776215" cy="1549206"/>
        </a:xfrm>
        <a:prstGeom prst="rect">
          <a:avLst/>
        </a:prstGeom>
        <a:gradFill rotWithShape="0">
          <a:gsLst>
            <a:gs pos="0">
              <a:schemeClr val="accent1">
                <a:alpha val="90000"/>
                <a:hueOff val="0"/>
                <a:satOff val="0"/>
                <a:lumOff val="0"/>
                <a:alphaOff val="0"/>
                <a:tint val="50000"/>
                <a:satMod val="300000"/>
              </a:schemeClr>
            </a:gs>
            <a:gs pos="35000">
              <a:schemeClr val="accent1">
                <a:alpha val="90000"/>
                <a:hueOff val="0"/>
                <a:satOff val="0"/>
                <a:lumOff val="0"/>
                <a:alphaOff val="0"/>
                <a:tint val="37000"/>
                <a:satMod val="300000"/>
              </a:schemeClr>
            </a:gs>
            <a:gs pos="100000">
              <a:schemeClr val="accent1">
                <a:alpha val="9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b="1" kern="1200"/>
            <a:t>Data is separated from the systems </a:t>
          </a:r>
          <a:r>
            <a:rPr lang="en-CA" sz="1400" kern="1200"/>
            <a:t>to minimize the movement of data between systems - data processing  designed to act on data, bringing logic to data.  </a:t>
          </a:r>
          <a:r>
            <a:rPr lang="en-CA" sz="1400" b="1" kern="1200"/>
            <a:t>Access to data </a:t>
          </a:r>
          <a:r>
            <a:rPr lang="en-CA" sz="1400" kern="1200"/>
            <a:t>is governed separately from systems – driven by digital identity</a:t>
          </a:r>
          <a:endParaRPr lang="en-US" sz="1400" kern="1200"/>
        </a:p>
      </dsp:txBody>
      <dsp:txXfrm>
        <a:off x="2088" y="93654"/>
        <a:ext cx="3776215" cy="1549206"/>
      </dsp:txXfrm>
    </dsp:sp>
    <dsp:sp modelId="{77A59716-06E5-49BA-9ACA-6F9518832301}">
      <dsp:nvSpPr>
        <dsp:cNvPr id="0" name=""/>
        <dsp:cNvSpPr/>
      </dsp:nvSpPr>
      <dsp:spPr>
        <a:xfrm>
          <a:off x="4036505" y="93654"/>
          <a:ext cx="3409467" cy="1549206"/>
        </a:xfrm>
        <a:prstGeom prst="rect">
          <a:avLst/>
        </a:prstGeom>
        <a:gradFill rotWithShape="0">
          <a:gsLst>
            <a:gs pos="0">
              <a:schemeClr val="accent1">
                <a:alpha val="90000"/>
                <a:hueOff val="0"/>
                <a:satOff val="0"/>
                <a:lumOff val="0"/>
                <a:alphaOff val="-5000"/>
                <a:tint val="50000"/>
                <a:satMod val="300000"/>
              </a:schemeClr>
            </a:gs>
            <a:gs pos="35000">
              <a:schemeClr val="accent1">
                <a:alpha val="90000"/>
                <a:hueOff val="0"/>
                <a:satOff val="0"/>
                <a:lumOff val="0"/>
                <a:alphaOff val="-5000"/>
                <a:tint val="37000"/>
                <a:satMod val="300000"/>
              </a:schemeClr>
            </a:gs>
            <a:gs pos="100000">
              <a:schemeClr val="accent1">
                <a:alpha val="90000"/>
                <a:hueOff val="0"/>
                <a:satOff val="0"/>
                <a:lumOff val="0"/>
                <a:alphaOff val="-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Statistical outputs are produced using </a:t>
          </a:r>
          <a:r>
            <a:rPr lang="en-CA" sz="1400" b="1" kern="1200"/>
            <a:t>automated, AI-driven, end-to-end data pipelines spanning from collection to dissemination of outputs</a:t>
          </a:r>
          <a:r>
            <a:rPr lang="en-CA" sz="1400" kern="1200"/>
            <a:t>.  Pipelines leverage standards (e.g., standards on dissemination products)</a:t>
          </a:r>
          <a:endParaRPr lang="en-US" sz="1400" kern="1200"/>
        </a:p>
      </dsp:txBody>
      <dsp:txXfrm>
        <a:off x="4036505" y="93654"/>
        <a:ext cx="3409467" cy="1549206"/>
      </dsp:txXfrm>
    </dsp:sp>
    <dsp:sp modelId="{F7E93305-8D2A-49AE-9CE8-F26DC3734012}">
      <dsp:nvSpPr>
        <dsp:cNvPr id="0" name=""/>
        <dsp:cNvSpPr/>
      </dsp:nvSpPr>
      <dsp:spPr>
        <a:xfrm>
          <a:off x="7704174" y="93654"/>
          <a:ext cx="3580731" cy="1549206"/>
        </a:xfrm>
        <a:prstGeom prst="rect">
          <a:avLst/>
        </a:prstGeom>
        <a:gradFill rotWithShape="0">
          <a:gsLst>
            <a:gs pos="0">
              <a:schemeClr val="accent1">
                <a:alpha val="90000"/>
                <a:hueOff val="0"/>
                <a:satOff val="0"/>
                <a:lumOff val="0"/>
                <a:alphaOff val="-10000"/>
                <a:tint val="50000"/>
                <a:satMod val="300000"/>
              </a:schemeClr>
            </a:gs>
            <a:gs pos="35000">
              <a:schemeClr val="accent1">
                <a:alpha val="90000"/>
                <a:hueOff val="0"/>
                <a:satOff val="0"/>
                <a:lumOff val="0"/>
                <a:alphaOff val="-10000"/>
                <a:tint val="37000"/>
                <a:satMod val="300000"/>
              </a:schemeClr>
            </a:gs>
            <a:gs pos="100000">
              <a:schemeClr val="accent1">
                <a:alpha val="90000"/>
                <a:hueOff val="0"/>
                <a:satOff val="0"/>
                <a:lumOff val="0"/>
                <a:alphaOff val="-1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Employees have </a:t>
          </a:r>
          <a:r>
            <a:rPr lang="en-CA" sz="1400" b="1" kern="1200"/>
            <a:t>access to pre-approved platforms and tools enabling AI solutions </a:t>
          </a:r>
          <a:r>
            <a:rPr lang="en-CA" sz="1400" kern="1200"/>
            <a:t>- to build data analytics solutions, build and execute data pipelines spanning from collection to dissemination, automate workflows, etc. – without needing an IT developer</a:t>
          </a:r>
          <a:endParaRPr lang="en-US" sz="1400" kern="1200"/>
        </a:p>
      </dsp:txBody>
      <dsp:txXfrm>
        <a:off x="7704174" y="93654"/>
        <a:ext cx="3580731" cy="1549206"/>
      </dsp:txXfrm>
    </dsp:sp>
    <dsp:sp modelId="{0D801BEC-6BE2-4F0D-9F36-112C18270C14}">
      <dsp:nvSpPr>
        <dsp:cNvPr id="0" name=""/>
        <dsp:cNvSpPr/>
      </dsp:nvSpPr>
      <dsp:spPr>
        <a:xfrm>
          <a:off x="2088" y="1901061"/>
          <a:ext cx="3776215" cy="1549206"/>
        </a:xfrm>
        <a:prstGeom prst="rect">
          <a:avLst/>
        </a:prstGeom>
        <a:gradFill rotWithShape="0">
          <a:gsLst>
            <a:gs pos="0">
              <a:schemeClr val="accent1">
                <a:alpha val="90000"/>
                <a:hueOff val="0"/>
                <a:satOff val="0"/>
                <a:lumOff val="0"/>
                <a:alphaOff val="-15000"/>
                <a:tint val="50000"/>
                <a:satMod val="300000"/>
              </a:schemeClr>
            </a:gs>
            <a:gs pos="35000">
              <a:schemeClr val="accent1">
                <a:alpha val="90000"/>
                <a:hueOff val="0"/>
                <a:satOff val="0"/>
                <a:lumOff val="0"/>
                <a:alphaOff val="-15000"/>
                <a:tint val="37000"/>
                <a:satMod val="300000"/>
              </a:schemeClr>
            </a:gs>
            <a:gs pos="100000">
              <a:schemeClr val="accent1">
                <a:alpha val="90000"/>
                <a:hueOff val="0"/>
                <a:satOff val="0"/>
                <a:lumOff val="0"/>
                <a:alphaOff val="-1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For digital initiatives, programs, operations and methodology, in partnership with IT, </a:t>
          </a:r>
          <a:r>
            <a:rPr lang="en-CA" sz="1400" b="1" kern="1200"/>
            <a:t>jointly select the most suitable development methodology </a:t>
          </a:r>
          <a:r>
            <a:rPr lang="en-CA" sz="1400" kern="1200"/>
            <a:t>(business / IT) </a:t>
          </a:r>
          <a:r>
            <a:rPr lang="en-CA" sz="1400" b="1" kern="1200"/>
            <a:t>and digital tools</a:t>
          </a:r>
          <a:r>
            <a:rPr lang="en-CA" sz="1400" kern="1200"/>
            <a:t> (from a set of pre-approved platforms and tools)</a:t>
          </a:r>
          <a:endParaRPr lang="en-US" sz="1400" kern="1200"/>
        </a:p>
      </dsp:txBody>
      <dsp:txXfrm>
        <a:off x="2088" y="1901061"/>
        <a:ext cx="3776215" cy="1549206"/>
      </dsp:txXfrm>
    </dsp:sp>
    <dsp:sp modelId="{17F54CDF-1A08-432C-A489-125CBB55FA14}">
      <dsp:nvSpPr>
        <dsp:cNvPr id="0" name=""/>
        <dsp:cNvSpPr/>
      </dsp:nvSpPr>
      <dsp:spPr>
        <a:xfrm>
          <a:off x="4036505" y="1901061"/>
          <a:ext cx="3409467" cy="1549206"/>
        </a:xfrm>
        <a:prstGeom prst="rect">
          <a:avLst/>
        </a:prstGeom>
        <a:gradFill rotWithShape="0">
          <a:gsLst>
            <a:gs pos="0">
              <a:schemeClr val="accent1">
                <a:alpha val="90000"/>
                <a:hueOff val="0"/>
                <a:satOff val="0"/>
                <a:lumOff val="0"/>
                <a:alphaOff val="-20000"/>
                <a:tint val="50000"/>
                <a:satMod val="300000"/>
              </a:schemeClr>
            </a:gs>
            <a:gs pos="35000">
              <a:schemeClr val="accent1">
                <a:alpha val="90000"/>
                <a:hueOff val="0"/>
                <a:satOff val="0"/>
                <a:lumOff val="0"/>
                <a:alphaOff val="-20000"/>
                <a:tint val="37000"/>
                <a:satMod val="300000"/>
              </a:schemeClr>
            </a:gs>
            <a:gs pos="100000">
              <a:schemeClr val="accent1">
                <a:alpha val="90000"/>
                <a:hueOff val="0"/>
                <a:satOff val="0"/>
                <a:lumOff val="0"/>
                <a:alphaOff val="-2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The organization </a:t>
          </a:r>
          <a:r>
            <a:rPr lang="en-CA" sz="1400" b="1" kern="1200"/>
            <a:t>supports two distinct modes of delivery</a:t>
          </a:r>
          <a:r>
            <a:rPr lang="en-CA" sz="1400" kern="1200"/>
            <a:t>: </a:t>
          </a:r>
          <a:r>
            <a:rPr lang="en-CA" sz="1400" b="1" kern="1200"/>
            <a:t>an experimentation ecosystem </a:t>
          </a:r>
          <a:r>
            <a:rPr lang="en-CA" sz="1400" kern="1200"/>
            <a:t>for rapid research and prototyping (e.g., AI model development), and </a:t>
          </a:r>
          <a:r>
            <a:rPr lang="en-CA" sz="1400" b="1" kern="1200"/>
            <a:t>a secure operational ecosystem </a:t>
          </a:r>
          <a:r>
            <a:rPr lang="en-CA" sz="1400" kern="1200"/>
            <a:t>for deploying and scaling validated solutions</a:t>
          </a:r>
          <a:endParaRPr lang="en-US" sz="1400" kern="1200"/>
        </a:p>
      </dsp:txBody>
      <dsp:txXfrm>
        <a:off x="4036505" y="1901061"/>
        <a:ext cx="3409467" cy="1549206"/>
      </dsp:txXfrm>
    </dsp:sp>
    <dsp:sp modelId="{B4A648D2-B674-4BA8-84A8-1EC63C69CFD3}">
      <dsp:nvSpPr>
        <dsp:cNvPr id="0" name=""/>
        <dsp:cNvSpPr/>
      </dsp:nvSpPr>
      <dsp:spPr>
        <a:xfrm>
          <a:off x="7704174" y="1901061"/>
          <a:ext cx="3580731" cy="1549206"/>
        </a:xfrm>
        <a:prstGeom prst="rect">
          <a:avLst/>
        </a:prstGeom>
        <a:gradFill rotWithShape="0">
          <a:gsLst>
            <a:gs pos="0">
              <a:schemeClr val="accent1">
                <a:alpha val="90000"/>
                <a:hueOff val="0"/>
                <a:satOff val="0"/>
                <a:lumOff val="0"/>
                <a:alphaOff val="-25000"/>
                <a:tint val="50000"/>
                <a:satMod val="300000"/>
              </a:schemeClr>
            </a:gs>
            <a:gs pos="35000">
              <a:schemeClr val="accent1">
                <a:alpha val="90000"/>
                <a:hueOff val="0"/>
                <a:satOff val="0"/>
                <a:lumOff val="0"/>
                <a:alphaOff val="-25000"/>
                <a:tint val="37000"/>
                <a:satMod val="300000"/>
              </a:schemeClr>
            </a:gs>
            <a:gs pos="100000">
              <a:schemeClr val="accent1">
                <a:alpha val="90000"/>
                <a:hueOff val="0"/>
                <a:satOff val="0"/>
                <a:lumOff val="0"/>
                <a:alphaOff val="-2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Business-built solutions are </a:t>
          </a:r>
          <a:r>
            <a:rPr lang="en-CA" sz="1400" b="1" kern="1200"/>
            <a:t>developed using pre-defined development processes </a:t>
          </a:r>
          <a:r>
            <a:rPr lang="en-CA" sz="1400" kern="1200"/>
            <a:t>that include appropriate guardrails</a:t>
          </a:r>
          <a:endParaRPr lang="en-US" sz="1400" kern="1200"/>
        </a:p>
      </dsp:txBody>
      <dsp:txXfrm>
        <a:off x="7704174" y="1901061"/>
        <a:ext cx="3580731" cy="1549206"/>
      </dsp:txXfrm>
    </dsp:sp>
    <dsp:sp modelId="{90255F84-A760-41F9-823E-75BB9D455A5F}">
      <dsp:nvSpPr>
        <dsp:cNvPr id="0" name=""/>
        <dsp:cNvSpPr/>
      </dsp:nvSpPr>
      <dsp:spPr>
        <a:xfrm>
          <a:off x="2088" y="3708469"/>
          <a:ext cx="3776215" cy="1549206"/>
        </a:xfrm>
        <a:prstGeom prst="rect">
          <a:avLst/>
        </a:prstGeom>
        <a:gradFill rotWithShape="0">
          <a:gsLst>
            <a:gs pos="0">
              <a:schemeClr val="accent1">
                <a:alpha val="90000"/>
                <a:hueOff val="0"/>
                <a:satOff val="0"/>
                <a:lumOff val="0"/>
                <a:alphaOff val="-30000"/>
                <a:tint val="50000"/>
                <a:satMod val="300000"/>
              </a:schemeClr>
            </a:gs>
            <a:gs pos="35000">
              <a:schemeClr val="accent1">
                <a:alpha val="90000"/>
                <a:hueOff val="0"/>
                <a:satOff val="0"/>
                <a:lumOff val="0"/>
                <a:alphaOff val="-30000"/>
                <a:tint val="37000"/>
                <a:satMod val="300000"/>
              </a:schemeClr>
            </a:gs>
            <a:gs pos="100000">
              <a:schemeClr val="accent1">
                <a:alpha val="90000"/>
                <a:hueOff val="0"/>
                <a:satOff val="0"/>
                <a:lumOff val="0"/>
                <a:alphaOff val="-3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Collection of business-built applications</a:t>
          </a:r>
          <a:r>
            <a:rPr lang="en-US" sz="1400" kern="1200"/>
            <a:t> (e.g., libraries, reused source code etc.) is treated as </a:t>
          </a:r>
          <a:r>
            <a:rPr lang="en-US" sz="1400" b="1" kern="1200"/>
            <a:t>assets – </a:t>
          </a:r>
          <a:r>
            <a:rPr lang="en-CA" sz="1400" b="1" kern="1200"/>
            <a:t>maintained, curated, managed, searchable, and reusable</a:t>
          </a:r>
          <a:r>
            <a:rPr lang="en-CA" sz="1400" kern="1200"/>
            <a:t>—avoiding duplication, increasing organizational learning, and minimizing risks from unauthorized changes</a:t>
          </a:r>
          <a:endParaRPr lang="en-US" sz="1400" kern="1200"/>
        </a:p>
      </dsp:txBody>
      <dsp:txXfrm>
        <a:off x="2088" y="3708469"/>
        <a:ext cx="3776215" cy="1549206"/>
      </dsp:txXfrm>
    </dsp:sp>
    <dsp:sp modelId="{AA2CC52D-1193-4C18-9AC8-A96B4E4B536E}">
      <dsp:nvSpPr>
        <dsp:cNvPr id="0" name=""/>
        <dsp:cNvSpPr/>
      </dsp:nvSpPr>
      <dsp:spPr>
        <a:xfrm>
          <a:off x="4036505" y="3708469"/>
          <a:ext cx="3409467" cy="1549206"/>
        </a:xfrm>
        <a:prstGeom prst="rect">
          <a:avLst/>
        </a:prstGeom>
        <a:gradFill rotWithShape="0">
          <a:gsLst>
            <a:gs pos="0">
              <a:schemeClr val="accent1">
                <a:alpha val="90000"/>
                <a:hueOff val="0"/>
                <a:satOff val="0"/>
                <a:lumOff val="0"/>
                <a:alphaOff val="-35000"/>
                <a:tint val="50000"/>
                <a:satMod val="300000"/>
              </a:schemeClr>
            </a:gs>
            <a:gs pos="35000">
              <a:schemeClr val="accent1">
                <a:alpha val="90000"/>
                <a:hueOff val="0"/>
                <a:satOff val="0"/>
                <a:lumOff val="0"/>
                <a:alphaOff val="-35000"/>
                <a:tint val="37000"/>
                <a:satMod val="300000"/>
              </a:schemeClr>
            </a:gs>
            <a:gs pos="100000">
              <a:schemeClr val="accent1">
                <a:alpha val="90000"/>
                <a:hueOff val="0"/>
                <a:satOff val="0"/>
                <a:lumOff val="0"/>
                <a:alphaOff val="-3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Digital assets created by business developers are </a:t>
          </a:r>
          <a:r>
            <a:rPr lang="en-CA" sz="1400" b="1" kern="1200"/>
            <a:t>owned and maintained by the business developers</a:t>
          </a:r>
          <a:endParaRPr lang="en-US" sz="1400" b="1" kern="1200"/>
        </a:p>
      </dsp:txBody>
      <dsp:txXfrm>
        <a:off x="4036505" y="3708469"/>
        <a:ext cx="3409467" cy="1549206"/>
      </dsp:txXfrm>
    </dsp:sp>
    <dsp:sp modelId="{20D5D5A0-E438-4DEB-A867-F108C8F731A5}">
      <dsp:nvSpPr>
        <dsp:cNvPr id="0" name=""/>
        <dsp:cNvSpPr/>
      </dsp:nvSpPr>
      <dsp:spPr>
        <a:xfrm>
          <a:off x="7704174" y="3708469"/>
          <a:ext cx="3580731" cy="1549206"/>
        </a:xfrm>
        <a:prstGeom prst="rect">
          <a:avLst/>
        </a:prstGeom>
        <a:gradFill rotWithShape="0">
          <a:gsLst>
            <a:gs pos="0">
              <a:schemeClr val="accent1">
                <a:alpha val="90000"/>
                <a:hueOff val="0"/>
                <a:satOff val="0"/>
                <a:lumOff val="0"/>
                <a:alphaOff val="-40000"/>
                <a:tint val="50000"/>
                <a:satMod val="300000"/>
              </a:schemeClr>
            </a:gs>
            <a:gs pos="35000">
              <a:schemeClr val="accent1">
                <a:alpha val="90000"/>
                <a:hueOff val="0"/>
                <a:satOff val="0"/>
                <a:lumOff val="0"/>
                <a:alphaOff val="-40000"/>
                <a:tint val="37000"/>
                <a:satMod val="300000"/>
              </a:schemeClr>
            </a:gs>
            <a:gs pos="100000">
              <a:schemeClr val="accent1">
                <a:alpha val="90000"/>
                <a:hueOff val="0"/>
                <a:satOff val="0"/>
                <a:lumOff val="0"/>
                <a:alphaOff val="-4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Business developers are </a:t>
          </a:r>
          <a:r>
            <a:rPr lang="en-CA" sz="1400" b="1" kern="1200"/>
            <a:t>supported through training and onboarding </a:t>
          </a:r>
          <a:r>
            <a:rPr lang="en-CA" sz="1400" kern="1200"/>
            <a:t>to maximize use of available tools and to use business development processes efficiently, while complying with required guardrails</a:t>
          </a:r>
          <a:endParaRPr lang="en-US" sz="1400" kern="1200"/>
        </a:p>
      </dsp:txBody>
      <dsp:txXfrm>
        <a:off x="7704174" y="3708469"/>
        <a:ext cx="3580731" cy="1549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5CBBC-EF6E-41FE-A45B-5D6AAD30558F}">
      <dsp:nvSpPr>
        <dsp:cNvPr id="0" name=""/>
        <dsp:cNvSpPr/>
      </dsp:nvSpPr>
      <dsp:spPr>
        <a:xfrm>
          <a:off x="1623" y="661329"/>
          <a:ext cx="1322319" cy="2304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Specify Needs</a:t>
          </a:r>
          <a:endParaRPr lang="en-CA" sz="800" kern="1200"/>
        </a:p>
      </dsp:txBody>
      <dsp:txXfrm>
        <a:off x="1623" y="661329"/>
        <a:ext cx="1322319" cy="230400"/>
      </dsp:txXfrm>
    </dsp:sp>
    <dsp:sp modelId="{565B26BF-AFEF-4F44-B0AD-FF4EC6E16E94}">
      <dsp:nvSpPr>
        <dsp:cNvPr id="0" name=""/>
        <dsp:cNvSpPr/>
      </dsp:nvSpPr>
      <dsp:spPr>
        <a:xfrm>
          <a:off x="1623" y="891729"/>
          <a:ext cx="1322319" cy="439054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kern="1200"/>
            <a:t>An AI chatbot on the agency’s website can gather real-time feedback from stakeholders about their statistical needs, fostering continuous engagement.</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Gen-AI can analyze feedback from stakeholders, summarize common themes or concerns, and identify data gaps within the agency.</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tools can assist in translating code between programming languages (e.g., SAS to Python), enhancing efficiency.</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1.2:</a:t>
          </a:r>
          <a:r>
            <a:rPr lang="en-CA" sz="800" kern="1200"/>
            <a:t> AI can assess the relevance of identified needs using text generation, clarify the purpose, and detect information gaps through web scraping and analysis.</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1.5. </a:t>
          </a:r>
          <a:r>
            <a:rPr lang="en-CA" sz="800" kern="1200"/>
            <a:t>AI can find innovative data sources to improve relevance and reduce response burden.</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1.6:</a:t>
          </a:r>
          <a:r>
            <a:rPr lang="en-CA" sz="800" kern="1200"/>
            <a:t> Generative AI can “critically” evaluate and improve business cases.</a:t>
          </a:r>
        </a:p>
      </dsp:txBody>
      <dsp:txXfrm>
        <a:off x="1623" y="891729"/>
        <a:ext cx="1322319" cy="4390541"/>
      </dsp:txXfrm>
    </dsp:sp>
    <dsp:sp modelId="{075A4455-B8A1-464F-A1C2-71FB9C3D7EC6}">
      <dsp:nvSpPr>
        <dsp:cNvPr id="0" name=""/>
        <dsp:cNvSpPr/>
      </dsp:nvSpPr>
      <dsp:spPr>
        <a:xfrm>
          <a:off x="1509067" y="661329"/>
          <a:ext cx="1322319" cy="230400"/>
        </a:xfrm>
        <a:prstGeom prst="rect">
          <a:avLst/>
        </a:prstGeom>
        <a:solidFill>
          <a:schemeClr val="accent2">
            <a:hueOff val="668788"/>
            <a:satOff val="-834"/>
            <a:lumOff val="196"/>
            <a:alphaOff val="0"/>
          </a:schemeClr>
        </a:solidFill>
        <a:ln w="25400" cap="flat" cmpd="sng" algn="ctr">
          <a:solidFill>
            <a:schemeClr val="accent2">
              <a:hueOff val="668788"/>
              <a:satOff val="-834"/>
              <a:lumOff val="19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Design</a:t>
          </a:r>
          <a:endParaRPr lang="en-CA" sz="800" kern="1200"/>
        </a:p>
      </dsp:txBody>
      <dsp:txXfrm>
        <a:off x="1509067" y="661329"/>
        <a:ext cx="1322319" cy="230400"/>
      </dsp:txXfrm>
    </dsp:sp>
    <dsp:sp modelId="{C5A468D1-97AF-4449-9D86-3F2AF2920579}">
      <dsp:nvSpPr>
        <dsp:cNvPr id="0" name=""/>
        <dsp:cNvSpPr/>
      </dsp:nvSpPr>
      <dsp:spPr>
        <a:xfrm>
          <a:off x="1509067" y="891729"/>
          <a:ext cx="1322319" cy="4390541"/>
        </a:xfrm>
        <a:prstGeom prst="rect">
          <a:avLst/>
        </a:prstGeom>
        <a:solidFill>
          <a:schemeClr val="accent2">
            <a:tint val="40000"/>
            <a:alpha val="90000"/>
            <a:hueOff val="717974"/>
            <a:satOff val="-625"/>
            <a:lumOff val="-1"/>
            <a:alphaOff val="0"/>
          </a:schemeClr>
        </a:solidFill>
        <a:ln w="25400" cap="flat" cmpd="sng" algn="ctr">
          <a:solidFill>
            <a:schemeClr val="accent2">
              <a:tint val="40000"/>
              <a:alpha val="90000"/>
              <a:hueOff val="717974"/>
              <a:satOff val="-625"/>
              <a:lumOff val="-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2.2 (Designing variable descriptions):</a:t>
          </a:r>
          <a:r>
            <a:rPr lang="en-CA" sz="800" kern="1200"/>
            <a:t> LLMs can assist in generating and refining descriptions for statistical variables.</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2.3 (Design collection):</a:t>
          </a:r>
          <a:r>
            <a:rPr lang="en-CA" sz="800" kern="1200"/>
            <a:t> LLMs can enhance the design of surveys and questionnaires by suggesting questions, formats, and phrasing that are more likely to produce accurate responses and increase response rate (by tailoring motivation techniques and ad hoc capability to provide </a:t>
          </a:r>
          <a:r>
            <a:rPr lang="en-CA" sz="800" b="1" kern="1200"/>
            <a:t>translations</a:t>
          </a:r>
          <a:r>
            <a:rPr lang="en-CA" sz="800" kern="1200"/>
            <a:t> and script suggestions for presenting the survey (e.g., using video, text, or audio formats).</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LLMs can translate questionnaires and detect potential issues with specific questions.</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can support code generation, particularly in the automation of statistical programming (generate, debug and translate code).</a:t>
          </a:r>
        </a:p>
      </dsp:txBody>
      <dsp:txXfrm>
        <a:off x="1509067" y="891729"/>
        <a:ext cx="1322319" cy="4390541"/>
      </dsp:txXfrm>
    </dsp:sp>
    <dsp:sp modelId="{5712ECB8-160B-413E-BFBB-AAA53B852CF8}">
      <dsp:nvSpPr>
        <dsp:cNvPr id="0" name=""/>
        <dsp:cNvSpPr/>
      </dsp:nvSpPr>
      <dsp:spPr>
        <a:xfrm>
          <a:off x="3016511" y="661329"/>
          <a:ext cx="1322319" cy="230400"/>
        </a:xfrm>
        <a:prstGeom prst="rect">
          <a:avLst/>
        </a:prstGeom>
        <a:solidFill>
          <a:schemeClr val="accent2">
            <a:hueOff val="1337577"/>
            <a:satOff val="-1668"/>
            <a:lumOff val="392"/>
            <a:alphaOff val="0"/>
          </a:schemeClr>
        </a:solidFill>
        <a:ln w="25400" cap="flat" cmpd="sng" algn="ctr">
          <a:solidFill>
            <a:schemeClr val="accent2">
              <a:hueOff val="1337577"/>
              <a:satOff val="-1668"/>
              <a:lumOff val="39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Build</a:t>
          </a:r>
          <a:endParaRPr lang="en-CA" sz="800" kern="1200"/>
        </a:p>
      </dsp:txBody>
      <dsp:txXfrm>
        <a:off x="3016511" y="661329"/>
        <a:ext cx="1322319" cy="230400"/>
      </dsp:txXfrm>
    </dsp:sp>
    <dsp:sp modelId="{1446AE6D-49D9-49E0-813D-C1FE7DD39CC1}">
      <dsp:nvSpPr>
        <dsp:cNvPr id="0" name=""/>
        <dsp:cNvSpPr/>
      </dsp:nvSpPr>
      <dsp:spPr>
        <a:xfrm>
          <a:off x="3016511" y="891729"/>
          <a:ext cx="1322319" cy="4390541"/>
        </a:xfrm>
        <a:prstGeom prst="rect">
          <a:avLst/>
        </a:prstGeom>
        <a:solidFill>
          <a:schemeClr val="accent2">
            <a:tint val="40000"/>
            <a:alpha val="90000"/>
            <a:hueOff val="1435949"/>
            <a:satOff val="-1251"/>
            <a:lumOff val="-2"/>
            <a:alphaOff val="0"/>
          </a:schemeClr>
        </a:solidFill>
        <a:ln w="25400" cap="flat" cmpd="sng" algn="ctr">
          <a:solidFill>
            <a:schemeClr val="accent2">
              <a:tint val="40000"/>
              <a:alpha val="90000"/>
              <a:hueOff val="1435949"/>
              <a:satOff val="-1251"/>
              <a:lumOff val="-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kern="1200"/>
            <a:t>LLMs can assist in building, debugging, and translating existing code.</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could assist in tailoring survey instruments based on respondent behaviour. In online surveys, AI could adapt the sequence or phrasing of questions in real-time based on respondent’s previous answers. </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can simulate entire statistical processes, identifying inefficiencies or areas for improvement.</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Generation of synthetic data</a:t>
          </a:r>
          <a:r>
            <a:rPr lang="en-CA" sz="800" kern="1200"/>
            <a:t>: Privacy and data use are critical when testing statistical methodologies. LLMs can generate synthetic data, allowing statistical methodologies to be tested without real-world data in test environments.</a:t>
          </a:r>
        </a:p>
      </dsp:txBody>
      <dsp:txXfrm>
        <a:off x="3016511" y="891729"/>
        <a:ext cx="1322319" cy="4390541"/>
      </dsp:txXfrm>
    </dsp:sp>
    <dsp:sp modelId="{74AC0208-7A6D-4791-8715-3AE4EC7FE5A5}">
      <dsp:nvSpPr>
        <dsp:cNvPr id="0" name=""/>
        <dsp:cNvSpPr/>
      </dsp:nvSpPr>
      <dsp:spPr>
        <a:xfrm>
          <a:off x="4523955" y="661329"/>
          <a:ext cx="1322319" cy="230400"/>
        </a:xfrm>
        <a:prstGeom prst="rect">
          <a:avLst/>
        </a:prstGeom>
        <a:solidFill>
          <a:schemeClr val="accent2">
            <a:hueOff val="2006365"/>
            <a:satOff val="-2502"/>
            <a:lumOff val="588"/>
            <a:alphaOff val="0"/>
          </a:schemeClr>
        </a:solidFill>
        <a:ln w="25400" cap="flat" cmpd="sng" algn="ctr">
          <a:solidFill>
            <a:schemeClr val="accent2">
              <a:hueOff val="2006365"/>
              <a:satOff val="-2502"/>
              <a:lumOff val="58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Collect</a:t>
          </a:r>
          <a:endParaRPr lang="en-CA" sz="800" kern="1200"/>
        </a:p>
      </dsp:txBody>
      <dsp:txXfrm>
        <a:off x="4523955" y="661329"/>
        <a:ext cx="1322319" cy="230400"/>
      </dsp:txXfrm>
    </dsp:sp>
    <dsp:sp modelId="{C4CA4708-EE5D-4FAD-8318-17378CC681F3}">
      <dsp:nvSpPr>
        <dsp:cNvPr id="0" name=""/>
        <dsp:cNvSpPr/>
      </dsp:nvSpPr>
      <dsp:spPr>
        <a:xfrm>
          <a:off x="4523955" y="891729"/>
          <a:ext cx="1322319" cy="4390541"/>
        </a:xfrm>
        <a:prstGeom prst="rect">
          <a:avLst/>
        </a:prstGeom>
        <a:solidFill>
          <a:schemeClr val="accent2">
            <a:tint val="40000"/>
            <a:alpha val="90000"/>
            <a:hueOff val="2153923"/>
            <a:satOff val="-1876"/>
            <a:lumOff val="-3"/>
            <a:alphaOff val="0"/>
          </a:schemeClr>
        </a:solidFill>
        <a:ln w="25400" cap="flat" cmpd="sng" algn="ctr">
          <a:solidFill>
            <a:schemeClr val="accent2">
              <a:tint val="40000"/>
              <a:alpha val="90000"/>
              <a:hueOff val="2153923"/>
              <a:satOff val="-1876"/>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4.1 (Create frame and select sample):</a:t>
          </a:r>
          <a:r>
            <a:rPr lang="en-CA" sz="800" kern="1200"/>
            <a:t> LLMs can support record linkage to create a more accurate sampling frame.</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4.2 (Set up collection):</a:t>
          </a:r>
          <a:r>
            <a:rPr lang="en-CA" sz="800" kern="1200"/>
            <a:t> Generative AI can propose final edits for collection instruments, optimizing them for accuracy.</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can extract text and data from scanned documents, receipts, or PDFs to create analytical datasets.</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Computer vision techniques can analyze image data and extract relevant information to build comprehensive databases.</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4.3 (Set up collection): </a:t>
          </a:r>
          <a:r>
            <a:rPr lang="en-CA" sz="800" kern="1200"/>
            <a:t>Data collection is assisted by optimizing contact touch points / contact attempts, </a:t>
          </a:r>
          <a:r>
            <a:rPr lang="en-CA" sz="800" b="1" kern="1200"/>
            <a:t>ad hoc translations</a:t>
          </a:r>
          <a:r>
            <a:rPr lang="en-CA" sz="800" kern="1200"/>
            <a:t>, complementary checks.</a:t>
          </a:r>
        </a:p>
      </dsp:txBody>
      <dsp:txXfrm>
        <a:off x="4523955" y="891729"/>
        <a:ext cx="1322319" cy="4390541"/>
      </dsp:txXfrm>
    </dsp:sp>
    <dsp:sp modelId="{2F144BA7-55BB-4CD8-BB8E-CBAE0339FCDF}">
      <dsp:nvSpPr>
        <dsp:cNvPr id="0" name=""/>
        <dsp:cNvSpPr/>
      </dsp:nvSpPr>
      <dsp:spPr>
        <a:xfrm>
          <a:off x="6031399" y="661329"/>
          <a:ext cx="1322319" cy="230400"/>
        </a:xfrm>
        <a:prstGeom prst="rect">
          <a:avLst/>
        </a:prstGeom>
        <a:solidFill>
          <a:schemeClr val="accent2">
            <a:hueOff val="2675154"/>
            <a:satOff val="-3337"/>
            <a:lumOff val="785"/>
            <a:alphaOff val="0"/>
          </a:schemeClr>
        </a:solidFill>
        <a:ln w="25400" cap="flat" cmpd="sng" algn="ctr">
          <a:solidFill>
            <a:schemeClr val="accent2">
              <a:hueOff val="2675154"/>
              <a:satOff val="-3337"/>
              <a:lumOff val="78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Process</a:t>
          </a:r>
          <a:endParaRPr lang="en-CA" sz="800" kern="1200"/>
        </a:p>
      </dsp:txBody>
      <dsp:txXfrm>
        <a:off x="6031399" y="661329"/>
        <a:ext cx="1322319" cy="230400"/>
      </dsp:txXfrm>
    </dsp:sp>
    <dsp:sp modelId="{CF7F9ADB-B455-41CE-85F1-A2E8CC3B883C}">
      <dsp:nvSpPr>
        <dsp:cNvPr id="0" name=""/>
        <dsp:cNvSpPr/>
      </dsp:nvSpPr>
      <dsp:spPr>
        <a:xfrm>
          <a:off x="6031399" y="891729"/>
          <a:ext cx="1322319" cy="4390541"/>
        </a:xfrm>
        <a:prstGeom prst="rect">
          <a:avLst/>
        </a:prstGeom>
        <a:solidFill>
          <a:schemeClr val="accent2">
            <a:tint val="40000"/>
            <a:alpha val="90000"/>
            <a:hueOff val="2871898"/>
            <a:satOff val="-2502"/>
            <a:lumOff val="-3"/>
            <a:alphaOff val="0"/>
          </a:schemeClr>
        </a:solidFill>
        <a:ln w="25400" cap="flat" cmpd="sng" algn="ctr">
          <a:solidFill>
            <a:schemeClr val="accent2">
              <a:tint val="40000"/>
              <a:alpha val="90000"/>
              <a:hueOff val="2871898"/>
              <a:satOff val="-2502"/>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5.1 </a:t>
          </a:r>
          <a:r>
            <a:rPr lang="en-CA" sz="800" kern="1200"/>
            <a:t>LLMs can automate record linkage across multiple datasets, reducing manual errors and ensuring a comprehensive, accurate integrated dataset for analysis.</a:t>
          </a:r>
        </a:p>
        <a:p>
          <a:pPr marL="57150" lvl="1" indent="-57150" algn="l" defTabSz="355600">
            <a:lnSpc>
              <a:spcPct val="90000"/>
            </a:lnSpc>
            <a:spcBef>
              <a:spcPct val="0"/>
            </a:spcBef>
            <a:spcAft>
              <a:spcPct val="15000"/>
            </a:spcAft>
            <a:buChar char="•"/>
          </a:pPr>
          <a:r>
            <a:rPr lang="en-CA" sz="800" b="1" kern="1200"/>
            <a:t>GSBPM 5.2 </a:t>
          </a:r>
          <a:r>
            <a:rPr lang="en-CA" sz="800" kern="1200"/>
            <a:t>LLMs can be employed to </a:t>
          </a:r>
          <a:r>
            <a:rPr lang="en-CA" sz="800" b="0" kern="1200"/>
            <a:t>classify industry and occupation codes (e.g</a:t>
          </a:r>
          <a:r>
            <a:rPr lang="en-CA" sz="800" kern="1200"/>
            <a:t>., NAICS and NOC codes) based on text descriptions.</a:t>
          </a:r>
        </a:p>
        <a:p>
          <a:pPr marL="57150" lvl="1" indent="-57150" algn="l" defTabSz="355600">
            <a:lnSpc>
              <a:spcPct val="90000"/>
            </a:lnSpc>
            <a:spcBef>
              <a:spcPct val="0"/>
            </a:spcBef>
            <a:spcAft>
              <a:spcPct val="15000"/>
            </a:spcAft>
            <a:buChar char="•"/>
          </a:pPr>
          <a:r>
            <a:rPr lang="en-CA" sz="800" b="1" kern="1200"/>
            <a:t>GSBPM 5.3 </a:t>
          </a:r>
          <a:r>
            <a:rPr lang="en-CA" sz="800" kern="1200"/>
            <a:t>LLMs streamline data validation by identifying inconsistencies, missing values, and errors. They flag outliers or unusual patterns for human review, reducing manual validation time.</a:t>
          </a:r>
        </a:p>
        <a:p>
          <a:pPr marL="57150" lvl="1" indent="-57150" algn="l" defTabSz="355600">
            <a:lnSpc>
              <a:spcPct val="90000"/>
            </a:lnSpc>
            <a:spcBef>
              <a:spcPct val="0"/>
            </a:spcBef>
            <a:spcAft>
              <a:spcPct val="15000"/>
            </a:spcAft>
            <a:buChar char="•"/>
          </a:pPr>
          <a:r>
            <a:rPr lang="en-CA" sz="800" b="1" kern="1200"/>
            <a:t>GSBPM</a:t>
          </a:r>
          <a:r>
            <a:rPr lang="en-CA" sz="800" kern="1200"/>
            <a:t>: LLMs and ML models assist in imputation, suggesting replacements for missing or incorrect values.</a:t>
          </a:r>
        </a:p>
        <a:p>
          <a:pPr marL="57150" lvl="1" indent="-57150" algn="l" defTabSz="355600">
            <a:lnSpc>
              <a:spcPct val="90000"/>
            </a:lnSpc>
            <a:spcBef>
              <a:spcPct val="0"/>
            </a:spcBef>
            <a:spcAft>
              <a:spcPct val="15000"/>
            </a:spcAft>
            <a:buChar char="•"/>
          </a:pPr>
          <a:r>
            <a:rPr lang="en-CA" sz="800" b="1" kern="1200"/>
            <a:t>Predictive Analytics</a:t>
          </a:r>
          <a:r>
            <a:rPr lang="en-CA" sz="800" kern="1200"/>
            <a:t>: LLMs aid predictive analytics by analyzing historical data to forecast trends, highlight risks, and support data-driven decisions, enriching statistical outputs.</a:t>
          </a:r>
        </a:p>
      </dsp:txBody>
      <dsp:txXfrm>
        <a:off x="6031399" y="891729"/>
        <a:ext cx="1322319" cy="4390541"/>
      </dsp:txXfrm>
    </dsp:sp>
    <dsp:sp modelId="{79E067F4-D801-437D-B3F9-1512435F2AAB}">
      <dsp:nvSpPr>
        <dsp:cNvPr id="0" name=""/>
        <dsp:cNvSpPr/>
      </dsp:nvSpPr>
      <dsp:spPr>
        <a:xfrm>
          <a:off x="7538843" y="661329"/>
          <a:ext cx="1322319" cy="230400"/>
        </a:xfrm>
        <a:prstGeom prst="rect">
          <a:avLst/>
        </a:prstGeom>
        <a:solidFill>
          <a:schemeClr val="accent2">
            <a:hueOff val="3343942"/>
            <a:satOff val="-4171"/>
            <a:lumOff val="981"/>
            <a:alphaOff val="0"/>
          </a:schemeClr>
        </a:solidFill>
        <a:ln w="25400" cap="flat" cmpd="sng" algn="ctr">
          <a:solidFill>
            <a:schemeClr val="accent2">
              <a:hueOff val="3343942"/>
              <a:satOff val="-4171"/>
              <a:lumOff val="98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Analyze</a:t>
          </a:r>
          <a:endParaRPr lang="en-CA" sz="800" kern="1200"/>
        </a:p>
      </dsp:txBody>
      <dsp:txXfrm>
        <a:off x="7538843" y="661329"/>
        <a:ext cx="1322319" cy="230400"/>
      </dsp:txXfrm>
    </dsp:sp>
    <dsp:sp modelId="{553FF351-85D2-4E3A-BE5F-F35DD3016587}">
      <dsp:nvSpPr>
        <dsp:cNvPr id="0" name=""/>
        <dsp:cNvSpPr/>
      </dsp:nvSpPr>
      <dsp:spPr>
        <a:xfrm>
          <a:off x="7538843" y="891729"/>
          <a:ext cx="1322319" cy="4390541"/>
        </a:xfrm>
        <a:prstGeom prst="rect">
          <a:avLst/>
        </a:prstGeom>
        <a:solidFill>
          <a:schemeClr val="accent2">
            <a:tint val="40000"/>
            <a:alpha val="90000"/>
            <a:hueOff val="3589872"/>
            <a:satOff val="-3127"/>
            <a:lumOff val="-4"/>
            <a:alphaOff val="0"/>
          </a:schemeClr>
        </a:solidFill>
        <a:ln w="25400" cap="flat" cmpd="sng" algn="ctr">
          <a:solidFill>
            <a:schemeClr val="accent2">
              <a:tint val="40000"/>
              <a:alpha val="90000"/>
              <a:hueOff val="3589872"/>
              <a:satOff val="-3127"/>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6.1 (Prepare Draft Outputs)</a:t>
          </a:r>
          <a:r>
            <a:rPr lang="en-CA" sz="800" kern="1200"/>
            <a:t>: LLMs streamline report generation by automating draft outputs (e.g., summaries, tables, charts), allowing analysts to focus on interpretation.</a:t>
          </a:r>
        </a:p>
        <a:p>
          <a:pPr marL="57150" lvl="1" indent="-57150" algn="l" defTabSz="355600">
            <a:lnSpc>
              <a:spcPct val="90000"/>
            </a:lnSpc>
            <a:spcBef>
              <a:spcPct val="0"/>
            </a:spcBef>
            <a:spcAft>
              <a:spcPct val="15000"/>
            </a:spcAft>
            <a:buChar char="•"/>
          </a:pPr>
          <a:r>
            <a:rPr lang="en-CA" sz="800" b="1" kern="1200"/>
            <a:t>GSBPM 6.2 </a:t>
          </a:r>
          <a:r>
            <a:rPr lang="en-CA" sz="800" kern="1200"/>
            <a:t>Generative AI can help detect anomalies and outliers in data/outputs.</a:t>
          </a:r>
        </a:p>
        <a:p>
          <a:pPr marL="57150" lvl="1" indent="-57150" algn="l" defTabSz="355600">
            <a:lnSpc>
              <a:spcPct val="90000"/>
            </a:lnSpc>
            <a:spcBef>
              <a:spcPct val="0"/>
            </a:spcBef>
            <a:spcAft>
              <a:spcPct val="15000"/>
            </a:spcAft>
            <a:buChar char="•"/>
          </a:pPr>
          <a:r>
            <a:rPr lang="en-CA" sz="800" b="1" kern="1200"/>
            <a:t>GSBPM 6.3)</a:t>
          </a:r>
          <a:r>
            <a:rPr lang="en-CA" sz="800" kern="1200"/>
            <a:t>: LLMs offer insights and suggest explanations for complex statistical results, aiding human experts in making data accessible to non-technical audiences. They also provide visualizations and narrative explanations for better data interpretation.</a:t>
          </a:r>
        </a:p>
        <a:p>
          <a:pPr marL="57150" lvl="1" indent="-57150" algn="l" defTabSz="355600">
            <a:lnSpc>
              <a:spcPct val="90000"/>
            </a:lnSpc>
            <a:spcBef>
              <a:spcPct val="0"/>
            </a:spcBef>
            <a:spcAft>
              <a:spcPct val="15000"/>
            </a:spcAft>
            <a:buChar char="•"/>
          </a:pPr>
          <a:r>
            <a:rPr lang="en-CA" sz="800" b="1" kern="1200"/>
            <a:t>GSBPM 6.4 </a:t>
          </a:r>
          <a:r>
            <a:rPr lang="en-CA" sz="800" kern="1200"/>
            <a:t>: Privacy-enhancing AI tools can automatically apply disclosure control, ensuring sensitive data protection before external sharing.</a:t>
          </a:r>
        </a:p>
        <a:p>
          <a:pPr marL="57150" lvl="1" indent="-57150" algn="l" defTabSz="355600">
            <a:lnSpc>
              <a:spcPct val="90000"/>
            </a:lnSpc>
            <a:spcBef>
              <a:spcPct val="0"/>
            </a:spcBef>
            <a:spcAft>
              <a:spcPct val="15000"/>
            </a:spcAft>
            <a:buChar char="•"/>
          </a:pPr>
          <a:r>
            <a:rPr lang="en-CA" sz="800" b="1" kern="1200"/>
            <a:t>Predictive Analytics</a:t>
          </a:r>
          <a:r>
            <a:rPr lang="en-CA" sz="800" kern="1200"/>
            <a:t>: LLMs and ML/AI models support predictive analytics by forecasting trends from historical data.</a:t>
          </a:r>
        </a:p>
      </dsp:txBody>
      <dsp:txXfrm>
        <a:off x="7538843" y="891729"/>
        <a:ext cx="1322319" cy="4390541"/>
      </dsp:txXfrm>
    </dsp:sp>
    <dsp:sp modelId="{006CF390-312E-4A58-909F-24978E063C1C}">
      <dsp:nvSpPr>
        <dsp:cNvPr id="0" name=""/>
        <dsp:cNvSpPr/>
      </dsp:nvSpPr>
      <dsp:spPr>
        <a:xfrm>
          <a:off x="9046287" y="661329"/>
          <a:ext cx="1322319" cy="230400"/>
        </a:xfrm>
        <a:prstGeom prst="rect">
          <a:avLst/>
        </a:prstGeom>
        <a:solidFill>
          <a:schemeClr val="accent2">
            <a:hueOff val="4012731"/>
            <a:satOff val="-5005"/>
            <a:lumOff val="1177"/>
            <a:alphaOff val="0"/>
          </a:schemeClr>
        </a:solidFill>
        <a:ln w="25400" cap="flat" cmpd="sng" algn="ctr">
          <a:solidFill>
            <a:schemeClr val="accent2">
              <a:hueOff val="4012731"/>
              <a:satOff val="-5005"/>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Disseminate</a:t>
          </a:r>
          <a:endParaRPr lang="en-CA" sz="800" kern="1200"/>
        </a:p>
      </dsp:txBody>
      <dsp:txXfrm>
        <a:off x="9046287" y="661329"/>
        <a:ext cx="1322319" cy="230400"/>
      </dsp:txXfrm>
    </dsp:sp>
    <dsp:sp modelId="{D9CC4CD5-F324-48B7-8525-F787679CDD83}">
      <dsp:nvSpPr>
        <dsp:cNvPr id="0" name=""/>
        <dsp:cNvSpPr/>
      </dsp:nvSpPr>
      <dsp:spPr>
        <a:xfrm>
          <a:off x="9046287" y="891729"/>
          <a:ext cx="1322319" cy="4390541"/>
        </a:xfrm>
        <a:prstGeom prst="rect">
          <a:avLst/>
        </a:prstGeom>
        <a:solidFill>
          <a:schemeClr val="accent2">
            <a:tint val="40000"/>
            <a:alpha val="90000"/>
            <a:hueOff val="4307846"/>
            <a:satOff val="-3753"/>
            <a:lumOff val="-5"/>
            <a:alphaOff val="0"/>
          </a:schemeClr>
        </a:solidFill>
        <a:ln w="25400" cap="flat" cmpd="sng" algn="ctr">
          <a:solidFill>
            <a:schemeClr val="accent2">
              <a:tint val="40000"/>
              <a:alpha val="90000"/>
              <a:hueOff val="4307846"/>
              <a:satOff val="-3753"/>
              <a:lumOff val="-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7.2 (Produce Dissemination Products)</a:t>
          </a:r>
          <a:r>
            <a:rPr lang="en-CA" sz="800" kern="1200"/>
            <a:t>: LLMs automate the creation of dissemination products, generating draft reports, summaries, or narratives from data tables, which analysts can refine for specific audiences. AI also assists with automated charts and visual representations of data.</a:t>
          </a:r>
        </a:p>
        <a:p>
          <a:pPr marL="57150" lvl="1" indent="-57150" algn="l" defTabSz="355600">
            <a:lnSpc>
              <a:spcPct val="90000"/>
            </a:lnSpc>
            <a:spcBef>
              <a:spcPct val="0"/>
            </a:spcBef>
            <a:spcAft>
              <a:spcPct val="15000"/>
            </a:spcAft>
            <a:buChar char="•"/>
          </a:pPr>
          <a:r>
            <a:rPr lang="en-CA" sz="800" b="1" kern="1200"/>
            <a:t>GSBPM 7.4 (Promote Dissemination Products)</a:t>
          </a:r>
          <a:r>
            <a:rPr lang="en-CA" sz="800" kern="1200"/>
            <a:t>: AI can suggest messaging formats and strategies for various stakeholders, customizing content for platforms like social media, newsletters, and websites to enhance communication effectiveness.</a:t>
          </a:r>
        </a:p>
        <a:p>
          <a:pPr marL="57150" lvl="1" indent="-57150" algn="l" defTabSz="355600">
            <a:lnSpc>
              <a:spcPct val="90000"/>
            </a:lnSpc>
            <a:spcBef>
              <a:spcPct val="0"/>
            </a:spcBef>
            <a:spcAft>
              <a:spcPct val="15000"/>
            </a:spcAft>
            <a:buChar char="•"/>
          </a:pPr>
          <a:r>
            <a:rPr lang="en-CA" sz="800" b="1" kern="1200"/>
            <a:t>GSBPM 7.5 (Manage User Support)</a:t>
          </a:r>
          <a:r>
            <a:rPr lang="en-CA" sz="800" kern="1200"/>
            <a:t>: AI tools like chatbots offer real-time support, helping users navigate datasets, interpret data, and find publications, improving engagement and easing human support workload.</a:t>
          </a:r>
        </a:p>
        <a:p>
          <a:pPr marL="57150" lvl="1" indent="-57150" algn="l" defTabSz="355600">
            <a:lnSpc>
              <a:spcPct val="90000"/>
            </a:lnSpc>
            <a:spcBef>
              <a:spcPct val="0"/>
            </a:spcBef>
            <a:spcAft>
              <a:spcPct val="15000"/>
            </a:spcAft>
            <a:buFont typeface="Symbol" panose="05050102010706020507" pitchFamily="18" charset="2"/>
            <a:buChar char=""/>
          </a:pPr>
          <a:endParaRPr lang="en-CA" sz="800" kern="1200"/>
        </a:p>
      </dsp:txBody>
      <dsp:txXfrm>
        <a:off x="9046287" y="891729"/>
        <a:ext cx="1322319" cy="4390541"/>
      </dsp:txXfrm>
    </dsp:sp>
    <dsp:sp modelId="{FDFFC00E-A769-4D39-A38C-0A179647644D}">
      <dsp:nvSpPr>
        <dsp:cNvPr id="0" name=""/>
        <dsp:cNvSpPr/>
      </dsp:nvSpPr>
      <dsp:spPr>
        <a:xfrm>
          <a:off x="10553731" y="661329"/>
          <a:ext cx="1322319" cy="2304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Evaluate</a:t>
          </a:r>
          <a:endParaRPr lang="en-CA" sz="800" kern="1200"/>
        </a:p>
      </dsp:txBody>
      <dsp:txXfrm>
        <a:off x="10553731" y="661329"/>
        <a:ext cx="1322319" cy="230400"/>
      </dsp:txXfrm>
    </dsp:sp>
    <dsp:sp modelId="{C1D798DB-7031-42D1-A568-6F1F0D86EE2D}">
      <dsp:nvSpPr>
        <dsp:cNvPr id="0" name=""/>
        <dsp:cNvSpPr/>
      </dsp:nvSpPr>
      <dsp:spPr>
        <a:xfrm>
          <a:off x="10553731" y="891729"/>
          <a:ext cx="1322319" cy="4390541"/>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8.1 (Gather evaluation feedback),</a:t>
          </a:r>
          <a:r>
            <a:rPr lang="en-CA" sz="800" kern="1200"/>
            <a:t> LLMs can help collect and analyze both internal and external feedback from users, respondents, and stakeholders. </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8.2 (Conduct evaluation),</a:t>
          </a:r>
          <a:r>
            <a:rPr lang="en-CA" sz="800" kern="1200"/>
            <a:t> LLMs can assist in evaluating the overall performance of statistical processes by analyzing feedback data and suggesting potential improvements for the next iteration of a survey or process. By reviewing the performance of statistical models, collection instruments, and dissemination methods, LLMs can help assess what worked well and what needs to be refined. For instance, they can analyze patterns of errors or discrepancies, providing actionable insights that human evaluators can then further explore and implement in future stages.</a:t>
          </a:r>
        </a:p>
      </dsp:txBody>
      <dsp:txXfrm>
        <a:off x="10553731" y="891729"/>
        <a:ext cx="1322319" cy="439054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956050" y="0"/>
            <a:ext cx="3027363" cy="463550"/>
          </a:xfrm>
          <a:prstGeom prst="rect">
            <a:avLst/>
          </a:prstGeom>
        </p:spPr>
        <p:txBody>
          <a:bodyPr vert="horz" lIns="91440" tIns="45720" rIns="91440" bIns="45720" rtlCol="0"/>
          <a:lstStyle>
            <a:lvl1pPr algn="r">
              <a:defRPr sz="1200"/>
            </a:lvl1pPr>
          </a:lstStyle>
          <a:p>
            <a:fld id="{9F572847-D326-49C9-AF07-20397E2DC730}" type="datetimeFigureOut">
              <a:rPr lang="en-CA" smtClean="0"/>
              <a:t>2025-09-20</a:t>
            </a:fld>
            <a:endParaRPr lang="en-CA"/>
          </a:p>
        </p:txBody>
      </p:sp>
      <p:sp>
        <p:nvSpPr>
          <p:cNvPr id="4" name="Footer Placeholder 3"/>
          <p:cNvSpPr>
            <a:spLocks noGrp="1"/>
          </p:cNvSpPr>
          <p:nvPr>
            <p:ph type="ftr" sz="quarter" idx="2"/>
          </p:nvPr>
        </p:nvSpPr>
        <p:spPr>
          <a:xfrm>
            <a:off x="0" y="8818563"/>
            <a:ext cx="3027363" cy="46355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956050" y="8818563"/>
            <a:ext cx="3027363" cy="463550"/>
          </a:xfrm>
          <a:prstGeom prst="rect">
            <a:avLst/>
          </a:prstGeom>
        </p:spPr>
        <p:txBody>
          <a:bodyPr vert="horz" lIns="91440" tIns="45720" rIns="91440" bIns="45720" rtlCol="0" anchor="b"/>
          <a:lstStyle>
            <a:lvl1pPr algn="r">
              <a:defRPr sz="1200"/>
            </a:lvl1pPr>
          </a:lstStyle>
          <a:p>
            <a:fld id="{225C0BAE-9B52-45C1-BD86-6C934F457C76}" type="slidenum">
              <a:rPr lang="en-CA" smtClean="0"/>
              <a:t>‹#›</a:t>
            </a:fld>
            <a:endParaRPr lang="en-CA"/>
          </a:p>
        </p:txBody>
      </p:sp>
    </p:spTree>
    <p:extLst>
      <p:ext uri="{BB962C8B-B14F-4D97-AF65-F5344CB8AC3E}">
        <p14:creationId xmlns:p14="http://schemas.microsoft.com/office/powerpoint/2010/main" val="155014443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CA"/>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3F5B1DBA-E4F9-4F88-99A6-2D331653C8CB}" type="datetimeFigureOut">
              <a:rPr lang="en-CA" smtClean="0"/>
              <a:pPr/>
              <a:t>2025-09-20</a:t>
            </a:fld>
            <a:endParaRPr lang="en-CA"/>
          </a:p>
        </p:txBody>
      </p:sp>
      <p:sp>
        <p:nvSpPr>
          <p:cNvPr id="4" name="Slide Image Placeholder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2958" tIns="46479" rIns="92958" bIns="46479" rtlCol="0" anchor="ctr"/>
          <a:lstStyle/>
          <a:p>
            <a:endParaRPr lang="en-CA"/>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CA"/>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93CFECE1-5790-48AB-B8F5-5692F7900577}" type="slidenum">
              <a:rPr lang="en-CA" smtClean="0"/>
              <a:pPr/>
              <a:t>‹#›</a:t>
            </a:fld>
            <a:endParaRPr lang="en-CA"/>
          </a:p>
        </p:txBody>
      </p:sp>
    </p:spTree>
    <p:extLst>
      <p:ext uri="{BB962C8B-B14F-4D97-AF65-F5344CB8AC3E}">
        <p14:creationId xmlns:p14="http://schemas.microsoft.com/office/powerpoint/2010/main" val="206201568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2196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10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002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11</a:t>
            </a:fld>
            <a:endParaRPr lang="en-CA"/>
          </a:p>
        </p:txBody>
      </p:sp>
    </p:spTree>
    <p:extLst>
      <p:ext uri="{BB962C8B-B14F-4D97-AF65-F5344CB8AC3E}">
        <p14:creationId xmlns:p14="http://schemas.microsoft.com/office/powerpoint/2010/main" val="4111788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12</a:t>
            </a:fld>
            <a:endParaRPr lang="en-CA"/>
          </a:p>
        </p:txBody>
      </p:sp>
    </p:spTree>
    <p:extLst>
      <p:ext uri="{BB962C8B-B14F-4D97-AF65-F5344CB8AC3E}">
        <p14:creationId xmlns:p14="http://schemas.microsoft.com/office/powerpoint/2010/main" val="2469310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13</a:t>
            </a:fld>
            <a:endParaRPr lang="en-CA"/>
          </a:p>
        </p:txBody>
      </p:sp>
    </p:spTree>
    <p:extLst>
      <p:ext uri="{BB962C8B-B14F-4D97-AF65-F5344CB8AC3E}">
        <p14:creationId xmlns:p14="http://schemas.microsoft.com/office/powerpoint/2010/main" val="652682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7213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15</a:t>
            </a:fld>
            <a:endParaRPr lang="en-CA"/>
          </a:p>
        </p:txBody>
      </p:sp>
    </p:spTree>
    <p:extLst>
      <p:ext uri="{BB962C8B-B14F-4D97-AF65-F5344CB8AC3E}">
        <p14:creationId xmlns:p14="http://schemas.microsoft.com/office/powerpoint/2010/main" val="4111788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6FCB-61EF-3F50-A6AF-C495CB11D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6DA9-3AA6-D3A9-E33A-22E2FBAD4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C37E4-60A1-37C1-F06B-5D9F0F719CF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B285425-15C9-1868-52A1-3E31F25A34A8}"/>
              </a:ext>
            </a:extLst>
          </p:cNvPr>
          <p:cNvSpPr>
            <a:spLocks noGrp="1"/>
          </p:cNvSpPr>
          <p:nvPr>
            <p:ph type="sldNum" sz="quarter" idx="5"/>
          </p:nvPr>
        </p:nvSpPr>
        <p:spPr/>
        <p:txBody>
          <a:bodyPr/>
          <a:lstStyle/>
          <a:p>
            <a:fld id="{B020EDC5-8A35-4E81-B68B-6748F3707060}" type="slidenum">
              <a:rPr lang="en-CA" smtClean="0"/>
              <a:t>16</a:t>
            </a:fld>
            <a:endParaRPr lang="en-CA"/>
          </a:p>
        </p:txBody>
      </p:sp>
    </p:spTree>
    <p:extLst>
      <p:ext uri="{BB962C8B-B14F-4D97-AF65-F5344CB8AC3E}">
        <p14:creationId xmlns:p14="http://schemas.microsoft.com/office/powerpoint/2010/main" val="2384051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6FCB-61EF-3F50-A6AF-C495CB11D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6DA9-3AA6-D3A9-E33A-22E2FBAD4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C37E4-60A1-37C1-F06B-5D9F0F719CF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B285425-15C9-1868-52A1-3E31F25A34A8}"/>
              </a:ext>
            </a:extLst>
          </p:cNvPr>
          <p:cNvSpPr>
            <a:spLocks noGrp="1"/>
          </p:cNvSpPr>
          <p:nvPr>
            <p:ph type="sldNum" sz="quarter" idx="5"/>
          </p:nvPr>
        </p:nvSpPr>
        <p:spPr/>
        <p:txBody>
          <a:bodyPr/>
          <a:lstStyle/>
          <a:p>
            <a:fld id="{B020EDC5-8A35-4E81-B68B-6748F3707060}" type="slidenum">
              <a:rPr lang="en-CA" smtClean="0"/>
              <a:t>17</a:t>
            </a:fld>
            <a:endParaRPr lang="en-CA"/>
          </a:p>
        </p:txBody>
      </p:sp>
    </p:spTree>
    <p:extLst>
      <p:ext uri="{BB962C8B-B14F-4D97-AF65-F5344CB8AC3E}">
        <p14:creationId xmlns:p14="http://schemas.microsoft.com/office/powerpoint/2010/main" val="1617959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18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101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25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3336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27</a:t>
            </a:fld>
            <a:endParaRPr lang="en-CA"/>
          </a:p>
        </p:txBody>
      </p:sp>
    </p:spTree>
    <p:extLst>
      <p:ext uri="{BB962C8B-B14F-4D97-AF65-F5344CB8AC3E}">
        <p14:creationId xmlns:p14="http://schemas.microsoft.com/office/powerpoint/2010/main" val="4111788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770989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30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3731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D4671-7E5A-6D0E-453A-CD099CAC0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0296F-9CBF-FF6A-DFB6-B0EE0F708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7E534-D441-F819-51EF-CCBF9B5BFD16}"/>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A652A7D1-16D0-03BC-86F6-CE9C4BE1CD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45DCEA-67D8-4F69-A339-56D828B29B82}" type="slidenum">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7215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33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4790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mall leaf">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E62BAB1F-23DB-5F74-FD3F-BFAE6E672A1C}"/>
              </a:ext>
            </a:extLst>
          </p:cNvPr>
          <p:cNvSpPr>
            <a:spLocks noGrp="1"/>
          </p:cNvSpPr>
          <p:nvPr>
            <p:ph type="title"/>
          </p:nvPr>
        </p:nvSpPr>
        <p:spPr>
          <a:xfrm>
            <a:off x="479376" y="1628800"/>
            <a:ext cx="11305256"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9" name="Subtitle 2">
            <a:extLst>
              <a:ext uri="{FF2B5EF4-FFF2-40B4-BE49-F238E27FC236}">
                <a16:creationId xmlns:a16="http://schemas.microsoft.com/office/drawing/2014/main" id="{CDDC825D-5995-D902-343B-3E95A43BEB23}"/>
              </a:ext>
            </a:extLst>
          </p:cNvPr>
          <p:cNvSpPr>
            <a:spLocks noGrp="1"/>
          </p:cNvSpPr>
          <p:nvPr>
            <p:ph type="subTitle" idx="1"/>
          </p:nvPr>
        </p:nvSpPr>
        <p:spPr>
          <a:xfrm>
            <a:off x="479376" y="3573016"/>
            <a:ext cx="11305256" cy="1224137"/>
          </a:xfrm>
          <a:prstGeom prst="rect">
            <a:avLst/>
          </a:prstGeom>
          <a:noFill/>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3" name="Slide Number Placeholder 1">
            <a:extLst>
              <a:ext uri="{FF2B5EF4-FFF2-40B4-BE49-F238E27FC236}">
                <a16:creationId xmlns:a16="http://schemas.microsoft.com/office/drawing/2014/main" id="{0BDF4CDE-189D-FECB-017D-E57D3CF45789}"/>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extLst>
      <p:ext uri="{BB962C8B-B14F-4D97-AF65-F5344CB8AC3E}">
        <p14:creationId xmlns:p14="http://schemas.microsoft.com/office/powerpoint/2010/main" val="2255526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83BF3-D961-4243-1DEC-C94D3AE2E4FC}"/>
              </a:ext>
            </a:extLst>
          </p:cNvPr>
          <p:cNvSpPr>
            <a:spLocks noGrp="1"/>
          </p:cNvSpPr>
          <p:nvPr>
            <p:ph type="title"/>
          </p:nvPr>
        </p:nvSpPr>
        <p:spPr>
          <a:xfrm>
            <a:off x="407368" y="274638"/>
            <a:ext cx="11449272" cy="1066130"/>
          </a:xfrm>
          <a:prstGeom prst="rect">
            <a:avLst/>
          </a:prstGeom>
        </p:spPr>
        <p:txBody>
          <a:bodyPr anchor="ctr"/>
          <a:lstStyle>
            <a:lvl1pPr>
              <a:defRPr sz="3600"/>
            </a:lvl1pPr>
          </a:lstStyle>
          <a:p>
            <a:r>
              <a:rPr lang="en-US"/>
              <a:t>Click to edit Master title style</a:t>
            </a:r>
          </a:p>
        </p:txBody>
      </p:sp>
      <p:sp>
        <p:nvSpPr>
          <p:cNvPr id="5" name="Content Placeholder 2">
            <a:extLst>
              <a:ext uri="{FF2B5EF4-FFF2-40B4-BE49-F238E27FC236}">
                <a16:creationId xmlns:a16="http://schemas.microsoft.com/office/drawing/2014/main" id="{7EDF5AA5-741D-ABC8-FF59-18D06FCDBD5C}"/>
              </a:ext>
            </a:extLst>
          </p:cNvPr>
          <p:cNvSpPr>
            <a:spLocks noGrp="1"/>
          </p:cNvSpPr>
          <p:nvPr>
            <p:ph sz="half" idx="10"/>
          </p:nvPr>
        </p:nvSpPr>
        <p:spPr>
          <a:xfrm>
            <a:off x="407368" y="1412776"/>
            <a:ext cx="11449272" cy="472409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Slide Number Placeholder 1">
            <a:extLst>
              <a:ext uri="{FF2B5EF4-FFF2-40B4-BE49-F238E27FC236}">
                <a16:creationId xmlns:a16="http://schemas.microsoft.com/office/drawing/2014/main" id="{C1761B5E-00EF-14F0-787F-CFC5C6982CB5}"/>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olumn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A127131F-0328-2D04-9A2C-93C67AE02A0E}"/>
              </a:ext>
            </a:extLst>
          </p:cNvPr>
          <p:cNvSpPr>
            <a:spLocks noGrp="1"/>
          </p:cNvSpPr>
          <p:nvPr>
            <p:ph type="title"/>
          </p:nvPr>
        </p:nvSpPr>
        <p:spPr>
          <a:xfrm>
            <a:off x="479376" y="274638"/>
            <a:ext cx="11305256" cy="962192"/>
          </a:xfrm>
          <a:prstGeom prst="rect">
            <a:avLst/>
          </a:prstGeom>
        </p:spPr>
        <p:txBody>
          <a:bodyPr vert="horz" lIns="91440" tIns="45720" rIns="91440" bIns="45720" rtlCol="0" anchor="ctr">
            <a:normAutofit/>
          </a:bodyPr>
          <a:lstStyle>
            <a:lvl1pPr>
              <a:defRPr sz="3600"/>
            </a:lvl1pPr>
          </a:lstStyle>
          <a:p>
            <a:r>
              <a:rPr lang="en-US"/>
              <a:t>Click to edit Master title style</a:t>
            </a:r>
            <a:endParaRPr lang="en-CA"/>
          </a:p>
        </p:txBody>
      </p:sp>
      <p:sp>
        <p:nvSpPr>
          <p:cNvPr id="9" name="Content Placeholder 2">
            <a:extLst>
              <a:ext uri="{FF2B5EF4-FFF2-40B4-BE49-F238E27FC236}">
                <a16:creationId xmlns:a16="http://schemas.microsoft.com/office/drawing/2014/main" id="{F45E5F10-4CE0-A5E4-14F0-74430BEC26B4}"/>
              </a:ext>
            </a:extLst>
          </p:cNvPr>
          <p:cNvSpPr>
            <a:spLocks noGrp="1"/>
          </p:cNvSpPr>
          <p:nvPr>
            <p:ph sz="half" idx="1"/>
          </p:nvPr>
        </p:nvSpPr>
        <p:spPr>
          <a:xfrm>
            <a:off x="479376" y="1297196"/>
            <a:ext cx="5472608" cy="4652084"/>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Content Placeholder 2">
            <a:extLst>
              <a:ext uri="{FF2B5EF4-FFF2-40B4-BE49-F238E27FC236}">
                <a16:creationId xmlns:a16="http://schemas.microsoft.com/office/drawing/2014/main" id="{CEB51C09-B628-E941-3C0F-E67FC65F1CAB}"/>
              </a:ext>
            </a:extLst>
          </p:cNvPr>
          <p:cNvSpPr>
            <a:spLocks noGrp="1"/>
          </p:cNvSpPr>
          <p:nvPr>
            <p:ph sz="half" idx="10"/>
          </p:nvPr>
        </p:nvSpPr>
        <p:spPr>
          <a:xfrm>
            <a:off x="6237514" y="1297196"/>
            <a:ext cx="5547118" cy="4652084"/>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 name="Slide Number Placeholder 1">
            <a:extLst>
              <a:ext uri="{FF2B5EF4-FFF2-40B4-BE49-F238E27FC236}">
                <a16:creationId xmlns:a16="http://schemas.microsoft.com/office/drawing/2014/main" id="{BBDAB863-9C4F-DF8F-7057-1EEC329E2ADC}"/>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extLst>
      <p:ext uri="{BB962C8B-B14F-4D97-AF65-F5344CB8AC3E}">
        <p14:creationId xmlns:p14="http://schemas.microsoft.com/office/powerpoint/2010/main" val="3513058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714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48F494D0-DD41-4D05-9562-9163A910AD62}" type="datetime1">
              <a:rPr lang="en-CA" smtClean="0"/>
              <a:t>2025-09-20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noFill/>
        </p:spPr>
        <p:txBody>
          <a:bodyPr/>
          <a:lstStyle/>
          <a:p>
            <a:fld id="{49DA9349-B3BD-4AC8-BE71-63081D1E6344}" type="slidenum">
              <a:rPr lang="en-CA" smtClean="0"/>
              <a:t>‹#›</a:t>
            </a:fld>
            <a:endParaRPr lang="en-CA"/>
          </a:p>
        </p:txBody>
      </p:sp>
    </p:spTree>
    <p:extLst>
      <p:ext uri="{BB962C8B-B14F-4D97-AF65-F5344CB8AC3E}">
        <p14:creationId xmlns:p14="http://schemas.microsoft.com/office/powerpoint/2010/main" val="402336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E9A020E-0A37-45D6-BAD3-DCBFF7B564E4}" type="datetime1">
              <a:rPr lang="en-CA" smtClean="0"/>
              <a:t>2025-09-20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9DA9349-B3BD-4AC8-BE71-63081D1E6344}" type="slidenum">
              <a:rPr lang="en-CA" smtClean="0"/>
              <a:t>‹#›</a:t>
            </a:fld>
            <a:endParaRPr lang="en-CA"/>
          </a:p>
        </p:txBody>
      </p:sp>
    </p:spTree>
    <p:extLst>
      <p:ext uri="{BB962C8B-B14F-4D97-AF65-F5344CB8AC3E}">
        <p14:creationId xmlns:p14="http://schemas.microsoft.com/office/powerpoint/2010/main" val="3159294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mall leaf">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E62BAB1F-23DB-5F74-FD3F-BFAE6E672A1C}"/>
              </a:ext>
            </a:extLst>
          </p:cNvPr>
          <p:cNvSpPr>
            <a:spLocks noGrp="1"/>
          </p:cNvSpPr>
          <p:nvPr>
            <p:ph type="title"/>
          </p:nvPr>
        </p:nvSpPr>
        <p:spPr>
          <a:xfrm>
            <a:off x="609600" y="548680"/>
            <a:ext cx="9374832" cy="2592288"/>
          </a:xfrm>
          <a:prstGeom prst="rect">
            <a:avLst/>
          </a:prstGeom>
        </p:spPr>
        <p:txBody>
          <a:bodyPr vert="horz" lIns="91440" tIns="45720" rIns="91440" bIns="45720" rtlCol="0" anchor="ctr">
            <a:normAutofit/>
          </a:bodyPr>
          <a:lstStyle>
            <a:lvl1pPr algn="l">
              <a:defRPr sz="4800"/>
            </a:lvl1pPr>
          </a:lstStyle>
          <a:p>
            <a:r>
              <a:rPr lang="en-US"/>
              <a:t>Click to edit Master title style</a:t>
            </a:r>
            <a:endParaRPr lang="en-CA"/>
          </a:p>
        </p:txBody>
      </p:sp>
      <p:sp>
        <p:nvSpPr>
          <p:cNvPr id="9" name="Subtitle 2">
            <a:extLst>
              <a:ext uri="{FF2B5EF4-FFF2-40B4-BE49-F238E27FC236}">
                <a16:creationId xmlns:a16="http://schemas.microsoft.com/office/drawing/2014/main" id="{CDDC825D-5995-D902-343B-3E95A43BEB23}"/>
              </a:ext>
            </a:extLst>
          </p:cNvPr>
          <p:cNvSpPr>
            <a:spLocks noGrp="1"/>
          </p:cNvSpPr>
          <p:nvPr>
            <p:ph type="subTitle" idx="1"/>
          </p:nvPr>
        </p:nvSpPr>
        <p:spPr>
          <a:xfrm>
            <a:off x="609600" y="3573016"/>
            <a:ext cx="7950598" cy="2079104"/>
          </a:xfrm>
          <a:prstGeom prst="rect">
            <a:avLst/>
          </a:prstGeom>
          <a:noFill/>
        </p:spPr>
        <p:txBody>
          <a:bodyPr anchor="t">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Tree>
    <p:extLst>
      <p:ext uri="{BB962C8B-B14F-4D97-AF65-F5344CB8AC3E}">
        <p14:creationId xmlns:p14="http://schemas.microsoft.com/office/powerpoint/2010/main" val="2348760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F17808-6B54-2C57-20F3-9E66E29ED294}"/>
              </a:ext>
              <a:ext uri="{C183D7F6-B498-43B3-948B-1728B52AA6E4}">
                <adec:decorative xmlns:adec="http://schemas.microsoft.com/office/drawing/2017/decorative" val="1"/>
              </a:ext>
            </a:extLst>
          </p:cNvPr>
          <p:cNvPicPr>
            <a:picLocks noChangeAspect="1"/>
          </p:cNvPicPr>
          <p:nvPr userDrawn="1"/>
        </p:nvPicPr>
        <p:blipFill>
          <a:blip r:embed="rId8"/>
          <a:stretch>
            <a:fillRect/>
          </a:stretch>
        </p:blipFill>
        <p:spPr bwMode="auto">
          <a:xfrm>
            <a:off x="1" y="5551267"/>
            <a:ext cx="12192000" cy="1306733"/>
          </a:xfrm>
          <a:prstGeom prst="rect">
            <a:avLst/>
          </a:prstGeom>
        </p:spPr>
      </p:pic>
      <p:sp>
        <p:nvSpPr>
          <p:cNvPr id="2" name="Slide Number Placeholder 1">
            <a:extLst>
              <a:ext uri="{FF2B5EF4-FFF2-40B4-BE49-F238E27FC236}">
                <a16:creationId xmlns:a16="http://schemas.microsoft.com/office/drawing/2014/main" id="{A4EAABA8-4299-7139-AC42-DC8DCB71B1EF}"/>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5" r:id="rId4"/>
    <p:sldLayoutId id="2147483666" r:id="rId5"/>
    <p:sldLayoutId id="2147483667"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E160E1-EA27-9275-98D0-8FC92F9AE899}"/>
              </a:ext>
              <a:ext uri="{C183D7F6-B498-43B3-948B-1728B52AA6E4}">
                <adec:decorative xmlns:adec="http://schemas.microsoft.com/office/drawing/2017/decorative" val="1"/>
              </a:ext>
            </a:extLst>
          </p:cNvPr>
          <p:cNvPicPr>
            <a:picLocks noChangeAspect="1"/>
          </p:cNvPicPr>
          <p:nvPr userDrawn="1"/>
        </p:nvPicPr>
        <p:blipFill rotWithShape="1">
          <a:blip r:embed="rId3"/>
          <a:srcRect t="1747" r="2079"/>
          <a:stretch/>
        </p:blipFill>
        <p:spPr>
          <a:xfrm>
            <a:off x="7787931" y="-1"/>
            <a:ext cx="4404069" cy="6858001"/>
          </a:xfrm>
          <a:prstGeom prst="rect">
            <a:avLst/>
          </a:prstGeom>
        </p:spPr>
      </p:pic>
      <p:pic>
        <p:nvPicPr>
          <p:cNvPr id="3" name="Picture 2">
            <a:extLst>
              <a:ext uri="{FF2B5EF4-FFF2-40B4-BE49-F238E27FC236}">
                <a16:creationId xmlns:a16="http://schemas.microsoft.com/office/drawing/2014/main" id="{B67B15B0-D848-F07B-8C97-04B361706A8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 y="5897845"/>
            <a:ext cx="12192000" cy="962855"/>
          </a:xfrm>
          <a:prstGeom prst="rect">
            <a:avLst/>
          </a:prstGeom>
        </p:spPr>
      </p:pic>
      <p:pic>
        <p:nvPicPr>
          <p:cNvPr id="4" name="Picture 3">
            <a:extLst>
              <a:ext uri="{FF2B5EF4-FFF2-40B4-BE49-F238E27FC236}">
                <a16:creationId xmlns:a16="http://schemas.microsoft.com/office/drawing/2014/main" id="{A44D0511-45D1-BDFB-7DB8-8DFCD91D8DEC}"/>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7802880" y="2236514"/>
            <a:ext cx="4389120" cy="4621485"/>
          </a:xfrm>
          <a:prstGeom prst="rect">
            <a:avLst/>
          </a:prstGeom>
        </p:spPr>
      </p:pic>
    </p:spTree>
    <p:extLst>
      <p:ext uri="{BB962C8B-B14F-4D97-AF65-F5344CB8AC3E}">
        <p14:creationId xmlns:p14="http://schemas.microsoft.com/office/powerpoint/2010/main" val="3064181028"/>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icn-rci.statcan.ca/10/10s/10s_002-eng.html"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1.sv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hyperlink" Target="http://icn-rci.statcan.ca/31/31c/31c_007-eng.html" TargetMode="External"/><Relationship Id="rId5" Type="http://schemas.openxmlformats.org/officeDocument/2006/relationships/image" Target="../media/image13.sv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hyperlink" Target="http://icn-rci.statcan.ca/31/31c/31c_007-eng.html" TargetMode="External"/><Relationship Id="rId5" Type="http://schemas.openxmlformats.org/officeDocument/2006/relationships/image" Target="../media/image13.sv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9"/>
          <p:cNvSpPr txBox="1"/>
          <p:nvPr/>
        </p:nvSpPr>
        <p:spPr>
          <a:xfrm>
            <a:off x="675111" y="5244040"/>
            <a:ext cx="6860593" cy="807913"/>
          </a:xfrm>
          <a:prstGeom prst="rect">
            <a:avLst/>
          </a:prstGeom>
        </p:spPr>
        <p:txBody>
          <a:bodyPr wrap="square" lIns="0" tIns="0" rIns="0" bIns="0" rtlCol="0" anchor="t">
            <a:spAutoFit/>
          </a:bodyPr>
          <a:lstStyle/>
          <a:p>
            <a:pPr>
              <a:lnSpc>
                <a:spcPts val="2130"/>
              </a:lnSpc>
            </a:pPr>
            <a:r>
              <a:rPr lang="en-US" sz="1869" b="1">
                <a:solidFill>
                  <a:srgbClr val="000000"/>
                </a:solidFill>
                <a:latin typeface="Poppins Bold"/>
                <a:ea typeface="Poppins Bold"/>
                <a:cs typeface="Poppins Bold"/>
                <a:sym typeface="Poppins Bold"/>
              </a:rPr>
              <a:t>Tier 2 Committee Visions for the future of the agency​</a:t>
            </a:r>
          </a:p>
          <a:p>
            <a:pPr>
              <a:lnSpc>
                <a:spcPts val="2130"/>
              </a:lnSpc>
            </a:pPr>
            <a:r>
              <a:rPr lang="en-US" sz="1400">
                <a:solidFill>
                  <a:srgbClr val="000000"/>
                </a:solidFill>
                <a:latin typeface="Poppins Bold"/>
                <a:ea typeface="Poppins Bold"/>
                <a:cs typeface="Poppins Bold"/>
                <a:sym typeface="Poppins Bold"/>
              </a:rPr>
              <a:t>Supported by the Transformation Unit (OCS) &amp; Business Planning (BPPD)​</a:t>
            </a:r>
          </a:p>
          <a:p>
            <a:pPr>
              <a:lnSpc>
                <a:spcPts val="2130"/>
              </a:lnSpc>
            </a:pPr>
            <a:endParaRPr lang="en-US" sz="1869" b="1">
              <a:solidFill>
                <a:srgbClr val="000000"/>
              </a:solidFill>
              <a:latin typeface="Poppins Bold"/>
              <a:ea typeface="Poppins Bold"/>
              <a:cs typeface="Poppins Bold"/>
              <a:sym typeface="Poppins Bold"/>
            </a:endParaRPr>
          </a:p>
        </p:txBody>
      </p:sp>
      <p:sp>
        <p:nvSpPr>
          <p:cNvPr id="20" name="TextBox 20"/>
          <p:cNvSpPr txBox="1"/>
          <p:nvPr/>
        </p:nvSpPr>
        <p:spPr>
          <a:xfrm>
            <a:off x="675111" y="5889451"/>
            <a:ext cx="2301109" cy="154401"/>
          </a:xfrm>
          <a:prstGeom prst="rect">
            <a:avLst/>
          </a:prstGeom>
        </p:spPr>
        <p:txBody>
          <a:bodyPr lIns="0" tIns="0" rIns="0" bIns="0" rtlCol="0" anchor="t">
            <a:spAutoFit/>
          </a:bodyPr>
          <a:lstStyle/>
          <a:p>
            <a:pPr>
              <a:lnSpc>
                <a:spcPts val="1237"/>
              </a:lnSpc>
            </a:pPr>
            <a:r>
              <a:rPr lang="en-US" sz="1085">
                <a:solidFill>
                  <a:srgbClr val="000000"/>
                </a:solidFill>
                <a:latin typeface="Poppins"/>
                <a:ea typeface="Poppins"/>
                <a:cs typeface="Poppins"/>
                <a:sym typeface="Poppins"/>
              </a:rPr>
              <a:t>May 2025</a:t>
            </a:r>
          </a:p>
        </p:txBody>
      </p:sp>
      <p:sp>
        <p:nvSpPr>
          <p:cNvPr id="21" name="TextBox 21"/>
          <p:cNvSpPr txBox="1"/>
          <p:nvPr/>
        </p:nvSpPr>
        <p:spPr>
          <a:xfrm>
            <a:off x="675567" y="1140065"/>
            <a:ext cx="9236857" cy="692497"/>
          </a:xfrm>
          <a:prstGeom prst="rect">
            <a:avLst/>
          </a:prstGeom>
        </p:spPr>
        <p:txBody>
          <a:bodyPr wrap="square" lIns="0" tIns="0" rIns="0" bIns="0" rtlCol="0" anchor="t">
            <a:spAutoFit/>
          </a:bodyPr>
          <a:lstStyle/>
          <a:p>
            <a:pPr>
              <a:lnSpc>
                <a:spcPts val="5412"/>
              </a:lnSpc>
            </a:pPr>
            <a:r>
              <a:rPr lang="en-US" sz="4747" b="1">
                <a:solidFill>
                  <a:srgbClr val="000000"/>
                </a:solidFill>
                <a:latin typeface="Poppins Bold"/>
                <a:ea typeface="Poppins Bold"/>
                <a:cs typeface="Poppins Bold"/>
                <a:sym typeface="Poppins Bold"/>
              </a:rPr>
              <a:t>A glimpse of the future</a:t>
            </a:r>
          </a:p>
        </p:txBody>
      </p:sp>
      <p:sp>
        <p:nvSpPr>
          <p:cNvPr id="22" name="TextBox 22"/>
          <p:cNvSpPr txBox="1"/>
          <p:nvPr/>
        </p:nvSpPr>
        <p:spPr>
          <a:xfrm>
            <a:off x="675567" y="1916832"/>
            <a:ext cx="4345345" cy="666849"/>
          </a:xfrm>
          <a:prstGeom prst="rect">
            <a:avLst/>
          </a:prstGeom>
        </p:spPr>
        <p:txBody>
          <a:bodyPr lIns="0" tIns="0" rIns="0" bIns="0" rtlCol="0" anchor="t">
            <a:spAutoFit/>
          </a:bodyPr>
          <a:lstStyle/>
          <a:p>
            <a:pPr>
              <a:lnSpc>
                <a:spcPts val="2640"/>
              </a:lnSpc>
            </a:pPr>
            <a:r>
              <a:rPr lang="en-US" sz="2315" b="1" spc="99">
                <a:solidFill>
                  <a:srgbClr val="000000"/>
                </a:solidFill>
                <a:latin typeface="Poppins Bold"/>
                <a:ea typeface="Poppins Bold"/>
                <a:cs typeface="Poppins Bold"/>
                <a:sym typeface="Poppins Bold"/>
              </a:rPr>
              <a:t>From managing process to maximizing impact</a:t>
            </a:r>
          </a:p>
        </p:txBody>
      </p:sp>
      <p:grpSp>
        <p:nvGrpSpPr>
          <p:cNvPr id="29" name="Group 28">
            <a:extLst>
              <a:ext uri="{FF2B5EF4-FFF2-40B4-BE49-F238E27FC236}">
                <a16:creationId xmlns:a16="http://schemas.microsoft.com/office/drawing/2014/main" id="{2C7B3C7A-FFEE-1B9D-6C81-CBCD02F483F3}"/>
              </a:ext>
            </a:extLst>
          </p:cNvPr>
          <p:cNvGrpSpPr/>
          <p:nvPr/>
        </p:nvGrpSpPr>
        <p:grpSpPr>
          <a:xfrm>
            <a:off x="6960096" y="1518873"/>
            <a:ext cx="4464158" cy="4199062"/>
            <a:chOff x="7276428" y="1500133"/>
            <a:chExt cx="4752190" cy="4487094"/>
          </a:xfrm>
        </p:grpSpPr>
        <p:sp>
          <p:nvSpPr>
            <p:cNvPr id="23" name="Freeform 14">
              <a:extLst>
                <a:ext uri="{FF2B5EF4-FFF2-40B4-BE49-F238E27FC236}">
                  <a16:creationId xmlns:a16="http://schemas.microsoft.com/office/drawing/2014/main" id="{ED38A693-C061-75AA-63C9-58A9DC77307C}"/>
                </a:ext>
              </a:extLst>
            </p:cNvPr>
            <p:cNvSpPr/>
            <p:nvPr/>
          </p:nvSpPr>
          <p:spPr>
            <a:xfrm rot="-1813147">
              <a:off x="7276428" y="1701595"/>
              <a:ext cx="4752190" cy="4084169"/>
            </a:xfrm>
            <a:custGeom>
              <a:avLst/>
              <a:gdLst/>
              <a:ahLst/>
              <a:cxnLst/>
              <a:rect l="l" t="t" r="r" b="b"/>
              <a:pathLst>
                <a:path w="8743695" h="7661663">
                  <a:moveTo>
                    <a:pt x="0" y="0"/>
                  </a:moveTo>
                  <a:lnTo>
                    <a:pt x="8743694" y="0"/>
                  </a:lnTo>
                  <a:lnTo>
                    <a:pt x="8743694" y="7661662"/>
                  </a:lnTo>
                  <a:lnTo>
                    <a:pt x="0" y="7661662"/>
                  </a:lnTo>
                  <a:lnTo>
                    <a:pt x="0" y="0"/>
                  </a:lnTo>
                  <a:close/>
                </a:path>
              </a:pathLst>
            </a:custGeom>
            <a:blipFill>
              <a:blip r:embed="rId2"/>
              <a:stretch>
                <a:fillRect/>
              </a:stretch>
            </a:blipFill>
          </p:spPr>
          <p:txBody>
            <a:bodyPr/>
            <a:lstStyle/>
            <a:p>
              <a:endParaRPr lang="en-CA" sz="1200"/>
            </a:p>
          </p:txBody>
        </p:sp>
        <p:grpSp>
          <p:nvGrpSpPr>
            <p:cNvPr id="24" name="Group 15">
              <a:extLst>
                <a:ext uri="{FF2B5EF4-FFF2-40B4-BE49-F238E27FC236}">
                  <a16:creationId xmlns:a16="http://schemas.microsoft.com/office/drawing/2014/main" id="{0ADE5955-6856-8599-7718-EF15C1268179}"/>
                </a:ext>
              </a:extLst>
            </p:cNvPr>
            <p:cNvGrpSpPr/>
            <p:nvPr/>
          </p:nvGrpSpPr>
          <p:grpSpPr>
            <a:xfrm>
              <a:off x="7698120" y="1500133"/>
              <a:ext cx="3908807" cy="4487094"/>
              <a:chOff x="0" y="0"/>
              <a:chExt cx="698500" cy="812800"/>
            </a:xfrm>
          </p:grpSpPr>
          <p:sp>
            <p:nvSpPr>
              <p:cNvPr id="25" name="Freeform 16">
                <a:extLst>
                  <a:ext uri="{FF2B5EF4-FFF2-40B4-BE49-F238E27FC236}">
                    <a16:creationId xmlns:a16="http://schemas.microsoft.com/office/drawing/2014/main" id="{F3296897-7BFA-5B7E-194E-1125B5537F8E}"/>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txBody>
              <a:bodyPr/>
              <a:lstStyle/>
              <a:p>
                <a:endParaRPr lang="en-CA" sz="1200"/>
              </a:p>
            </p:txBody>
          </p:sp>
          <p:sp>
            <p:nvSpPr>
              <p:cNvPr id="26" name="TextBox 17">
                <a:extLst>
                  <a:ext uri="{FF2B5EF4-FFF2-40B4-BE49-F238E27FC236}">
                    <a16:creationId xmlns:a16="http://schemas.microsoft.com/office/drawing/2014/main" id="{1ABB8D23-C78D-2FC5-506B-B380FFFFFB6D}"/>
                  </a:ext>
                </a:extLst>
              </p:cNvPr>
              <p:cNvSpPr txBox="1"/>
              <p:nvPr/>
            </p:nvSpPr>
            <p:spPr>
              <a:xfrm>
                <a:off x="0" y="82550"/>
                <a:ext cx="698500" cy="590550"/>
              </a:xfrm>
              <a:prstGeom prst="rect">
                <a:avLst/>
              </a:prstGeom>
            </p:spPr>
            <p:txBody>
              <a:bodyPr lIns="33867" tIns="33867" rIns="33867" bIns="33867" rtlCol="0" anchor="ctr"/>
              <a:lstStyle/>
              <a:p>
                <a:pPr algn="ctr">
                  <a:lnSpc>
                    <a:spcPts val="1773"/>
                  </a:lnSpc>
                </a:pPr>
                <a:endParaRPr sz="1200"/>
              </a:p>
            </p:txBody>
          </p:sp>
        </p:grpSp>
        <p:grpSp>
          <p:nvGrpSpPr>
            <p:cNvPr id="27" name="Group 18">
              <a:extLst>
                <a:ext uri="{FF2B5EF4-FFF2-40B4-BE49-F238E27FC236}">
                  <a16:creationId xmlns:a16="http://schemas.microsoft.com/office/drawing/2014/main" id="{4D0DBDC3-6EA2-EFE3-C0A0-0EDF4D102DBE}"/>
                </a:ext>
              </a:extLst>
            </p:cNvPr>
            <p:cNvGrpSpPr/>
            <p:nvPr/>
          </p:nvGrpSpPr>
          <p:grpSpPr>
            <a:xfrm>
              <a:off x="7847330" y="1616587"/>
              <a:ext cx="3666679" cy="4176824"/>
              <a:chOff x="0" y="0"/>
              <a:chExt cx="31287555" cy="36127779"/>
            </a:xfrm>
          </p:grpSpPr>
          <p:sp>
            <p:nvSpPr>
              <p:cNvPr id="28" name="Freeform 19">
                <a:extLst>
                  <a:ext uri="{FF2B5EF4-FFF2-40B4-BE49-F238E27FC236}">
                    <a16:creationId xmlns:a16="http://schemas.microsoft.com/office/drawing/2014/main" id="{0F218773-5037-D820-DF5A-80F74417D0BE}"/>
                  </a:ext>
                </a:extLst>
              </p:cNvPr>
              <p:cNvSpPr/>
              <p:nvPr/>
            </p:nvSpPr>
            <p:spPr>
              <a:xfrm>
                <a:off x="0" y="0"/>
                <a:ext cx="31287467" cy="36127817"/>
              </a:xfrm>
              <a:custGeom>
                <a:avLst/>
                <a:gdLst/>
                <a:ahLst/>
                <a:cxnLst/>
                <a:rect l="l" t="t" r="r" b="b"/>
                <a:pathLst>
                  <a:path w="31287467" h="3612781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78170" r="-56685"/>
                </a:stretch>
              </a:blipFill>
            </p:spPr>
            <p:txBody>
              <a:bodyPr/>
              <a:lstStyle/>
              <a:p>
                <a:endParaRPr lang="en-CA" sz="1200"/>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84D30-561F-B1DE-BA4B-1EE09B24325F}"/>
              </a:ext>
            </a:extLst>
          </p:cNvPr>
          <p:cNvSpPr>
            <a:spLocks noGrp="1"/>
          </p:cNvSpPr>
          <p:nvPr>
            <p:ph type="title"/>
          </p:nvPr>
        </p:nvSpPr>
        <p:spPr/>
        <p:txBody>
          <a:bodyPr/>
          <a:lstStyle/>
          <a:p>
            <a:r>
              <a:rPr lang="fr-CA"/>
              <a:t>Objective</a:t>
            </a:r>
            <a:endParaRPr lang="en-CA"/>
          </a:p>
        </p:txBody>
      </p:sp>
      <p:sp>
        <p:nvSpPr>
          <p:cNvPr id="3" name="Content Placeholder 2">
            <a:extLst>
              <a:ext uri="{FF2B5EF4-FFF2-40B4-BE49-F238E27FC236}">
                <a16:creationId xmlns:a16="http://schemas.microsoft.com/office/drawing/2014/main" id="{59816DA8-AA44-36DD-32E6-1B4FC26C5654}"/>
              </a:ext>
            </a:extLst>
          </p:cNvPr>
          <p:cNvSpPr>
            <a:spLocks noGrp="1"/>
          </p:cNvSpPr>
          <p:nvPr>
            <p:ph sz="half" idx="10"/>
          </p:nvPr>
        </p:nvSpPr>
        <p:spPr/>
        <p:txBody>
          <a:bodyPr lIns="91440" tIns="45720" rIns="91440" bIns="45720" anchor="t"/>
          <a:lstStyle/>
          <a:p>
            <a:r>
              <a:rPr lang="fr-CA"/>
              <a:t>SMC </a:t>
            </a:r>
            <a:r>
              <a:rPr lang="fr-CA" err="1"/>
              <a:t>approval</a:t>
            </a:r>
            <a:r>
              <a:rPr lang="fr-CA"/>
              <a:t> of the </a:t>
            </a:r>
            <a:r>
              <a:rPr lang="fr-CA" err="1"/>
              <a:t>overall</a:t>
            </a:r>
            <a:r>
              <a:rPr lang="fr-CA"/>
              <a:t> direction for the </a:t>
            </a:r>
            <a:r>
              <a:rPr lang="fr-CA" err="1"/>
              <a:t>agency</a:t>
            </a:r>
            <a:endParaRPr lang="fr-CA"/>
          </a:p>
          <a:p>
            <a:pPr lvl="1"/>
            <a:r>
              <a:rPr lang="fr-CA"/>
              <a:t>This </a:t>
            </a:r>
            <a:r>
              <a:rPr lang="fr-CA" err="1"/>
              <a:t>will</a:t>
            </a:r>
            <a:r>
              <a:rPr lang="fr-CA"/>
              <a:t> </a:t>
            </a:r>
            <a:r>
              <a:rPr lang="fr-CA" err="1"/>
              <a:t>be</a:t>
            </a:r>
            <a:r>
              <a:rPr lang="fr-CA"/>
              <a:t> a </a:t>
            </a:r>
            <a:r>
              <a:rPr lang="fr-CA" err="1"/>
              <a:t>critical</a:t>
            </a:r>
            <a:r>
              <a:rPr lang="fr-CA"/>
              <a:t> </a:t>
            </a:r>
            <a:r>
              <a:rPr lang="fr-CA" err="1"/>
              <a:t>consideration</a:t>
            </a:r>
            <a:r>
              <a:rPr lang="fr-CA"/>
              <a:t> for the </a:t>
            </a:r>
            <a:r>
              <a:rPr lang="fr-CA" err="1"/>
              <a:t>next</a:t>
            </a:r>
            <a:r>
              <a:rPr lang="fr-CA"/>
              <a:t> Agency Strategic Plan</a:t>
            </a:r>
            <a:endParaRPr lang="fr-CA">
              <a:ea typeface="Tahoma"/>
              <a:cs typeface="Tahoma"/>
            </a:endParaRPr>
          </a:p>
          <a:p>
            <a:pPr lvl="1"/>
            <a:endParaRPr lang="fr-CA"/>
          </a:p>
          <a:p>
            <a:r>
              <a:rPr lang="fr-CA"/>
              <a:t>SMC </a:t>
            </a:r>
            <a:r>
              <a:rPr lang="fr-CA" err="1"/>
              <a:t>approval</a:t>
            </a:r>
            <a:r>
              <a:rPr lang="fr-CA"/>
              <a:t> of the Tier 2 visions</a:t>
            </a:r>
            <a:endParaRPr lang="fr-CA">
              <a:ea typeface="Tahoma"/>
              <a:cs typeface="Tahoma"/>
            </a:endParaRPr>
          </a:p>
          <a:p>
            <a:pPr lvl="1"/>
            <a:r>
              <a:rPr lang="fr-CA"/>
              <a:t>This </a:t>
            </a:r>
            <a:r>
              <a:rPr lang="fr-CA" err="1"/>
              <a:t>will</a:t>
            </a:r>
            <a:r>
              <a:rPr lang="fr-CA"/>
              <a:t> </a:t>
            </a:r>
            <a:r>
              <a:rPr lang="fr-CA" err="1"/>
              <a:t>be</a:t>
            </a:r>
            <a:r>
              <a:rPr lang="fr-CA"/>
              <a:t> the </a:t>
            </a:r>
            <a:r>
              <a:rPr lang="fr-CA" err="1"/>
              <a:t>foundation</a:t>
            </a:r>
            <a:r>
              <a:rPr lang="fr-CA"/>
              <a:t> of the 2025-26 Tier 2 </a:t>
            </a:r>
            <a:r>
              <a:rPr lang="fr-CA" err="1"/>
              <a:t>committee</a:t>
            </a:r>
            <a:r>
              <a:rPr lang="fr-CA"/>
              <a:t> objectives</a:t>
            </a:r>
            <a:endParaRPr lang="en-CA"/>
          </a:p>
        </p:txBody>
      </p:sp>
      <p:sp>
        <p:nvSpPr>
          <p:cNvPr id="4" name="Slide Number Placeholder 3">
            <a:extLst>
              <a:ext uri="{FF2B5EF4-FFF2-40B4-BE49-F238E27FC236}">
                <a16:creationId xmlns:a16="http://schemas.microsoft.com/office/drawing/2014/main" id="{66AA6796-41ED-1DE8-1EE8-41A54BCD4C04}"/>
              </a:ext>
            </a:extLst>
          </p:cNvPr>
          <p:cNvSpPr>
            <a:spLocks noGrp="1"/>
          </p:cNvSpPr>
          <p:nvPr>
            <p:ph type="sldNum" sz="quarter" idx="4"/>
          </p:nvPr>
        </p:nvSpPr>
        <p:spPr/>
        <p:txBody>
          <a:bodyPr/>
          <a:lstStyle/>
          <a:p>
            <a:fld id="{D07C759C-DCD0-4873-B392-A44DD08CD415}" type="slidenum">
              <a:rPr lang="en-CA" smtClean="0"/>
              <a:t>2</a:t>
            </a:fld>
            <a:endParaRPr lang="en-CA"/>
          </a:p>
        </p:txBody>
      </p:sp>
    </p:spTree>
    <p:extLst>
      <p:ext uri="{BB962C8B-B14F-4D97-AF65-F5344CB8AC3E}">
        <p14:creationId xmlns:p14="http://schemas.microsoft.com/office/powerpoint/2010/main" val="576644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4C593D16-A8C7-BCD9-9038-725E5921B8AD}"/>
              </a:ext>
            </a:extLst>
          </p:cNvPr>
          <p:cNvSpPr/>
          <p:nvPr/>
        </p:nvSpPr>
        <p:spPr>
          <a:xfrm>
            <a:off x="6578596" y="1988840"/>
            <a:ext cx="4845996" cy="2880320"/>
          </a:xfrm>
          <a:prstGeom prst="roundRect">
            <a:avLst/>
          </a:prstGeom>
          <a:solidFill>
            <a:schemeClr val="accent1">
              <a:alpha val="1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ectangle: Rounded Corners 26">
            <a:extLst>
              <a:ext uri="{FF2B5EF4-FFF2-40B4-BE49-F238E27FC236}">
                <a16:creationId xmlns:a16="http://schemas.microsoft.com/office/drawing/2014/main" id="{46D1271C-E732-8C54-12E1-7A60E7924372}"/>
              </a:ext>
            </a:extLst>
          </p:cNvPr>
          <p:cNvSpPr/>
          <p:nvPr/>
        </p:nvSpPr>
        <p:spPr>
          <a:xfrm>
            <a:off x="911424" y="1988840"/>
            <a:ext cx="5544616" cy="2880320"/>
          </a:xfrm>
          <a:prstGeom prst="roundRect">
            <a:avLst/>
          </a:prstGeom>
          <a:solidFill>
            <a:schemeClr val="accent1">
              <a:alpha val="1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20"/>
          <p:cNvSpPr txBox="1"/>
          <p:nvPr/>
        </p:nvSpPr>
        <p:spPr>
          <a:xfrm>
            <a:off x="623392" y="1628800"/>
            <a:ext cx="10894667" cy="4377545"/>
          </a:xfrm>
          <a:prstGeom prst="rect">
            <a:avLst/>
          </a:prstGeom>
        </p:spPr>
        <p:txBody>
          <a:bodyPr wrap="square" lIns="0" tIns="0" rIns="0" bIns="0" rtlCol="0" anchor="t">
            <a:spAutoFit/>
          </a:bodyPr>
          <a:lstStyle/>
          <a:p>
            <a:pPr>
              <a:lnSpc>
                <a:spcPts val="1906"/>
              </a:lnSpc>
            </a:pPr>
            <a:r>
              <a:rPr lang="en-US" sz="1466">
                <a:solidFill>
                  <a:srgbClr val="000000"/>
                </a:solidFill>
                <a:latin typeface="Poppins"/>
                <a:ea typeface="Poppins"/>
                <a:cs typeface="Poppins"/>
                <a:sym typeface="Poppins"/>
              </a:rPr>
              <a:t>We are at a critical inflection point—where the world is changing, and so must we.</a:t>
            </a: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r>
              <a:rPr lang="en-US" b="1">
                <a:solidFill>
                  <a:srgbClr val="000000"/>
                </a:solidFill>
                <a:latin typeface="Poppins"/>
                <a:ea typeface="Poppins"/>
                <a:cs typeface="Poppins"/>
                <a:sym typeface="Poppins"/>
              </a:rPr>
              <a:t>Why Now?</a:t>
            </a:r>
          </a:p>
          <a:p>
            <a:pPr>
              <a:lnSpc>
                <a:spcPts val="1906"/>
              </a:lnSpc>
            </a:pPr>
            <a:r>
              <a:rPr lang="en-US" sz="1466">
                <a:solidFill>
                  <a:srgbClr val="000000"/>
                </a:solidFill>
                <a:latin typeface="Poppins"/>
                <a:ea typeface="Poppins"/>
                <a:cs typeface="Poppins"/>
                <a:sym typeface="Poppins"/>
              </a:rPr>
              <a:t>Because if we want to keep mattering tomorrow, we must redefine how we deliver value today. This is our moment to choose bold change—to leverage the transformational efforts already underway and build a vision of the future that keeps Statistics Canada essential, relevant, and resilient.</a:t>
            </a:r>
            <a:endParaRPr lang="en-US" sz="1466" b="1">
              <a:solidFill>
                <a:srgbClr val="000000"/>
              </a:solidFill>
              <a:latin typeface="Poppins Bold"/>
              <a:ea typeface="Poppins Bold"/>
              <a:cs typeface="Poppins Bold"/>
              <a:sym typeface="Poppins Bold"/>
            </a:endParaRPr>
          </a:p>
        </p:txBody>
      </p:sp>
      <p:sp>
        <p:nvSpPr>
          <p:cNvPr id="21" name="TextBox 21"/>
          <p:cNvSpPr txBox="1"/>
          <p:nvPr/>
        </p:nvSpPr>
        <p:spPr>
          <a:xfrm>
            <a:off x="1883532" y="476672"/>
            <a:ext cx="8424936" cy="800219"/>
          </a:xfrm>
          <a:prstGeom prst="rect">
            <a:avLst/>
          </a:prstGeom>
        </p:spPr>
        <p:txBody>
          <a:bodyPr wrap="square" lIns="0" tIns="0" rIns="0" bIns="0" rtlCol="0" anchor="t">
            <a:spAutoFit/>
          </a:bodyPr>
          <a:lstStyle/>
          <a:p>
            <a:pPr algn="ctr"/>
            <a:r>
              <a:rPr lang="en-US" sz="3200" b="1"/>
              <a:t>Why Now? </a:t>
            </a:r>
          </a:p>
          <a:p>
            <a:pPr algn="ctr"/>
            <a:r>
              <a:rPr lang="en-US" sz="2000" b="1"/>
              <a:t>A Pivotal Moment for Statistics Canada</a:t>
            </a:r>
          </a:p>
        </p:txBody>
      </p:sp>
      <p:sp>
        <p:nvSpPr>
          <p:cNvPr id="25" name="TextBox 24">
            <a:extLst>
              <a:ext uri="{FF2B5EF4-FFF2-40B4-BE49-F238E27FC236}">
                <a16:creationId xmlns:a16="http://schemas.microsoft.com/office/drawing/2014/main" id="{2A1432C8-1A4E-5E1C-61BE-2A247C18F688}"/>
              </a:ext>
            </a:extLst>
          </p:cNvPr>
          <p:cNvSpPr txBox="1"/>
          <p:nvPr/>
        </p:nvSpPr>
        <p:spPr>
          <a:xfrm>
            <a:off x="6672064" y="2090172"/>
            <a:ext cx="4752528" cy="2246769"/>
          </a:xfrm>
          <a:prstGeom prst="rect">
            <a:avLst/>
          </a:prstGeom>
          <a:noFill/>
        </p:spPr>
        <p:txBody>
          <a:bodyPr wrap="square" numCol="1" rtlCol="0">
            <a:spAutoFit/>
          </a:bodyPr>
          <a:lstStyle/>
          <a:p>
            <a:r>
              <a:rPr lang="en-US" sz="1400" b="1" u="sng"/>
              <a:t>Internal Catalysts</a:t>
            </a:r>
          </a:p>
          <a:p>
            <a:pPr marL="171450" indent="-171450">
              <a:buFont typeface="Arial" panose="020B0604020202020204" pitchFamily="34" charset="0"/>
              <a:buChar char="•"/>
            </a:pPr>
            <a:r>
              <a:rPr lang="en-US" sz="1400" b="1"/>
              <a:t>New Chief Statistician </a:t>
            </a:r>
            <a:r>
              <a:rPr lang="en-US" sz="1400"/>
              <a:t>– A change in leadership brings an opportunity to reimagine our future and reassert our value.</a:t>
            </a:r>
          </a:p>
          <a:p>
            <a:pPr marL="171450" indent="-171450">
              <a:buFont typeface="Arial" panose="020B0604020202020204" pitchFamily="34" charset="0"/>
              <a:buChar char="•"/>
            </a:pPr>
            <a:r>
              <a:rPr lang="en-US" sz="1400" b="1"/>
              <a:t>Refocus on our core business </a:t>
            </a:r>
            <a:r>
              <a:rPr lang="en-US" sz="1400"/>
              <a:t>– We are zeroing in on what we do best: producing high-quality, trusted, and impactful data</a:t>
            </a:r>
          </a:p>
          <a:p>
            <a:pPr marL="171450" indent="-171450">
              <a:buFont typeface="Arial" panose="020B0604020202020204" pitchFamily="34" charset="0"/>
              <a:buChar char="•"/>
            </a:pPr>
            <a:r>
              <a:rPr lang="en-US" sz="1400" b="1"/>
              <a:t>Aging systems and declining response rates </a:t>
            </a:r>
            <a:r>
              <a:rPr lang="en-US" sz="1400"/>
              <a:t>– Foundational elements of our work are under strain and need renewal.</a:t>
            </a:r>
          </a:p>
        </p:txBody>
      </p:sp>
      <p:sp>
        <p:nvSpPr>
          <p:cNvPr id="26" name="TextBox 25">
            <a:extLst>
              <a:ext uri="{FF2B5EF4-FFF2-40B4-BE49-F238E27FC236}">
                <a16:creationId xmlns:a16="http://schemas.microsoft.com/office/drawing/2014/main" id="{D13D02DA-4EAC-A3AC-1972-235DE27369D2}"/>
              </a:ext>
            </a:extLst>
          </p:cNvPr>
          <p:cNvSpPr txBox="1"/>
          <p:nvPr/>
        </p:nvSpPr>
        <p:spPr>
          <a:xfrm>
            <a:off x="1199456" y="2090172"/>
            <a:ext cx="5112568" cy="2677656"/>
          </a:xfrm>
          <a:prstGeom prst="rect">
            <a:avLst/>
          </a:prstGeom>
          <a:noFill/>
        </p:spPr>
        <p:txBody>
          <a:bodyPr wrap="square" numCol="1" rtlCol="0">
            <a:spAutoFit/>
          </a:bodyPr>
          <a:lstStyle/>
          <a:p>
            <a:r>
              <a:rPr lang="en-US" sz="1400" b="1" u="sng"/>
              <a:t>External Pressures:</a:t>
            </a:r>
          </a:p>
          <a:p>
            <a:pPr marL="171450" indent="-171450">
              <a:buFont typeface="Arial" panose="020B0604020202020204" pitchFamily="34" charset="0"/>
              <a:buChar char="•"/>
            </a:pPr>
            <a:r>
              <a:rPr lang="en-US" sz="1400" b="1"/>
              <a:t>A faster, more complex world </a:t>
            </a:r>
            <a:r>
              <a:rPr lang="en-US" sz="1400"/>
              <a:t>– The pace of change is accelerating, and the questions we’re being asked are more urgent and nuanced than ever.</a:t>
            </a:r>
          </a:p>
          <a:p>
            <a:pPr marL="171450" indent="-171450">
              <a:buFont typeface="Arial" panose="020B0604020202020204" pitchFamily="34" charset="0"/>
              <a:buChar char="•"/>
            </a:pPr>
            <a:r>
              <a:rPr lang="en-US" sz="1400" b="1"/>
              <a:t>Eroding trust in institutions </a:t>
            </a:r>
            <a:r>
              <a:rPr lang="en-US" sz="1400"/>
              <a:t>– Public confidence is increasingly fragile, amplified by misinformation and disinformation.</a:t>
            </a:r>
          </a:p>
          <a:p>
            <a:pPr marL="171450" indent="-171450">
              <a:buFont typeface="Arial" panose="020B0604020202020204" pitchFamily="34" charset="0"/>
              <a:buChar char="•"/>
            </a:pPr>
            <a:r>
              <a:rPr lang="en-US" sz="1400" b="1"/>
              <a:t>Rising demand for timely, relevant insights </a:t>
            </a:r>
            <a:r>
              <a:rPr lang="en-US" sz="1400"/>
              <a:t>– Canadians and decision-makers expect faster, clearer answers—with no compromise on quality.</a:t>
            </a:r>
          </a:p>
          <a:p>
            <a:pPr marL="171450" indent="-171450">
              <a:buFont typeface="Arial" panose="020B0604020202020204" pitchFamily="34" charset="0"/>
              <a:buChar char="•"/>
            </a:pPr>
            <a:r>
              <a:rPr lang="en-US" sz="1400" b="1"/>
              <a:t>Shrinking government budgets </a:t>
            </a:r>
            <a:r>
              <a:rPr lang="en-US" sz="1400"/>
              <a:t>– We’re expected to deliver more, and better, with fewer resources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txBox="1"/>
          <p:nvPr/>
        </p:nvSpPr>
        <p:spPr>
          <a:xfrm>
            <a:off x="213045" y="1720011"/>
            <a:ext cx="4812250" cy="4462760"/>
          </a:xfrm>
          <a:prstGeom prst="rect">
            <a:avLst/>
          </a:prstGeom>
        </p:spPr>
        <p:txBody>
          <a:bodyPr wrap="square" lIns="0" tIns="0" rIns="0" bIns="0" rtlCol="0" anchor="t">
            <a:spAutoFit/>
          </a:bodyPr>
          <a:lstStyle/>
          <a:p>
            <a:r>
              <a:rPr lang="en-US" sz="1450">
                <a:solidFill>
                  <a:srgbClr val="000000"/>
                </a:solidFill>
                <a:latin typeface="Poppins"/>
                <a:ea typeface="Poppins"/>
                <a:cs typeface="Poppins"/>
                <a:sym typeface="Poppins"/>
              </a:rPr>
              <a:t>We’ve shown that Statistics Canada delivers—especially when it matters most. Now, we’re taking the next step: building on that legacy to become a more agile, efficient, and responsive organization—able to move at speed, adapt to change, and deliver sustainable value in a complex and evolving world.</a:t>
            </a:r>
            <a:endParaRPr lang="en-US">
              <a:ea typeface="Tahoma"/>
              <a:cs typeface="Tahoma"/>
            </a:endParaRPr>
          </a:p>
          <a:p>
            <a:endParaRPr lang="en-US" sz="1450">
              <a:solidFill>
                <a:srgbClr val="000000"/>
              </a:solidFill>
              <a:latin typeface="Poppins"/>
              <a:ea typeface="Poppins"/>
              <a:cs typeface="Poppins"/>
              <a:sym typeface="Poppins"/>
            </a:endParaRPr>
          </a:p>
          <a:p>
            <a:r>
              <a:rPr lang="en-US" sz="1450">
                <a:solidFill>
                  <a:srgbClr val="000000"/>
                </a:solidFill>
                <a:latin typeface="Poppins"/>
                <a:ea typeface="Poppins"/>
                <a:cs typeface="Poppins"/>
                <a:sym typeface="Poppins"/>
              </a:rPr>
              <a:t>This isn’t just about new tools—it’s about shifting our focus from managing process to maximizing impact. Empowering our experts. Deepening our insights. Strengthening our partnerships.</a:t>
            </a:r>
            <a:endParaRPr lang="en-US">
              <a:sym typeface="Poppins"/>
            </a:endParaRPr>
          </a:p>
          <a:p>
            <a:endParaRPr lang="en-US" sz="1450">
              <a:solidFill>
                <a:srgbClr val="000000"/>
              </a:solidFill>
              <a:latin typeface="Poppins"/>
              <a:ea typeface="Poppins"/>
              <a:cs typeface="Poppins"/>
              <a:sym typeface="Poppins"/>
            </a:endParaRPr>
          </a:p>
          <a:p>
            <a:r>
              <a:rPr lang="en-US" sz="1450">
                <a:solidFill>
                  <a:srgbClr val="000000"/>
                </a:solidFill>
                <a:latin typeface="Poppins"/>
                <a:ea typeface="Poppins"/>
                <a:cs typeface="Poppins"/>
                <a:sym typeface="Poppins"/>
              </a:rPr>
              <a:t>The Tier 2 committee visions presented today reflect this shift—and they sit at the heart of our broader transformation model. They help bring to life our shared </a:t>
            </a:r>
            <a:r>
              <a:rPr lang="en-US" sz="1450">
                <a:solidFill>
                  <a:srgbClr val="000000"/>
                </a:solidFill>
                <a:latin typeface="Poppins"/>
                <a:ea typeface="Poppins Bold"/>
                <a:cs typeface="Poppins"/>
                <a:sym typeface="Poppins"/>
              </a:rPr>
              <a:t>objective:</a:t>
            </a:r>
            <a:endParaRPr lang="en-US">
              <a:ea typeface="Tahoma"/>
              <a:cs typeface="Tahoma"/>
            </a:endParaRPr>
          </a:p>
          <a:p>
            <a:pPr algn="ctr"/>
            <a:endParaRPr lang="en-US" sz="1450">
              <a:solidFill>
                <a:srgbClr val="000000"/>
              </a:solidFill>
              <a:latin typeface="Poppins"/>
              <a:ea typeface="Poppins Bold"/>
              <a:cs typeface="Poppins"/>
            </a:endParaRPr>
          </a:p>
          <a:p>
            <a:pPr algn="ctr"/>
            <a:r>
              <a:rPr lang="en-US" sz="1450" b="1">
                <a:solidFill>
                  <a:srgbClr val="000000"/>
                </a:solidFill>
                <a:latin typeface="Poppins"/>
                <a:ea typeface="Poppins Bold"/>
                <a:cs typeface="Poppins"/>
                <a:sym typeface="Poppins"/>
              </a:rPr>
              <a:t>Adapt our statistical programs to the evolving needs and aspirations of Canadians.</a:t>
            </a:r>
            <a:endParaRPr lang="en-US" b="1">
              <a:ea typeface="Tahoma"/>
              <a:cs typeface="Tahoma"/>
            </a:endParaRPr>
          </a:p>
        </p:txBody>
      </p:sp>
      <p:sp>
        <p:nvSpPr>
          <p:cNvPr id="21" name="TextBox 21"/>
          <p:cNvSpPr txBox="1"/>
          <p:nvPr/>
        </p:nvSpPr>
        <p:spPr>
          <a:xfrm>
            <a:off x="214863" y="291092"/>
            <a:ext cx="4812830" cy="1308050"/>
          </a:xfrm>
          <a:prstGeom prst="rect">
            <a:avLst/>
          </a:prstGeom>
        </p:spPr>
        <p:txBody>
          <a:bodyPr wrap="square" lIns="0" tIns="0" rIns="0" bIns="0" rtlCol="0" anchor="t">
            <a:spAutoFit/>
          </a:bodyPr>
          <a:lstStyle/>
          <a:p>
            <a:pPr algn="ctr">
              <a:lnSpc>
                <a:spcPts val="3390"/>
              </a:lnSpc>
            </a:pPr>
            <a:r>
              <a:rPr lang="en-US" sz="2950" b="1" spc="-89">
                <a:solidFill>
                  <a:srgbClr val="000000"/>
                </a:solidFill>
                <a:latin typeface="Poppins Bold"/>
                <a:ea typeface="Poppins Bold"/>
                <a:cs typeface="Poppins Bold"/>
                <a:sym typeface="Poppins Bold"/>
              </a:rPr>
              <a:t>Our Direction:  </a:t>
            </a:r>
            <a:endParaRPr lang="en-US" sz="2950">
              <a:sym typeface="Poppins Bold"/>
            </a:endParaRPr>
          </a:p>
          <a:p>
            <a:pPr algn="ctr">
              <a:lnSpc>
                <a:spcPts val="3390"/>
              </a:lnSpc>
            </a:pPr>
            <a:r>
              <a:rPr lang="en-US" sz="2950" b="1" spc="-89">
                <a:solidFill>
                  <a:srgbClr val="000000"/>
                </a:solidFill>
                <a:latin typeface="Poppins Bold"/>
                <a:ea typeface="Poppins Bold"/>
                <a:cs typeface="Poppins Bold"/>
                <a:sym typeface="Poppins Bold"/>
              </a:rPr>
              <a:t>From managing process </a:t>
            </a:r>
            <a:endParaRPr lang="en-US" sz="2950"/>
          </a:p>
          <a:p>
            <a:pPr algn="ctr">
              <a:lnSpc>
                <a:spcPts val="3390"/>
              </a:lnSpc>
            </a:pPr>
            <a:r>
              <a:rPr lang="en-US" sz="2950" b="1" spc="-89">
                <a:solidFill>
                  <a:srgbClr val="000000"/>
                </a:solidFill>
                <a:latin typeface="Poppins Bold"/>
                <a:ea typeface="Poppins Bold"/>
                <a:cs typeface="Poppins Bold"/>
                <a:sym typeface="Poppins Bold"/>
              </a:rPr>
              <a:t>to maximizing impact</a:t>
            </a:r>
            <a:endParaRPr lang="en-US" sz="2950" b="1" spc="-89">
              <a:solidFill>
                <a:srgbClr val="000000"/>
              </a:solidFill>
              <a:latin typeface="Poppins Bold"/>
              <a:ea typeface="Poppins Bold"/>
              <a:cs typeface="Poppins Bold"/>
            </a:endParaRPr>
          </a:p>
        </p:txBody>
      </p:sp>
      <p:pic>
        <p:nvPicPr>
          <p:cNvPr id="2" name="Picture 1" descr="A diagram of a company&#10;&#10;AI-generated content may be incorrect.">
            <a:extLst>
              <a:ext uri="{FF2B5EF4-FFF2-40B4-BE49-F238E27FC236}">
                <a16:creationId xmlns:a16="http://schemas.microsoft.com/office/drawing/2014/main" id="{8EF4925E-8D78-DF11-DCAC-D1E419C6EDB9}"/>
              </a:ext>
            </a:extLst>
          </p:cNvPr>
          <p:cNvPicPr>
            <a:picLocks noChangeAspect="1"/>
          </p:cNvPicPr>
          <p:nvPr/>
        </p:nvPicPr>
        <p:blipFill>
          <a:blip r:embed="rId2"/>
          <a:stretch>
            <a:fillRect/>
          </a:stretch>
        </p:blipFill>
        <p:spPr>
          <a:xfrm>
            <a:off x="5026121" y="531091"/>
            <a:ext cx="7188970" cy="5426364"/>
          </a:xfrm>
          <a:prstGeom prst="rect">
            <a:avLst/>
          </a:prstGeom>
        </p:spPr>
      </p:pic>
    </p:spTree>
    <p:extLst>
      <p:ext uri="{BB962C8B-B14F-4D97-AF65-F5344CB8AC3E}">
        <p14:creationId xmlns:p14="http://schemas.microsoft.com/office/powerpoint/2010/main" val="294485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6D1B98F7-93EC-9D2D-9183-A4623E98925D}"/>
              </a:ext>
            </a:extLst>
          </p:cNvPr>
          <p:cNvSpPr/>
          <p:nvPr/>
        </p:nvSpPr>
        <p:spPr>
          <a:xfrm>
            <a:off x="0" y="5527301"/>
            <a:ext cx="12192000" cy="1340595"/>
          </a:xfrm>
          <a:prstGeom prst="rect">
            <a:avLst/>
          </a:prstGeom>
          <a:gradFill>
            <a:gsLst>
              <a:gs pos="0">
                <a:schemeClr val="bg1"/>
              </a:gs>
              <a:gs pos="74000">
                <a:schemeClr val="bg1"/>
              </a:gs>
              <a:gs pos="89000">
                <a:schemeClr val="bg1">
                  <a:alpha val="83000"/>
                </a:schemeClr>
              </a:gs>
              <a:gs pos="100000">
                <a:schemeClr val="bg1">
                  <a:alpha val="3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TextBox 31"/>
          <p:cNvSpPr txBox="1"/>
          <p:nvPr/>
        </p:nvSpPr>
        <p:spPr>
          <a:xfrm>
            <a:off x="3041444" y="298929"/>
            <a:ext cx="6109113" cy="436017"/>
          </a:xfrm>
          <a:prstGeom prst="rect">
            <a:avLst/>
          </a:prstGeom>
        </p:spPr>
        <p:txBody>
          <a:bodyPr lIns="0" tIns="0" rIns="0" bIns="0" rtlCol="0" anchor="t">
            <a:spAutoFit/>
          </a:bodyPr>
          <a:lstStyle/>
          <a:p>
            <a:pPr algn="ctr">
              <a:lnSpc>
                <a:spcPts val="3390"/>
              </a:lnSpc>
            </a:pPr>
            <a:r>
              <a:rPr lang="en-US" sz="2999" b="1" spc="-89">
                <a:solidFill>
                  <a:srgbClr val="000000"/>
                </a:solidFill>
                <a:latin typeface="Poppins Bold"/>
                <a:ea typeface="Poppins Bold"/>
                <a:cs typeface="Poppins Bold"/>
                <a:sym typeface="Poppins Bold"/>
              </a:rPr>
              <a:t>Key priorities of the future state</a:t>
            </a:r>
          </a:p>
        </p:txBody>
      </p:sp>
      <p:sp>
        <p:nvSpPr>
          <p:cNvPr id="32" name="TextBox 32"/>
          <p:cNvSpPr txBox="1"/>
          <p:nvPr/>
        </p:nvSpPr>
        <p:spPr>
          <a:xfrm>
            <a:off x="1199457" y="815820"/>
            <a:ext cx="7370203" cy="291618"/>
          </a:xfrm>
          <a:prstGeom prst="rect">
            <a:avLst/>
          </a:prstGeom>
        </p:spPr>
        <p:txBody>
          <a:bodyPr lIns="0" tIns="0" rIns="0" bIns="0" rtlCol="0" anchor="t">
            <a:spAutoFit/>
          </a:bodyPr>
          <a:lstStyle/>
          <a:p>
            <a:pPr>
              <a:lnSpc>
                <a:spcPts val="2371"/>
              </a:lnSpc>
              <a:spcBef>
                <a:spcPct val="0"/>
              </a:spcBef>
            </a:pPr>
            <a:r>
              <a:rPr lang="en-US" sz="1693" b="1">
                <a:solidFill>
                  <a:srgbClr val="000000"/>
                </a:solidFill>
                <a:latin typeface="Poppins Bold"/>
                <a:ea typeface="Poppins Bold"/>
                <a:cs typeface="Poppins Bold"/>
                <a:sym typeface="Poppins Bold"/>
              </a:rPr>
              <a:t>End-to-End Process Automation with Minimal Manual Intervention</a:t>
            </a:r>
          </a:p>
        </p:txBody>
      </p:sp>
      <p:grpSp>
        <p:nvGrpSpPr>
          <p:cNvPr id="46" name="Group 45">
            <a:extLst>
              <a:ext uri="{FF2B5EF4-FFF2-40B4-BE49-F238E27FC236}">
                <a16:creationId xmlns:a16="http://schemas.microsoft.com/office/drawing/2014/main" id="{E930C00D-E629-8C63-0E42-EF5F6DD1085F}"/>
              </a:ext>
            </a:extLst>
          </p:cNvPr>
          <p:cNvGrpSpPr/>
          <p:nvPr/>
        </p:nvGrpSpPr>
        <p:grpSpPr>
          <a:xfrm>
            <a:off x="199513" y="809759"/>
            <a:ext cx="872778" cy="831595"/>
            <a:chOff x="623392" y="1462204"/>
            <a:chExt cx="872778" cy="831595"/>
          </a:xfrm>
        </p:grpSpPr>
        <p:sp>
          <p:nvSpPr>
            <p:cNvPr id="45" name="Hexagon 44">
              <a:extLst>
                <a:ext uri="{FF2B5EF4-FFF2-40B4-BE49-F238E27FC236}">
                  <a16:creationId xmlns:a16="http://schemas.microsoft.com/office/drawing/2014/main" id="{A8CD2CF3-971A-E1D8-5CE9-73DE450D65B4}"/>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Hexagon 43">
              <a:extLst>
                <a:ext uri="{FF2B5EF4-FFF2-40B4-BE49-F238E27FC236}">
                  <a16:creationId xmlns:a16="http://schemas.microsoft.com/office/drawing/2014/main" id="{F29F0A71-2EAC-483B-0B29-F411F84B0140}"/>
                </a:ext>
              </a:extLst>
            </p:cNvPr>
            <p:cNvSpPr/>
            <p:nvPr/>
          </p:nvSpPr>
          <p:spPr>
            <a:xfrm>
              <a:off x="695400" y="1540349"/>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3"/>
            <p:cNvSpPr txBox="1"/>
            <p:nvPr/>
          </p:nvSpPr>
          <p:spPr>
            <a:xfrm>
              <a:off x="832352" y="1631080"/>
              <a:ext cx="454857" cy="500650"/>
            </a:xfrm>
            <a:prstGeom prst="rect">
              <a:avLst/>
            </a:prstGeom>
          </p:spPr>
          <p:txBody>
            <a:bodyPr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01</a:t>
              </a:r>
            </a:p>
          </p:txBody>
        </p:sp>
      </p:grpSp>
      <p:sp>
        <p:nvSpPr>
          <p:cNvPr id="37" name="TextBox 37"/>
          <p:cNvSpPr txBox="1"/>
          <p:nvPr/>
        </p:nvSpPr>
        <p:spPr>
          <a:xfrm>
            <a:off x="1199456" y="1745863"/>
            <a:ext cx="7014593" cy="291683"/>
          </a:xfrm>
          <a:prstGeom prst="rect">
            <a:avLst/>
          </a:prstGeom>
        </p:spPr>
        <p:txBody>
          <a:bodyPr wrap="square"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Surveys as a last resort, not first response</a:t>
            </a:r>
          </a:p>
        </p:txBody>
      </p:sp>
      <p:sp>
        <p:nvSpPr>
          <p:cNvPr id="38" name="TextBox 38"/>
          <p:cNvSpPr txBox="1"/>
          <p:nvPr/>
        </p:nvSpPr>
        <p:spPr>
          <a:xfrm>
            <a:off x="1199457" y="2756784"/>
            <a:ext cx="7120531" cy="291683"/>
          </a:xfrm>
          <a:prstGeom prst="rect">
            <a:avLst/>
          </a:prstGeom>
        </p:spPr>
        <p:txBody>
          <a:bodyPr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Searchable, Usable, Actionable Data Assets</a:t>
            </a:r>
          </a:p>
        </p:txBody>
      </p:sp>
      <p:sp>
        <p:nvSpPr>
          <p:cNvPr id="39" name="TextBox 39"/>
          <p:cNvSpPr txBox="1"/>
          <p:nvPr/>
        </p:nvSpPr>
        <p:spPr>
          <a:xfrm>
            <a:off x="1199457" y="4050119"/>
            <a:ext cx="7120531" cy="291683"/>
          </a:xfrm>
          <a:prstGeom prst="rect">
            <a:avLst/>
          </a:prstGeom>
        </p:spPr>
        <p:txBody>
          <a:bodyPr wrap="square"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Modular, Reusable Architecture and Tools &amp; services</a:t>
            </a:r>
          </a:p>
        </p:txBody>
      </p:sp>
      <p:sp>
        <p:nvSpPr>
          <p:cNvPr id="40" name="TextBox 40"/>
          <p:cNvSpPr txBox="1"/>
          <p:nvPr/>
        </p:nvSpPr>
        <p:spPr>
          <a:xfrm>
            <a:off x="1209243" y="1169799"/>
            <a:ext cx="10426565" cy="466281"/>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Automated, AI-powered data pipelines—from acquisition to dissemination— reduce manual effort, increase speed and quality, and enable real-time responsiveness across all stages of the statistical business process.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Employee input focuses on higher value work, innovation, and interpretation, not execution.</a:t>
            </a:r>
          </a:p>
        </p:txBody>
      </p:sp>
      <p:sp>
        <p:nvSpPr>
          <p:cNvPr id="41" name="TextBox 41"/>
          <p:cNvSpPr txBox="1"/>
          <p:nvPr/>
        </p:nvSpPr>
        <p:spPr>
          <a:xfrm>
            <a:off x="1209243" y="2061797"/>
            <a:ext cx="10426565" cy="620170"/>
          </a:xfrm>
          <a:prstGeom prst="rect">
            <a:avLst/>
          </a:prstGeom>
        </p:spPr>
        <p:txBody>
          <a:bodyPr wrap="square" lIns="0" tIns="0" rIns="0" bIns="0" rtlCol="0" anchor="t">
            <a:spAutoFit/>
          </a:bodyPr>
          <a:lstStyle/>
          <a:p>
            <a:pPr marL="224155" lvl="1" indent="-111760" algn="just">
              <a:lnSpc>
                <a:spcPts val="1246"/>
              </a:lnSpc>
              <a:buFont typeface="Arial"/>
              <a:buChar char="•"/>
            </a:pPr>
            <a:r>
              <a:rPr lang="en-US" sz="1200">
                <a:solidFill>
                  <a:srgbClr val="000000"/>
                </a:solidFill>
                <a:latin typeface="Poppins"/>
                <a:ea typeface="Poppins"/>
                <a:cs typeface="Poppins"/>
                <a:sym typeface="Poppins"/>
              </a:rPr>
              <a:t>Exploiting existing data holdings is the first response for new/existing data needs. Admin data and alternative data is the second response for new/existing data needs. Surveys are only used if necessary and are optimized dynamically based on cost-benefit analysis.</a:t>
            </a:r>
            <a:endParaRPr lang="en-US" sz="1200">
              <a:solidFill>
                <a:srgbClr val="000000"/>
              </a:solidFill>
              <a:latin typeface="Poppins"/>
              <a:ea typeface="Poppins"/>
              <a:cs typeface="Poppins"/>
            </a:endParaRPr>
          </a:p>
          <a:p>
            <a:pPr marL="224155" lvl="1" indent="-111760" algn="just">
              <a:lnSpc>
                <a:spcPts val="1246"/>
              </a:lnSpc>
              <a:buFont typeface="Arial"/>
              <a:buChar char="•"/>
            </a:pPr>
            <a:r>
              <a:rPr lang="en-US" sz="1200">
                <a:solidFill>
                  <a:srgbClr val="000000"/>
                </a:solidFill>
                <a:latin typeface="Poppins"/>
                <a:ea typeface="Poppins"/>
                <a:cs typeface="Poppins"/>
                <a:sym typeface="Poppins"/>
              </a:rPr>
              <a:t>Designing, rendering and fielding a questionnaire is done using AI and takes no more than X time</a:t>
            </a:r>
            <a:endParaRPr lang="en-US" sz="1200">
              <a:solidFill>
                <a:srgbClr val="000000"/>
              </a:solidFill>
              <a:latin typeface="Poppins"/>
              <a:ea typeface="Poppins"/>
              <a:cs typeface="Poppins"/>
            </a:endParaRPr>
          </a:p>
        </p:txBody>
      </p:sp>
      <p:sp>
        <p:nvSpPr>
          <p:cNvPr id="42" name="TextBox 42"/>
          <p:cNvSpPr txBox="1"/>
          <p:nvPr/>
        </p:nvSpPr>
        <p:spPr>
          <a:xfrm>
            <a:off x="1209244" y="3122173"/>
            <a:ext cx="10426564" cy="927946"/>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All data and metadata are standardized, richly described, and machine-actionable—built for interoperability and reuse across tools, systems, and organizations.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Discovery, understanding, and use are seamless for all types of users—whether human or machine—through APIs, metadata tagging, and open formats.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Our data ecosystem empowers internal and external users to find, consume, and transform data into new insights, products, and services.</a:t>
            </a:r>
          </a:p>
        </p:txBody>
      </p:sp>
      <p:sp>
        <p:nvSpPr>
          <p:cNvPr id="43" name="TextBox 43"/>
          <p:cNvSpPr txBox="1"/>
          <p:nvPr/>
        </p:nvSpPr>
        <p:spPr>
          <a:xfrm>
            <a:off x="1214053" y="4410159"/>
            <a:ext cx="10426564" cy="615553"/>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The organization has modular tools and microservices to increase agility, maintainability, and reuse across programs.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Business areas are empowered to prototype and develop smart solutions using supported self-service environments, with guardrails and shared libraries.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Open-source tools are the default, and employees openly share their code.</a:t>
            </a:r>
          </a:p>
        </p:txBody>
      </p:sp>
      <p:grpSp>
        <p:nvGrpSpPr>
          <p:cNvPr id="47" name="Group 46">
            <a:extLst>
              <a:ext uri="{FF2B5EF4-FFF2-40B4-BE49-F238E27FC236}">
                <a16:creationId xmlns:a16="http://schemas.microsoft.com/office/drawing/2014/main" id="{F83F192F-E46A-5D38-3627-6AF8D3E31312}"/>
              </a:ext>
            </a:extLst>
          </p:cNvPr>
          <p:cNvGrpSpPr/>
          <p:nvPr/>
        </p:nvGrpSpPr>
        <p:grpSpPr>
          <a:xfrm>
            <a:off x="191344" y="1745863"/>
            <a:ext cx="872778" cy="831595"/>
            <a:chOff x="623392" y="1462204"/>
            <a:chExt cx="872778" cy="831595"/>
          </a:xfrm>
        </p:grpSpPr>
        <p:sp>
          <p:nvSpPr>
            <p:cNvPr id="48" name="Hexagon 47">
              <a:extLst>
                <a:ext uri="{FF2B5EF4-FFF2-40B4-BE49-F238E27FC236}">
                  <a16:creationId xmlns:a16="http://schemas.microsoft.com/office/drawing/2014/main" id="{130A73BA-D6DB-00E4-CC94-D10D387ADDE5}"/>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Hexagon 48">
              <a:extLst>
                <a:ext uri="{FF2B5EF4-FFF2-40B4-BE49-F238E27FC236}">
                  <a16:creationId xmlns:a16="http://schemas.microsoft.com/office/drawing/2014/main" id="{1D96198F-B7E4-2587-B94B-515F44FE997E}"/>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TextBox 33">
              <a:extLst>
                <a:ext uri="{FF2B5EF4-FFF2-40B4-BE49-F238E27FC236}">
                  <a16:creationId xmlns:a16="http://schemas.microsoft.com/office/drawing/2014/main" id="{BD464848-95CA-E776-1CCE-0599F77D3FF5}"/>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02</a:t>
              </a:r>
            </a:p>
          </p:txBody>
        </p:sp>
      </p:grpSp>
      <p:grpSp>
        <p:nvGrpSpPr>
          <p:cNvPr id="53" name="Group 52">
            <a:extLst>
              <a:ext uri="{FF2B5EF4-FFF2-40B4-BE49-F238E27FC236}">
                <a16:creationId xmlns:a16="http://schemas.microsoft.com/office/drawing/2014/main" id="{87529470-4ED8-422A-77A0-7678DC77E83E}"/>
              </a:ext>
            </a:extLst>
          </p:cNvPr>
          <p:cNvGrpSpPr/>
          <p:nvPr/>
        </p:nvGrpSpPr>
        <p:grpSpPr>
          <a:xfrm>
            <a:off x="191344" y="2753975"/>
            <a:ext cx="872778" cy="831595"/>
            <a:chOff x="623392" y="1462204"/>
            <a:chExt cx="872778" cy="831595"/>
          </a:xfrm>
        </p:grpSpPr>
        <p:sp>
          <p:nvSpPr>
            <p:cNvPr id="54" name="Hexagon 53">
              <a:extLst>
                <a:ext uri="{FF2B5EF4-FFF2-40B4-BE49-F238E27FC236}">
                  <a16:creationId xmlns:a16="http://schemas.microsoft.com/office/drawing/2014/main" id="{43FA7FE5-850F-2CD6-B2D3-E255D8D473B2}"/>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Hexagon 54">
              <a:extLst>
                <a:ext uri="{FF2B5EF4-FFF2-40B4-BE49-F238E27FC236}">
                  <a16:creationId xmlns:a16="http://schemas.microsoft.com/office/drawing/2014/main" id="{145A7D7A-DE9E-6A5D-00BF-7BEB97DAB56E}"/>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TextBox 33">
              <a:extLst>
                <a:ext uri="{FF2B5EF4-FFF2-40B4-BE49-F238E27FC236}">
                  <a16:creationId xmlns:a16="http://schemas.microsoft.com/office/drawing/2014/main" id="{E1032D0D-6D29-60D6-5BD8-AEC4688A3375}"/>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03</a:t>
              </a:r>
            </a:p>
          </p:txBody>
        </p:sp>
      </p:grpSp>
      <p:grpSp>
        <p:nvGrpSpPr>
          <p:cNvPr id="57" name="Group 56">
            <a:extLst>
              <a:ext uri="{FF2B5EF4-FFF2-40B4-BE49-F238E27FC236}">
                <a16:creationId xmlns:a16="http://schemas.microsoft.com/office/drawing/2014/main" id="{01D7CD04-3D69-8A28-1BDF-5FB2FDB8ECD9}"/>
              </a:ext>
            </a:extLst>
          </p:cNvPr>
          <p:cNvGrpSpPr/>
          <p:nvPr/>
        </p:nvGrpSpPr>
        <p:grpSpPr>
          <a:xfrm>
            <a:off x="191344" y="4050119"/>
            <a:ext cx="872778" cy="831595"/>
            <a:chOff x="623392" y="1462204"/>
            <a:chExt cx="872778" cy="831595"/>
          </a:xfrm>
        </p:grpSpPr>
        <p:sp>
          <p:nvSpPr>
            <p:cNvPr id="58" name="Hexagon 57">
              <a:extLst>
                <a:ext uri="{FF2B5EF4-FFF2-40B4-BE49-F238E27FC236}">
                  <a16:creationId xmlns:a16="http://schemas.microsoft.com/office/drawing/2014/main" id="{A31A2FBE-1D51-E30E-69BA-D4015F7FA742}"/>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Hexagon 58">
              <a:extLst>
                <a:ext uri="{FF2B5EF4-FFF2-40B4-BE49-F238E27FC236}">
                  <a16:creationId xmlns:a16="http://schemas.microsoft.com/office/drawing/2014/main" id="{A95951C5-EB7A-717D-FB90-89796CAD78B0}"/>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TextBox 33">
              <a:extLst>
                <a:ext uri="{FF2B5EF4-FFF2-40B4-BE49-F238E27FC236}">
                  <a16:creationId xmlns:a16="http://schemas.microsoft.com/office/drawing/2014/main" id="{F139BB68-E5D3-4B53-A4AE-CB94547826E1}"/>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04</a:t>
              </a:r>
            </a:p>
          </p:txBody>
        </p:sp>
      </p:grpSp>
      <p:sp>
        <p:nvSpPr>
          <p:cNvPr id="61" name="TextBox 39">
            <a:extLst>
              <a:ext uri="{FF2B5EF4-FFF2-40B4-BE49-F238E27FC236}">
                <a16:creationId xmlns:a16="http://schemas.microsoft.com/office/drawing/2014/main" id="{B691EEE2-2AB1-FCE2-65DA-784818452525}"/>
              </a:ext>
            </a:extLst>
          </p:cNvPr>
          <p:cNvSpPr txBox="1"/>
          <p:nvPr/>
        </p:nvSpPr>
        <p:spPr>
          <a:xfrm>
            <a:off x="1199457" y="5130239"/>
            <a:ext cx="7120531" cy="291683"/>
          </a:xfrm>
          <a:prstGeom prst="rect">
            <a:avLst/>
          </a:prstGeom>
        </p:spPr>
        <p:txBody>
          <a:bodyPr wrap="square"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A Modern, Insight-Driven Workforce</a:t>
            </a:r>
          </a:p>
        </p:txBody>
      </p:sp>
      <p:sp>
        <p:nvSpPr>
          <p:cNvPr id="62" name="TextBox 43">
            <a:extLst>
              <a:ext uri="{FF2B5EF4-FFF2-40B4-BE49-F238E27FC236}">
                <a16:creationId xmlns:a16="http://schemas.microsoft.com/office/drawing/2014/main" id="{60B9883F-A292-189E-B949-63180EDB3C2D}"/>
              </a:ext>
            </a:extLst>
          </p:cNvPr>
          <p:cNvSpPr txBox="1"/>
          <p:nvPr/>
        </p:nvSpPr>
        <p:spPr>
          <a:xfrm>
            <a:off x="1214053" y="5478692"/>
            <a:ext cx="10426563" cy="1235723"/>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Analysts and researchers focus on value-add insight, not operational tasks—spending more time understanding context, building relationships, and generating actionable analysis.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Teams are curious, agile, and versatile—fluent in open-source tools, data science methods, and collaborative problem-solving across disciplines.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Analysts work in multidisciplinary teams that integrate design, technology, and subject matter expertise to deliver user-centered solutions.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Decisions are made by clearly designated owners—not by group consensus—but they are communicated and understood by those affected</a:t>
            </a:r>
          </a:p>
        </p:txBody>
      </p:sp>
      <p:grpSp>
        <p:nvGrpSpPr>
          <p:cNvPr id="63" name="Group 62">
            <a:extLst>
              <a:ext uri="{FF2B5EF4-FFF2-40B4-BE49-F238E27FC236}">
                <a16:creationId xmlns:a16="http://schemas.microsoft.com/office/drawing/2014/main" id="{42382569-480F-60AC-B33E-58D5C67C9223}"/>
              </a:ext>
            </a:extLst>
          </p:cNvPr>
          <p:cNvGrpSpPr/>
          <p:nvPr/>
        </p:nvGrpSpPr>
        <p:grpSpPr>
          <a:xfrm>
            <a:off x="191344" y="5130239"/>
            <a:ext cx="872778" cy="831595"/>
            <a:chOff x="623392" y="1462204"/>
            <a:chExt cx="872778" cy="831595"/>
          </a:xfrm>
        </p:grpSpPr>
        <p:sp>
          <p:nvSpPr>
            <p:cNvPr id="64" name="Hexagon 63">
              <a:extLst>
                <a:ext uri="{FF2B5EF4-FFF2-40B4-BE49-F238E27FC236}">
                  <a16:creationId xmlns:a16="http://schemas.microsoft.com/office/drawing/2014/main" id="{5FE3518B-36E9-F632-D520-21846A86135B}"/>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Hexagon 64">
              <a:extLst>
                <a:ext uri="{FF2B5EF4-FFF2-40B4-BE49-F238E27FC236}">
                  <a16:creationId xmlns:a16="http://schemas.microsoft.com/office/drawing/2014/main" id="{95D024C5-30FA-1069-CD96-9A17B79E1DE2}"/>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TextBox 33">
              <a:extLst>
                <a:ext uri="{FF2B5EF4-FFF2-40B4-BE49-F238E27FC236}">
                  <a16:creationId xmlns:a16="http://schemas.microsoft.com/office/drawing/2014/main" id="{2581B1DC-5A8F-2B64-D476-7F40F2C3BFBF}"/>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DB69A-52E0-7050-6E07-C562EE512515}"/>
              </a:ext>
            </a:extLst>
          </p:cNvPr>
          <p:cNvSpPr>
            <a:spLocks noGrp="1"/>
          </p:cNvSpPr>
          <p:nvPr>
            <p:ph type="title"/>
          </p:nvPr>
        </p:nvSpPr>
        <p:spPr/>
        <p:txBody>
          <a:bodyPr/>
          <a:lstStyle/>
          <a:p>
            <a:r>
              <a:rPr lang="fr-CA"/>
              <a:t>Next </a:t>
            </a:r>
            <a:r>
              <a:rPr lang="fr-CA" err="1"/>
              <a:t>steps</a:t>
            </a:r>
            <a:endParaRPr lang="en-CA"/>
          </a:p>
        </p:txBody>
      </p:sp>
      <p:sp>
        <p:nvSpPr>
          <p:cNvPr id="3" name="Content Placeholder 2">
            <a:extLst>
              <a:ext uri="{FF2B5EF4-FFF2-40B4-BE49-F238E27FC236}">
                <a16:creationId xmlns:a16="http://schemas.microsoft.com/office/drawing/2014/main" id="{2AFCF3BF-E2A3-5886-86EF-165CD9B6E27A}"/>
              </a:ext>
            </a:extLst>
          </p:cNvPr>
          <p:cNvSpPr>
            <a:spLocks noGrp="1"/>
          </p:cNvSpPr>
          <p:nvPr>
            <p:ph sz="half" idx="10"/>
          </p:nvPr>
        </p:nvSpPr>
        <p:spPr>
          <a:xfrm>
            <a:off x="434083" y="1412776"/>
            <a:ext cx="11449272" cy="4724092"/>
          </a:xfrm>
        </p:spPr>
        <p:txBody>
          <a:bodyPr lIns="91440" tIns="45720" rIns="91440" bIns="45720" anchor="t"/>
          <a:lstStyle/>
          <a:p>
            <a:r>
              <a:rPr lang="en-US" sz="2000"/>
              <a:t>What you’ve seen today is more than a collection of committee visions—it’s a shared picture of the organization we want to become. A faster, more flexible, and more connected Statistics Canada—one that leads with insight, empowers its people, and meets the needs of a changing world. This is a moment to build on the momentum we already have, and to commit to delivering—not just planning—for the future.</a:t>
            </a:r>
            <a:endParaRPr lang="en-US"/>
          </a:p>
          <a:p>
            <a:endParaRPr lang="en-US" sz="2000">
              <a:ea typeface="Tahoma"/>
              <a:cs typeface="Tahoma"/>
            </a:endParaRPr>
          </a:p>
          <a:p>
            <a:r>
              <a:rPr lang="en-US" sz="2000"/>
              <a:t>To ensure we deliver on the vision presented today:</a:t>
            </a:r>
            <a:endParaRPr lang="en-US" sz="2000">
              <a:ea typeface="Tahoma"/>
              <a:cs typeface="Tahoma"/>
            </a:endParaRPr>
          </a:p>
          <a:p>
            <a:pPr lvl="1">
              <a:buFont typeface="Arial" panose="020B0604020202020204" pitchFamily="34" charset="0"/>
              <a:buChar char="•"/>
            </a:pPr>
            <a:r>
              <a:rPr lang="en-US" sz="1800" b="1"/>
              <a:t>The Business Planning team will return to EMC with a focused execution proposal</a:t>
            </a:r>
            <a:r>
              <a:rPr lang="en-US" sz="1800"/>
              <a:t> to address execution gaps. Once approved, the recommendation is to tie the execution to executive PMAs.</a:t>
            </a:r>
            <a:endParaRPr lang="en-US" sz="1800">
              <a:ea typeface="Tahoma"/>
              <a:cs typeface="Tahoma"/>
            </a:endParaRPr>
          </a:p>
          <a:p>
            <a:pPr lvl="1">
              <a:buFont typeface="Arial" panose="020B0604020202020204" pitchFamily="34" charset="0"/>
              <a:buChar char="•"/>
            </a:pPr>
            <a:r>
              <a:rPr lang="en-US" sz="1800" b="1"/>
              <a:t>The Transformation Unit will link structure, processes, data and technology with the </a:t>
            </a:r>
            <a:r>
              <a:rPr lang="en-US" sz="1800"/>
              <a:t>organization’s</a:t>
            </a:r>
            <a:r>
              <a:rPr lang="en-US" sz="1800" b="1"/>
              <a:t> strategic goals and objectives</a:t>
            </a:r>
            <a:r>
              <a:rPr lang="en-US" sz="1800"/>
              <a:t>.</a:t>
            </a:r>
            <a:endParaRPr lang="en-US" sz="1800">
              <a:ea typeface="Tahoma"/>
              <a:cs typeface="Tahoma"/>
            </a:endParaRPr>
          </a:p>
          <a:p>
            <a:pPr lvl="1">
              <a:buFont typeface="Arial" panose="020B0604020202020204" pitchFamily="34" charset="0"/>
              <a:buChar char="•"/>
            </a:pPr>
            <a:r>
              <a:rPr lang="en-US" sz="1800"/>
              <a:t>The </a:t>
            </a:r>
            <a:r>
              <a:rPr lang="en-US" sz="1800" b="1"/>
              <a:t>visions presented today will be shared with all executives</a:t>
            </a:r>
            <a:r>
              <a:rPr lang="en-US" sz="1800"/>
              <a:t> during the Strategic Alignment Session to ensure broad engagement. </a:t>
            </a:r>
            <a:endParaRPr lang="en-US" sz="1800">
              <a:ea typeface="Tahoma"/>
              <a:cs typeface="Tahoma"/>
            </a:endParaRPr>
          </a:p>
          <a:p>
            <a:pPr lvl="1">
              <a:buFont typeface="Arial" panose="020B0604020202020204" pitchFamily="34" charset="0"/>
              <a:buChar char="•"/>
            </a:pPr>
            <a:r>
              <a:rPr lang="en-US" sz="1800" b="1"/>
              <a:t>These visions will directly inform Tier 2 governance priorities and annual objectives</a:t>
            </a:r>
            <a:r>
              <a:rPr lang="en-US" sz="1800"/>
              <a:t>, anchoring transformation in leadership accountability.</a:t>
            </a:r>
            <a:endParaRPr lang="en-US" sz="1800">
              <a:ea typeface="Tahoma"/>
              <a:cs typeface="Tahoma"/>
            </a:endParaRPr>
          </a:p>
        </p:txBody>
      </p:sp>
      <p:sp>
        <p:nvSpPr>
          <p:cNvPr id="4" name="Slide Number Placeholder 3">
            <a:extLst>
              <a:ext uri="{FF2B5EF4-FFF2-40B4-BE49-F238E27FC236}">
                <a16:creationId xmlns:a16="http://schemas.microsoft.com/office/drawing/2014/main" id="{AC33D0A8-81C3-60A4-D348-F5531F0F01C9}"/>
              </a:ext>
            </a:extLst>
          </p:cNvPr>
          <p:cNvSpPr>
            <a:spLocks noGrp="1"/>
          </p:cNvSpPr>
          <p:nvPr>
            <p:ph type="sldNum" sz="quarter" idx="4"/>
          </p:nvPr>
        </p:nvSpPr>
        <p:spPr/>
        <p:txBody>
          <a:bodyPr/>
          <a:lstStyle/>
          <a:p>
            <a:fld id="{D07C759C-DCD0-4873-B392-A44DD08CD415}" type="slidenum">
              <a:rPr lang="en-CA" smtClean="0"/>
              <a:t>6</a:t>
            </a:fld>
            <a:endParaRPr lang="en-CA"/>
          </a:p>
        </p:txBody>
      </p:sp>
    </p:spTree>
    <p:extLst>
      <p:ext uri="{BB962C8B-B14F-4D97-AF65-F5344CB8AC3E}">
        <p14:creationId xmlns:p14="http://schemas.microsoft.com/office/powerpoint/2010/main" val="2623533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Data In</a:t>
            </a:r>
          </a:p>
        </p:txBody>
      </p:sp>
    </p:spTree>
    <p:extLst>
      <p:ext uri="{BB962C8B-B14F-4D97-AF65-F5344CB8AC3E}">
        <p14:creationId xmlns:p14="http://schemas.microsoft.com/office/powerpoint/2010/main" val="1652901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63311A-EE1B-CE77-16D4-D68A00DAC5DB}"/>
              </a:ext>
            </a:extLst>
          </p:cNvPr>
          <p:cNvSpPr>
            <a:spLocks noGrp="1"/>
          </p:cNvSpPr>
          <p:nvPr>
            <p:ph type="sldNum" sz="quarter" idx="12"/>
          </p:nvPr>
        </p:nvSpPr>
        <p:spPr/>
        <p:txBody>
          <a:bodyPr/>
          <a:lstStyle/>
          <a:p>
            <a:fld id="{B6F15528-21DE-4FAA-801E-634DDDAF4B2B}" type="slidenum">
              <a:rPr lang="en-US" smtClean="0"/>
              <a:pPr/>
              <a:t>8</a:t>
            </a:fld>
            <a:endParaRPr lang="en-US"/>
          </a:p>
        </p:txBody>
      </p:sp>
      <p:graphicFrame>
        <p:nvGraphicFramePr>
          <p:cNvPr id="3" name="Content Placeholder 4">
            <a:extLst>
              <a:ext uri="{FF2B5EF4-FFF2-40B4-BE49-F238E27FC236}">
                <a16:creationId xmlns:a16="http://schemas.microsoft.com/office/drawing/2014/main" id="{4A2DF229-34C2-3CD9-DD44-5DCC595E4D16}"/>
              </a:ext>
            </a:extLst>
          </p:cNvPr>
          <p:cNvGraphicFramePr>
            <a:graphicFrameLocks/>
          </p:cNvGraphicFramePr>
          <p:nvPr>
            <p:extLst>
              <p:ext uri="{D42A27DB-BD31-4B8C-83A1-F6EECF244321}">
                <p14:modId xmlns:p14="http://schemas.microsoft.com/office/powerpoint/2010/main" val="4172907351"/>
              </p:ext>
            </p:extLst>
          </p:nvPr>
        </p:nvGraphicFramePr>
        <p:xfrm>
          <a:off x="0" y="0"/>
          <a:ext cx="12191999" cy="6324600"/>
        </p:xfrm>
        <a:graphic>
          <a:graphicData uri="http://schemas.openxmlformats.org/drawingml/2006/table">
            <a:tbl>
              <a:tblPr firstRow="1" bandRow="1">
                <a:tableStyleId>{5C22544A-7EE6-4342-B048-85BDC9FD1C3A}</a:tableStyleId>
              </a:tblPr>
              <a:tblGrid>
                <a:gridCol w="1754066">
                  <a:extLst>
                    <a:ext uri="{9D8B030D-6E8A-4147-A177-3AD203B41FA5}">
                      <a16:colId xmlns:a16="http://schemas.microsoft.com/office/drawing/2014/main" val="1254341238"/>
                    </a:ext>
                  </a:extLst>
                </a:gridCol>
                <a:gridCol w="4745130">
                  <a:extLst>
                    <a:ext uri="{9D8B030D-6E8A-4147-A177-3AD203B41FA5}">
                      <a16:colId xmlns:a16="http://schemas.microsoft.com/office/drawing/2014/main" val="787205594"/>
                    </a:ext>
                  </a:extLst>
                </a:gridCol>
                <a:gridCol w="5692803">
                  <a:extLst>
                    <a:ext uri="{9D8B030D-6E8A-4147-A177-3AD203B41FA5}">
                      <a16:colId xmlns:a16="http://schemas.microsoft.com/office/drawing/2014/main" val="196609952"/>
                    </a:ext>
                  </a:extLst>
                </a:gridCol>
              </a:tblGrid>
              <a:tr h="811771">
                <a:tc>
                  <a:txBody>
                    <a:bodyPr/>
                    <a:lstStyle/>
                    <a:p>
                      <a:pPr algn="ctr"/>
                      <a:r>
                        <a:rPr lang="en-CA"/>
                        <a:t>Vision</a:t>
                      </a:r>
                    </a:p>
                  </a:txBody>
                  <a:tcPr anchor="ctr"/>
                </a:tc>
                <a:tc>
                  <a:txBody>
                    <a:bodyPr/>
                    <a:lstStyle/>
                    <a:p>
                      <a:pPr algn="ctr"/>
                      <a:r>
                        <a:rPr lang="en-CA"/>
                        <a:t>Strategic Priorities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Action Plan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a:t>(and implicated GSBPM steps)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a:p>
                    <a:p>
                      <a:pPr>
                        <a:lnSpc>
                          <a:spcPct val="100000"/>
                        </a:lnSpc>
                      </a:pPr>
                      <a:r>
                        <a:rPr lang="en-CA" sz="700"/>
                        <a:t>1.4  Identify concepts / 1.5 Check Data Availability</a:t>
                      </a:r>
                    </a:p>
                    <a:p>
                      <a:pPr>
                        <a:lnSpc>
                          <a:spcPct val="100000"/>
                        </a:lnSpc>
                      </a:pPr>
                      <a:endParaRPr lang="en-CA" sz="700"/>
                    </a:p>
                    <a:p>
                      <a:pPr>
                        <a:lnSpc>
                          <a:spcPct val="100000"/>
                        </a:lnSpc>
                      </a:pPr>
                      <a:r>
                        <a:rPr lang="en-CA" sz="700"/>
                        <a:t>2.4  Design Data Collection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kern="1200">
                        <a:solidFill>
                          <a:schemeClr val="dk1"/>
                        </a:solidFill>
                        <a:effectLst/>
                      </a:endParaRPr>
                    </a:p>
                    <a:p>
                      <a:pPr>
                        <a:lnSpc>
                          <a:spcPct val="100000"/>
                        </a:lnSpc>
                      </a:pPr>
                      <a:r>
                        <a:rPr lang="en-CA" sz="700"/>
                        <a:t>3.1  R-use or build collection instruments</a:t>
                      </a:r>
                    </a:p>
                    <a:p>
                      <a:pPr>
                        <a:lnSpc>
                          <a:spcPct val="100000"/>
                        </a:lnSpc>
                      </a:pPr>
                      <a:endParaRPr lang="en-CA" sz="700"/>
                    </a:p>
                    <a:p>
                      <a:pPr>
                        <a:lnSpc>
                          <a:spcPct val="100000"/>
                        </a:lnSpc>
                      </a:pPr>
                      <a:r>
                        <a:rPr lang="en-CA" sz="700"/>
                        <a:t>4.1  Create frame and select sample / 4.2  Set up collection / 4.3 Run collection / 4.4 Finalise collection</a:t>
                      </a:r>
                      <a:endParaRPr lang="en-CA"/>
                    </a:p>
                    <a:p>
                      <a:pPr algn="ctr"/>
                      <a:endParaRPr lang="en-CA"/>
                    </a:p>
                  </a:txBody>
                  <a:tcPr anchor="ctr"/>
                </a:tc>
                <a:extLst>
                  <a:ext uri="{0D108BD9-81ED-4DB2-BD59-A6C34878D82A}">
                    <a16:rowId xmlns:a16="http://schemas.microsoft.com/office/drawing/2014/main" val="1652864760"/>
                  </a:ext>
                </a:extLst>
              </a:tr>
              <a:tr h="859252">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Subject matter </a:t>
                      </a:r>
                      <a:r>
                        <a:rPr lang="en-US" sz="1000" kern="1200" err="1">
                          <a:solidFill>
                            <a:schemeClr val="dk1"/>
                          </a:solidFill>
                          <a:effectLst/>
                        </a:rPr>
                        <a:t>centres</a:t>
                      </a:r>
                      <a:r>
                        <a:rPr lang="en-US" sz="1000" kern="1200">
                          <a:solidFill>
                            <a:schemeClr val="dk1"/>
                          </a:solidFill>
                          <a:effectLst/>
                        </a:rPr>
                        <a:t> are able to respond to new data requirements by designing and implementing statistical programs more quickly and at lower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kern="1200">
                        <a:solidFill>
                          <a:schemeClr val="dk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Tradeoffs between statistical quality and cost are fully-informed and evidence-based</a:t>
                      </a:r>
                    </a:p>
                    <a:p>
                      <a:endParaRPr lang="en-CA"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Accountabilities and roles and responsibilities related to data acquisition are defined based on function and are understood across the organization</a:t>
                      </a:r>
                      <a:endParaRPr lang="en-CA" sz="1000" kern="1200">
                        <a:solidFill>
                          <a:schemeClr val="dk1"/>
                        </a:solidFill>
                        <a:effectLst/>
                      </a:endParaRPr>
                    </a:p>
                    <a:p>
                      <a:endParaRPr lang="en-CA" sz="1000"/>
                    </a:p>
                  </a:txBody>
                  <a:tcPr/>
                </a:tc>
                <a:tc>
                  <a:txBody>
                    <a:bodyPr/>
                    <a:lstStyle/>
                    <a:p>
                      <a:pPr marL="171450" indent="-171450">
                        <a:buFont typeface="Arial" panose="020B0604020202020204" pitchFamily="34" charset="0"/>
                        <a:buChar char="•"/>
                      </a:pPr>
                      <a:r>
                        <a:rPr lang="en-CA" sz="1000"/>
                        <a:t>Clear delineation sponsor (subject matter) roles and accountabilities, based on the minimum requirement that sponsors / subject matter are responsible for specification and certification (1.4, 1.5, 3.1, 4.4)</a:t>
                      </a:r>
                    </a:p>
                    <a:p>
                      <a:pPr marL="171450" indent="-171450">
                        <a:buFont typeface="Arial" panose="020B0604020202020204" pitchFamily="34" charset="0"/>
                        <a:buChar char="•"/>
                      </a:pPr>
                      <a:r>
                        <a:rPr lang="en-CA" sz="1000"/>
                        <a:t>Full transfer of accountabilities for activities and functions related to data acquisition and collection to suppliers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a:solidFill>
                            <a:schemeClr val="tx1"/>
                          </a:solidFill>
                        </a:rPr>
                        <a:t>Elimination of ‘dual accountabilities’ which can lead to disincentives to speed and statistical </a:t>
                      </a:r>
                      <a:r>
                        <a:rPr lang="en-US" sz="1000" b="0" u="none" strike="noStrike" kern="1200" err="1">
                          <a:solidFill>
                            <a:schemeClr val="tx1"/>
                          </a:solidFill>
                        </a:rPr>
                        <a:t>rigour</a:t>
                      </a:r>
                      <a:endParaRPr lang="en-US" sz="1000" b="0" u="none" strike="noStrike" kern="120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u="none" strike="noStrike" kern="120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000"/>
                    </a:p>
                  </a:txBody>
                  <a:tcPr/>
                </a:tc>
                <a:extLst>
                  <a:ext uri="{0D108BD9-81ED-4DB2-BD59-A6C34878D82A}">
                    <a16:rowId xmlns:a16="http://schemas.microsoft.com/office/drawing/2014/main" val="575836902"/>
                  </a:ext>
                </a:extLst>
              </a:tr>
              <a:tr h="1310640">
                <a:tc vMerge="1">
                  <a:txBody>
                    <a:bodyPr/>
                    <a:lstStyle/>
                    <a:p>
                      <a:endParaRPr lang="en-C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Existing data holding are exploited to the greatest extent possible.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New data needs are addressed to the greatest extent possible through administrative and alternative data, with household and business surveys being conducted only when necessary.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The length and response burden of questionnaires is </a:t>
                      </a:r>
                      <a:r>
                        <a:rPr kumimoji="0" lang="en-US" sz="1000" b="0" u="none" strike="noStrike" kern="1200" cap="none" spc="0" normalizeH="0" baseline="0" noProof="0" err="1">
                          <a:ln>
                            <a:noFill/>
                          </a:ln>
                          <a:solidFill>
                            <a:prstClr val="black"/>
                          </a:solidFill>
                          <a:effectLst/>
                          <a:uLnTx/>
                          <a:uFillTx/>
                        </a:rPr>
                        <a:t>optimised</a:t>
                      </a:r>
                      <a:r>
                        <a:rPr kumimoji="0" lang="en-US" sz="1000" b="0" u="none" strike="noStrike" kern="1200" cap="none" spc="0" normalizeH="0" baseline="0" noProof="0">
                          <a:ln>
                            <a:noFill/>
                          </a:ln>
                          <a:solidFill>
                            <a:prstClr val="black"/>
                          </a:solidFill>
                          <a:effectLst/>
                          <a:uLnTx/>
                          <a:uFillTx/>
                        </a:rPr>
                        <a:t> to balance respondent experience, data quality and information needs. </a:t>
                      </a:r>
                    </a:p>
                    <a:p>
                      <a:endParaRPr lang="en-CA" sz="1000"/>
                    </a:p>
                  </a:txBody>
                  <a:tcPr>
                    <a:solidFill>
                      <a:srgbClr val="EAEFF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(Activities outside the scope of Data In Committee, with some pre-collection decision processes being informed by SPAC and governed by Field 8 – Field 5 Committee)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Creation of a “</a:t>
                      </a:r>
                      <a:r>
                        <a:rPr kumimoji="0" lang="en-US" sz="1000" b="0" u="none" strike="noStrike" kern="1200" cap="none" spc="0" normalizeH="0" baseline="0" noProof="0" err="1">
                          <a:ln>
                            <a:noFill/>
                          </a:ln>
                          <a:solidFill>
                            <a:prstClr val="black"/>
                          </a:solidFill>
                          <a:effectLst/>
                          <a:uLnTx/>
                          <a:uFillTx/>
                        </a:rPr>
                        <a:t>centre</a:t>
                      </a:r>
                      <a:r>
                        <a:rPr kumimoji="0" lang="en-US" sz="1000" b="0" u="none" strike="noStrike" kern="1200" cap="none" spc="0" normalizeH="0" baseline="0" noProof="0">
                          <a:ln>
                            <a:noFill/>
                          </a:ln>
                          <a:solidFill>
                            <a:prstClr val="black"/>
                          </a:solidFill>
                          <a:effectLst/>
                          <a:uLnTx/>
                          <a:uFillTx/>
                        </a:rPr>
                        <a:t> of expertise” which works with subject matter specialists to expedite the negotiation and acquisition of administrative and alternative data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Pilot projects to enable partners to clean data using AI, prior to its ingestion by Statistics Canada (e.g. Cancer Registry) (2.4)</a:t>
                      </a:r>
                      <a:endParaRPr lang="en-CA" sz="1000"/>
                    </a:p>
                  </a:txBody>
                  <a:tcPr/>
                </a:tc>
                <a:extLst>
                  <a:ext uri="{0D108BD9-81ED-4DB2-BD59-A6C34878D82A}">
                    <a16:rowId xmlns:a16="http://schemas.microsoft.com/office/drawing/2014/main" val="2148696331"/>
                  </a:ext>
                </a:extLst>
              </a:tr>
              <a:tr h="1158240">
                <a:tc vMerge="1">
                  <a:txBody>
                    <a:bodyPr/>
                    <a:lstStyle/>
                    <a:p>
                      <a:endParaRPr lang="en-CA" sz="8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CA" sz="1000" b="0" u="none" strike="noStrike" kern="1200" cap="none" spc="0" normalizeH="0" baseline="0" noProof="0">
                        <a:ln>
                          <a:noFill/>
                        </a:ln>
                        <a:solidFill>
                          <a:schemeClr val="dk1"/>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CA" sz="1000" b="0" u="none" strike="noStrike" kern="1200" cap="none" spc="0" normalizeH="0" baseline="0" noProof="0">
                          <a:ln>
                            <a:noFill/>
                          </a:ln>
                          <a:solidFill>
                            <a:schemeClr val="dk1"/>
                          </a:solidFill>
                          <a:effectLst/>
                          <a:uLnTx/>
                          <a:uFillTx/>
                        </a:rPr>
                        <a:t>The time and effort involved in </a:t>
                      </a:r>
                      <a:r>
                        <a:rPr kumimoji="0" lang="en-US" sz="1000" b="0" u="none" strike="noStrike" kern="1200" cap="none" spc="0" normalizeH="0" baseline="0" noProof="0">
                          <a:ln>
                            <a:noFill/>
                          </a:ln>
                          <a:solidFill>
                            <a:prstClr val="black"/>
                          </a:solidFill>
                          <a:effectLst/>
                          <a:uLnTx/>
                          <a:uFillTx/>
                        </a:rPr>
                        <a:t>acquiring administrative and alternative data is significantly reduced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u="none" strike="noStrike" kern="1200" cap="none" spc="0" normalizeH="0" baseline="0" noProof="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u="none" strike="noStrike" kern="1200" cap="none" spc="0" normalizeH="0" baseline="0" noProof="0">
                          <a:ln>
                            <a:noFill/>
                          </a:ln>
                          <a:solidFill>
                            <a:prstClr val="black"/>
                          </a:solidFill>
                          <a:effectLst/>
                          <a:uLnTx/>
                          <a:uFillTx/>
                        </a:rPr>
                        <a:t>Issues involved in the retention of administrative and alternative data (including ongoing acquisition costs, vulnerability to cost increases and storage costs) are planned for prior to acquisition.</a:t>
                      </a:r>
                    </a:p>
                    <a:p>
                      <a:endParaRPr lang="en-CA" sz="1000"/>
                    </a:p>
                    <a:p>
                      <a:endParaRPr lang="en-CA" sz="1000"/>
                    </a:p>
                  </a:txBody>
                  <a:tcPr>
                    <a:solidFill>
                      <a:srgbClr val="EAEFF7"/>
                    </a:solidFill>
                  </a:tcPr>
                </a:tc>
                <a:tc vMerge="1">
                  <a:txBody>
                    <a:bodyPr/>
                    <a:lstStyle/>
                    <a:p>
                      <a:endParaRPr/>
                    </a:p>
                  </a:txBody>
                  <a:tcPr/>
                </a:tc>
                <a:extLst>
                  <a:ext uri="{0D108BD9-81ED-4DB2-BD59-A6C34878D82A}">
                    <a16:rowId xmlns:a16="http://schemas.microsoft.com/office/drawing/2014/main" val="2853907716"/>
                  </a:ext>
                </a:extLst>
              </a:tr>
            </a:tbl>
          </a:graphicData>
        </a:graphic>
      </p:graphicFrame>
    </p:spTree>
    <p:extLst>
      <p:ext uri="{BB962C8B-B14F-4D97-AF65-F5344CB8AC3E}">
        <p14:creationId xmlns:p14="http://schemas.microsoft.com/office/powerpoint/2010/main" val="4234317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2DAA9E-7E13-1E3C-D624-74AAA0255EEE}"/>
              </a:ext>
            </a:extLst>
          </p:cNvPr>
          <p:cNvSpPr>
            <a:spLocks noGrp="1"/>
          </p:cNvSpPr>
          <p:nvPr>
            <p:ph type="sldNum" sz="quarter" idx="12"/>
          </p:nvPr>
        </p:nvSpPr>
        <p:spPr/>
        <p:txBody>
          <a:bodyPr/>
          <a:lstStyle/>
          <a:p>
            <a:fld id="{B6F15528-21DE-4FAA-801E-634DDDAF4B2B}" type="slidenum">
              <a:rPr lang="en-US" smtClean="0"/>
              <a:pPr/>
              <a:t>9</a:t>
            </a:fld>
            <a:endParaRPr lang="en-US"/>
          </a:p>
        </p:txBody>
      </p:sp>
      <p:graphicFrame>
        <p:nvGraphicFramePr>
          <p:cNvPr id="5" name="Content Placeholder 4">
            <a:extLst>
              <a:ext uri="{FF2B5EF4-FFF2-40B4-BE49-F238E27FC236}">
                <a16:creationId xmlns:a16="http://schemas.microsoft.com/office/drawing/2014/main" id="{C360F1DC-B66C-DE72-4609-328A3706174F}"/>
              </a:ext>
            </a:extLst>
          </p:cNvPr>
          <p:cNvGraphicFramePr>
            <a:graphicFrameLocks/>
          </p:cNvGraphicFramePr>
          <p:nvPr>
            <p:extLst>
              <p:ext uri="{D42A27DB-BD31-4B8C-83A1-F6EECF244321}">
                <p14:modId xmlns:p14="http://schemas.microsoft.com/office/powerpoint/2010/main" val="2824432950"/>
              </p:ext>
            </p:extLst>
          </p:nvPr>
        </p:nvGraphicFramePr>
        <p:xfrm>
          <a:off x="0" y="25191"/>
          <a:ext cx="12186630" cy="6757083"/>
        </p:xfrm>
        <a:graphic>
          <a:graphicData uri="http://schemas.openxmlformats.org/drawingml/2006/table">
            <a:tbl>
              <a:tblPr firstRow="1" bandRow="1">
                <a:tableStyleId>{5C22544A-7EE6-4342-B048-85BDC9FD1C3A}</a:tableStyleId>
              </a:tblPr>
              <a:tblGrid>
                <a:gridCol w="1753293">
                  <a:extLst>
                    <a:ext uri="{9D8B030D-6E8A-4147-A177-3AD203B41FA5}">
                      <a16:colId xmlns:a16="http://schemas.microsoft.com/office/drawing/2014/main" val="1254341238"/>
                    </a:ext>
                  </a:extLst>
                </a:gridCol>
                <a:gridCol w="4743040">
                  <a:extLst>
                    <a:ext uri="{9D8B030D-6E8A-4147-A177-3AD203B41FA5}">
                      <a16:colId xmlns:a16="http://schemas.microsoft.com/office/drawing/2014/main" val="787205594"/>
                    </a:ext>
                  </a:extLst>
                </a:gridCol>
                <a:gridCol w="5690297">
                  <a:extLst>
                    <a:ext uri="{9D8B030D-6E8A-4147-A177-3AD203B41FA5}">
                      <a16:colId xmlns:a16="http://schemas.microsoft.com/office/drawing/2014/main" val="196609952"/>
                    </a:ext>
                  </a:extLst>
                </a:gridCol>
              </a:tblGrid>
              <a:tr h="1854217">
                <a:tc>
                  <a:txBody>
                    <a:bodyPr/>
                    <a:lstStyle/>
                    <a:p>
                      <a:pPr algn="ctr"/>
                      <a:r>
                        <a:rPr lang="en-CA"/>
                        <a:t>Vision</a:t>
                      </a:r>
                    </a:p>
                  </a:txBody>
                  <a:tcPr anchor="ctr"/>
                </a:tc>
                <a:tc>
                  <a:txBody>
                    <a:bodyPr/>
                    <a:lstStyle/>
                    <a:p>
                      <a:pPr algn="ctr"/>
                      <a:r>
                        <a:rPr lang="en-CA"/>
                        <a:t>Strategic Priorities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Action Plan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a:t>(and implicated GSBPM steps)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a:p>
                    <a:p>
                      <a:r>
                        <a:rPr lang="en-CA" sz="700"/>
                        <a:t>1.4  Identify concepts / 1.5 Check Data Availability</a:t>
                      </a:r>
                    </a:p>
                    <a:p>
                      <a:endParaRPr lang="en-CA" sz="700"/>
                    </a:p>
                    <a:p>
                      <a:r>
                        <a:rPr lang="en-CA" sz="700"/>
                        <a:t>2.4  Design Data Collection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kern="1200">
                        <a:solidFill>
                          <a:schemeClr val="dk1"/>
                        </a:solidFill>
                        <a:effectLst/>
                      </a:endParaRPr>
                    </a:p>
                    <a:p>
                      <a:r>
                        <a:rPr lang="en-CA" sz="700"/>
                        <a:t>3.1  R-use or build collection instruments</a:t>
                      </a:r>
                    </a:p>
                    <a:p>
                      <a:endParaRPr lang="en-CA" sz="700"/>
                    </a:p>
                    <a:p>
                      <a:r>
                        <a:rPr lang="en-CA" sz="700"/>
                        <a:t>4.1  Create frame and select sample / 4.2  Set up collection / 4.3 Run collection / 4.4 Finalise collection</a:t>
                      </a:r>
                      <a:endParaRPr lang="en-CA"/>
                    </a:p>
                    <a:p>
                      <a:pPr algn="ctr"/>
                      <a:endParaRPr lang="en-CA"/>
                    </a:p>
                  </a:txBody>
                  <a:tcPr anchor="ctr"/>
                </a:tc>
                <a:extLst>
                  <a:ext uri="{0D108BD9-81ED-4DB2-BD59-A6C34878D82A}">
                    <a16:rowId xmlns:a16="http://schemas.microsoft.com/office/drawing/2014/main" val="1652864760"/>
                  </a:ext>
                </a:extLst>
              </a:tr>
              <a:tr h="110961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Subject matter </a:t>
                      </a:r>
                      <a:r>
                        <a:rPr lang="en-US" sz="1000" kern="1200" err="1">
                          <a:solidFill>
                            <a:schemeClr val="dk1"/>
                          </a:solidFill>
                          <a:effectLst/>
                        </a:rPr>
                        <a:t>centres</a:t>
                      </a:r>
                      <a:r>
                        <a:rPr lang="en-US" sz="1000" kern="1200">
                          <a:solidFill>
                            <a:schemeClr val="dk1"/>
                          </a:solidFill>
                          <a:effectLst/>
                        </a:rPr>
                        <a:t> are able to respond to new data requirements by designing and implementing statistical programs more quickly and at lower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kern="1200">
                        <a:solidFill>
                          <a:schemeClr val="dk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Tradeoffs between statistical quality and cost are fully-informed and evidence-based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200">
                        <a:solidFill>
                          <a:schemeClr val="dk1"/>
                        </a:solidFill>
                        <a:effectLst/>
                      </a:endParaRPr>
                    </a:p>
                    <a:p>
                      <a:endParaRPr lang="en-CA"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The time and effort involved in designing, rendering and fielding a questionnaire are significantly reduced.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endParaRPr>
                    </a:p>
                    <a:p>
                      <a:endParaRPr lang="en-CA" sz="1000"/>
                    </a:p>
                  </a:txBody>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u="none" strike="noStrike" kern="1200">
                          <a:solidFill>
                            <a:schemeClr val="tx1"/>
                          </a:solidFill>
                        </a:rPr>
                        <a:t>Assignment of full accountability for rendering  to a single </a:t>
                      </a:r>
                      <a:r>
                        <a:rPr lang="en-US" sz="1000" b="0" u="none" strike="noStrike" kern="1200" err="1">
                          <a:solidFill>
                            <a:schemeClr val="tx1"/>
                          </a:solidFill>
                        </a:rPr>
                        <a:t>centre</a:t>
                      </a:r>
                      <a:r>
                        <a:rPr lang="en-US" sz="1000" b="0" u="none" strike="noStrike" kern="1200">
                          <a:solidFill>
                            <a:schemeClr val="tx1"/>
                          </a:solidFill>
                        </a:rPr>
                        <a:t> in Field 7 (3.1)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Design and implementation of questionnaire specification and rendering business processes which take advantage of AI (3.1)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a:solidFill>
                            <a:schemeClr val="tx1"/>
                          </a:solidFill>
                        </a:rPr>
                        <a:t>Enforcement of pre-determined timeliness standards (for example, no more than x weeks between subject matter providing specifications and the start of collection) (3.1)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a:solidFill>
                            <a:schemeClr val="tx1"/>
                          </a:solidFill>
                        </a:rPr>
                        <a:t>Reform of questionnaire building and prescription policies and directives (3.1)</a:t>
                      </a:r>
                    </a:p>
                    <a:p>
                      <a:pPr marL="171450" indent="-171450">
                        <a:buFont typeface="Arial" panose="020B0604020202020204" pitchFamily="34" charset="0"/>
                        <a:buChar char="•"/>
                      </a:pPr>
                      <a:endParaRPr lang="en-CA" sz="1000"/>
                    </a:p>
                  </a:txBody>
                  <a:tcPr/>
                </a:tc>
                <a:extLst>
                  <a:ext uri="{0D108BD9-81ED-4DB2-BD59-A6C34878D82A}">
                    <a16:rowId xmlns:a16="http://schemas.microsoft.com/office/drawing/2014/main" val="575836902"/>
                  </a:ext>
                </a:extLst>
              </a:tr>
              <a:tr h="646406">
                <a:tc vMerge="1">
                  <a:txBody>
                    <a:bodyPr/>
                    <a:lstStyle/>
                    <a:p>
                      <a:endParaRPr lang="en-CA"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Manual effort involved in ‘shepherding’ data from pre-collection, collection and post-collection is eliminated to the greatest extent 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endParaRPr>
                    </a:p>
                  </a:txBody>
                  <a:tcPr>
                    <a:solidFill>
                      <a:srgbClr val="EAEFF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a:solidFill>
                            <a:schemeClr val="tx1"/>
                          </a:solidFill>
                        </a:rPr>
                        <a:t>Alignment of pre-collection (frame maintenance and sampling) and post-collection (processes and financial analysis) business processes and systems and ‘pipelines’ to facilitate maximum automation and minimize human interventions and programmatic patches (2.4)</a:t>
                      </a:r>
                    </a:p>
                  </a:txBody>
                  <a:tcPr>
                    <a:solidFill>
                      <a:srgbClr val="EAEFF7"/>
                    </a:solidFill>
                  </a:tcPr>
                </a:tc>
                <a:extLst>
                  <a:ext uri="{0D108BD9-81ED-4DB2-BD59-A6C34878D82A}">
                    <a16:rowId xmlns:a16="http://schemas.microsoft.com/office/drawing/2014/main" val="2464631943"/>
                  </a:ext>
                </a:extLst>
              </a:tr>
              <a:tr h="1255611">
                <a:tc vMerge="1">
                  <a:txBody>
                    <a:bodyPr/>
                    <a:lstStyle/>
                    <a:p>
                      <a:endParaRPr lang="en-C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a:t>Survey collection efforts are adjusted in real time, to maximise </a:t>
                      </a:r>
                      <a:r>
                        <a:rPr lang="en-CA" sz="1000" err="1"/>
                        <a:t>tradeoffs</a:t>
                      </a:r>
                      <a:r>
                        <a:rPr lang="en-CA" sz="1000"/>
                        <a:t> between collection costs and data quality</a:t>
                      </a:r>
                    </a:p>
                    <a:p>
                      <a:endParaRPr lang="en-CA" sz="1000"/>
                    </a:p>
                  </a:txBody>
                  <a:tcPr>
                    <a:solidFill>
                      <a:srgbClr val="D2DEEF"/>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err="1">
                          <a:ln>
                            <a:noFill/>
                          </a:ln>
                          <a:solidFill>
                            <a:prstClr val="black"/>
                          </a:solidFill>
                          <a:effectLst/>
                          <a:uLnTx/>
                          <a:uFillTx/>
                        </a:rPr>
                        <a:t>Modernisation</a:t>
                      </a:r>
                      <a:r>
                        <a:rPr kumimoji="0" lang="en-US" sz="1000" b="0" u="none" strike="noStrike" kern="1200" cap="none" spc="0" normalizeH="0" baseline="0" noProof="0">
                          <a:ln>
                            <a:noFill/>
                          </a:ln>
                          <a:solidFill>
                            <a:prstClr val="black"/>
                          </a:solidFill>
                          <a:effectLst/>
                          <a:uLnTx/>
                          <a:uFillTx/>
                        </a:rPr>
                        <a:t> of collection systems and platforms to include the use AI and other advanced methods to adjust collection efforts and re-assign cases in real time. (4.3)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Implementation of ‘one workforce’ model for collection (4.2 and 4.3)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Development and implementation into production of a range of sampling options, including person-based sampling (2.4)</a:t>
                      </a:r>
                    </a:p>
                    <a:p>
                      <a:pPr marL="171450" indent="-171450">
                        <a:buFont typeface="Arial" panose="020B0604020202020204" pitchFamily="34" charset="0"/>
                        <a:buChar char="•"/>
                      </a:pPr>
                      <a:endParaRPr lang="en-CA" sz="1000"/>
                    </a:p>
                  </a:txBody>
                  <a:tcPr>
                    <a:solidFill>
                      <a:srgbClr val="D2DEEF"/>
                    </a:solidFill>
                  </a:tcPr>
                </a:tc>
                <a:extLst>
                  <a:ext uri="{0D108BD9-81ED-4DB2-BD59-A6C34878D82A}">
                    <a16:rowId xmlns:a16="http://schemas.microsoft.com/office/drawing/2014/main" val="1906021961"/>
                  </a:ext>
                </a:extLst>
              </a:tr>
              <a:tr h="1706317">
                <a:tc vMerge="1">
                  <a:txBody>
                    <a:bodyPr/>
                    <a:lstStyle/>
                    <a:p>
                      <a:endParaRPr lang="en-CA"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a:t>Survey collection strategies are continually evaluated and adjusted </a:t>
                      </a:r>
                    </a:p>
                    <a:p>
                      <a:endParaRPr lang="en-CA" sz="1000"/>
                    </a:p>
                  </a:txBody>
                  <a:tcPr>
                    <a:solidFill>
                      <a:srgbClr val="EAEFF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Investments in world leading collection research (4.4)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Implementation of experimentation mechanisms, including LFS Innovation Panel, to measure ‘what works’ (4.4)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Implementation of forums to foster a culture of constant improvement and statistical </a:t>
                      </a:r>
                      <a:r>
                        <a:rPr kumimoji="0" lang="en-US" sz="1000" b="0" u="none" strike="noStrike" kern="1200" cap="none" spc="0" normalizeH="0" baseline="0" noProof="0" err="1">
                          <a:ln>
                            <a:noFill/>
                          </a:ln>
                          <a:solidFill>
                            <a:prstClr val="black"/>
                          </a:solidFill>
                          <a:effectLst/>
                          <a:uLnTx/>
                          <a:uFillTx/>
                        </a:rPr>
                        <a:t>rigour</a:t>
                      </a:r>
                      <a:r>
                        <a:rPr kumimoji="0" lang="en-US" sz="1000" b="0" u="none" strike="noStrike" kern="1200" cap="none" spc="0" normalizeH="0" baseline="0" noProof="0">
                          <a:ln>
                            <a:noFill/>
                          </a:ln>
                          <a:solidFill>
                            <a:prstClr val="black"/>
                          </a:solidFill>
                          <a:effectLst/>
                          <a:uLnTx/>
                          <a:uFillTx/>
                        </a:rPr>
                        <a:t> (4.4)</a:t>
                      </a:r>
                      <a:endParaRPr lang="en-CA" sz="1000"/>
                    </a:p>
                  </a:txBody>
                  <a:tcPr>
                    <a:solidFill>
                      <a:srgbClr val="EAEFF7"/>
                    </a:solidFill>
                  </a:tcPr>
                </a:tc>
                <a:extLst>
                  <a:ext uri="{0D108BD9-81ED-4DB2-BD59-A6C34878D82A}">
                    <a16:rowId xmlns:a16="http://schemas.microsoft.com/office/drawing/2014/main" val="2878293871"/>
                  </a:ext>
                </a:extLst>
              </a:tr>
            </a:tbl>
          </a:graphicData>
        </a:graphic>
      </p:graphicFrame>
    </p:spTree>
    <p:extLst>
      <p:ext uri="{BB962C8B-B14F-4D97-AF65-F5344CB8AC3E}">
        <p14:creationId xmlns:p14="http://schemas.microsoft.com/office/powerpoint/2010/main" val="371776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Data Out</a:t>
            </a:r>
          </a:p>
        </p:txBody>
      </p:sp>
    </p:spTree>
    <p:extLst>
      <p:ext uri="{BB962C8B-B14F-4D97-AF65-F5344CB8AC3E}">
        <p14:creationId xmlns:p14="http://schemas.microsoft.com/office/powerpoint/2010/main" val="1490915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nvGraphicFramePr>
        <p:xfrm>
          <a:off x="153235" y="557048"/>
          <a:ext cx="11721737" cy="6096092"/>
        </p:xfrm>
        <a:graphic>
          <a:graphicData uri="http://schemas.openxmlformats.org/drawingml/2006/table">
            <a:tbl>
              <a:tblPr firstRow="1" bandRow="1">
                <a:tableStyleId>{5C22544A-7EE6-4342-B048-85BDC9FD1C3A}</a:tableStyleId>
              </a:tblPr>
              <a:tblGrid>
                <a:gridCol w="11721737">
                  <a:extLst>
                    <a:ext uri="{9D8B030D-6E8A-4147-A177-3AD203B41FA5}">
                      <a16:colId xmlns:a16="http://schemas.microsoft.com/office/drawing/2014/main" val="588226930"/>
                    </a:ext>
                  </a:extLst>
                </a:gridCol>
              </a:tblGrid>
              <a:tr h="317724">
                <a:tc>
                  <a:txBody>
                    <a:bodyPr/>
                    <a:lstStyle/>
                    <a:p>
                      <a:pPr lvl="0">
                        <a:buNone/>
                      </a:pPr>
                      <a:r>
                        <a:rPr lang="en-US" sz="1400" b="0" i="0" u="none" strike="noStrike" kern="1200">
                          <a:solidFill>
                            <a:schemeClr val="tx1"/>
                          </a:solidFill>
                          <a:latin typeface="Calibri"/>
                          <a:ea typeface="+mn-ea"/>
                          <a:cs typeface="+mn-cs"/>
                        </a:rPr>
                        <a:t>GSBPM Step: Dissemination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85353919"/>
                  </a:ext>
                </a:extLst>
              </a:tr>
              <a:tr h="1616179">
                <a:tc>
                  <a:txBody>
                    <a:bodyPr/>
                    <a:lstStyle/>
                    <a:p>
                      <a:r>
                        <a:rPr lang="en-US" sz="1600" b="1" i="0" u="none" strike="noStrike" kern="1200">
                          <a:solidFill>
                            <a:schemeClr val="tx1"/>
                          </a:solidFill>
                          <a:latin typeface="Calibri"/>
                          <a:ea typeface="+mn-ea"/>
                          <a:cs typeface="+mn-cs"/>
                        </a:rPr>
                        <a:t>Business Vision:</a:t>
                      </a:r>
                    </a:p>
                    <a:p>
                      <a:r>
                        <a:rPr lang="en-US" sz="1600" kern="1200">
                          <a:solidFill>
                            <a:schemeClr val="dk1"/>
                          </a:solidFill>
                          <a:effectLst/>
                          <a:latin typeface="+mn-lt"/>
                          <a:ea typeface="+mn-ea"/>
                          <a:cs typeface="+mn-cs"/>
                        </a:rPr>
                        <a:t>T</a:t>
                      </a:r>
                      <a:r>
                        <a:rPr lang="en-CA" sz="1600" kern="1200" err="1">
                          <a:solidFill>
                            <a:schemeClr val="dk1"/>
                          </a:solidFill>
                          <a:effectLst/>
                          <a:latin typeface="+mn-lt"/>
                          <a:ea typeface="+mn-ea"/>
                          <a:cs typeface="+mn-cs"/>
                        </a:rPr>
                        <a:t>ransform</a:t>
                      </a:r>
                      <a:r>
                        <a:rPr lang="en-CA" sz="1600" kern="1200">
                          <a:solidFill>
                            <a:schemeClr val="dk1"/>
                          </a:solidFill>
                          <a:effectLst/>
                          <a:latin typeface="+mn-lt"/>
                          <a:ea typeface="+mn-ea"/>
                          <a:cs typeface="+mn-cs"/>
                        </a:rPr>
                        <a:t> our data dissemination approach by becoming a modern, digital-first statistical agency. Prioritize automation, metadata enrichment, and open, machine-readable data structures to ensure our information is accessible, discoverable, and actionable for all user groups—including both sophisticated researchers and new AI-powered query tools. </a:t>
                      </a:r>
                      <a:r>
                        <a:rPr lang="en-US" sz="1600"/>
                        <a:t>Our goal is to empower users to get the data they need by themselves, while making our services more efficient, accessible and visible for those who require a more customized approach. </a:t>
                      </a:r>
                      <a:endParaRPr lang="en-CA" sz="1600" kern="1200">
                        <a:solidFill>
                          <a:schemeClr val="dk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r h="4162189">
                <a:tc>
                  <a:txBody>
                    <a:bodyPr/>
                    <a:lstStyle/>
                    <a:p>
                      <a:pPr lvl="0" algn="l">
                        <a:lnSpc>
                          <a:spcPct val="100000"/>
                        </a:lnSpc>
                        <a:spcBef>
                          <a:spcPts val="0"/>
                        </a:spcBef>
                        <a:spcAft>
                          <a:spcPts val="0"/>
                        </a:spcAft>
                        <a:buNone/>
                      </a:pPr>
                      <a:r>
                        <a:rPr lang="en-US" sz="1600" b="1" i="0" u="none" strike="noStrike" noProof="0">
                          <a:solidFill>
                            <a:schemeClr val="tx1"/>
                          </a:solidFill>
                          <a:latin typeface="Calibri"/>
                        </a:rPr>
                        <a:t>Key changes required to reach the vision: </a:t>
                      </a:r>
                    </a:p>
                    <a:p>
                      <a:pPr lvl="0"/>
                      <a:r>
                        <a:rPr lang="en-CA" sz="1600" b="1" kern="1200">
                          <a:solidFill>
                            <a:schemeClr val="dk1"/>
                          </a:solidFill>
                          <a:effectLst/>
                          <a:latin typeface="+mn-lt"/>
                          <a:ea typeface="+mn-ea"/>
                          <a:cs typeface="+mn-cs"/>
                        </a:rPr>
                        <a:t>Expanded Digital Dissemination</a:t>
                      </a:r>
                      <a:r>
                        <a:rPr lang="en-CA" sz="1600" kern="1200">
                          <a:solidFill>
                            <a:schemeClr val="dk1"/>
                          </a:solidFill>
                          <a:effectLst/>
                          <a:latin typeface="+mn-lt"/>
                          <a:ea typeface="+mn-ea"/>
                          <a:cs typeface="+mn-cs"/>
                        </a:rPr>
                        <a:t>: Shift focus from static web publishing to dynamic, interactive, and API-driven platforms for more accessible and real-time data engagement.</a:t>
                      </a:r>
                    </a:p>
                    <a:p>
                      <a:pPr lvl="0"/>
                      <a:r>
                        <a:rPr lang="en-CA" sz="1600" b="1" kern="1200">
                          <a:solidFill>
                            <a:schemeClr val="dk1"/>
                          </a:solidFill>
                          <a:effectLst/>
                          <a:latin typeface="+mn-lt"/>
                          <a:ea typeface="+mn-ea"/>
                          <a:cs typeface="+mn-cs"/>
                        </a:rPr>
                        <a:t>Automation of Core Processes</a:t>
                      </a:r>
                      <a:r>
                        <a:rPr lang="en-CA" sz="1600" kern="1200">
                          <a:solidFill>
                            <a:schemeClr val="dk1"/>
                          </a:solidFill>
                          <a:effectLst/>
                          <a:latin typeface="+mn-lt"/>
                          <a:ea typeface="+mn-ea"/>
                          <a:cs typeface="+mn-cs"/>
                        </a:rPr>
                        <a:t>: Automate production and dissemination of data products (including data tables and PUMFs), improving speed, accuracy, and resource efficiency.</a:t>
                      </a:r>
                    </a:p>
                    <a:p>
                      <a:pPr lvl="0"/>
                      <a:r>
                        <a:rPr lang="en-CA" sz="1600" b="1" kern="1200">
                          <a:solidFill>
                            <a:schemeClr val="dk1"/>
                          </a:solidFill>
                          <a:effectLst/>
                          <a:latin typeface="+mn-lt"/>
                          <a:ea typeface="+mn-ea"/>
                          <a:cs typeface="+mn-cs"/>
                        </a:rPr>
                        <a:t>Metadata-First Approach</a:t>
                      </a:r>
                      <a:r>
                        <a:rPr lang="en-CA" sz="1600" kern="1200">
                          <a:solidFill>
                            <a:schemeClr val="dk1"/>
                          </a:solidFill>
                          <a:effectLst/>
                          <a:latin typeface="+mn-lt"/>
                          <a:ea typeface="+mn-ea"/>
                          <a:cs typeface="+mn-cs"/>
                        </a:rPr>
                        <a:t>: Implement comprehensive metadata standards and tagging, enabling external tools like ChatGPT, Gemini, and other AI agents to accurately discover and extract relevant data.</a:t>
                      </a:r>
                    </a:p>
                    <a:p>
                      <a:pPr lvl="0"/>
                      <a:r>
                        <a:rPr lang="en-CA" sz="1600" b="1" kern="1200">
                          <a:solidFill>
                            <a:schemeClr val="dk1"/>
                          </a:solidFill>
                          <a:effectLst/>
                          <a:latin typeface="+mn-lt"/>
                          <a:ea typeface="+mn-ea"/>
                          <a:cs typeface="+mn-cs"/>
                        </a:rPr>
                        <a:t>Clear User Segmentation</a:t>
                      </a:r>
                      <a:r>
                        <a:rPr lang="en-CA" sz="1600" kern="1200">
                          <a:solidFill>
                            <a:schemeClr val="dk1"/>
                          </a:solidFill>
                          <a:effectLst/>
                          <a:latin typeface="+mn-lt"/>
                          <a:ea typeface="+mn-ea"/>
                          <a:cs typeface="+mn-cs"/>
                        </a:rPr>
                        <a:t>: Redesign websites as specialized platforms primarily targeting advanced users, like researchers and policymakers, with the understanding that the general public will increasingly access our data through third-party AI interfaces. Having options for users that need more support. </a:t>
                      </a:r>
                    </a:p>
                    <a:p>
                      <a:pPr lvl="0"/>
                      <a:r>
                        <a:rPr lang="en-CA" sz="1600" b="1" kern="1200">
                          <a:solidFill>
                            <a:schemeClr val="dk1"/>
                          </a:solidFill>
                          <a:effectLst/>
                          <a:latin typeface="+mn-lt"/>
                          <a:ea typeface="+mn-ea"/>
                          <a:cs typeface="+mn-cs"/>
                        </a:rPr>
                        <a:t>Mandatory Open File Formats</a:t>
                      </a:r>
                      <a:r>
                        <a:rPr lang="en-CA" sz="1600" kern="1200">
                          <a:solidFill>
                            <a:schemeClr val="dk1"/>
                          </a:solidFill>
                          <a:effectLst/>
                          <a:latin typeface="+mn-lt"/>
                          <a:ea typeface="+mn-ea"/>
                          <a:cs typeface="+mn-cs"/>
                        </a:rPr>
                        <a:t>: Standardize output formats (such as SDMX) to ensure compatibility, interoperability, and ease of use for downstream consumption and integration.</a:t>
                      </a:r>
                    </a:p>
                    <a:p>
                      <a:pPr lvl="0"/>
                      <a:r>
                        <a:rPr lang="en-CA" sz="1600" b="1" kern="1200">
                          <a:solidFill>
                            <a:schemeClr val="dk1"/>
                          </a:solidFill>
                          <a:effectLst/>
                          <a:latin typeface="+mn-lt"/>
                          <a:ea typeface="+mn-ea"/>
                          <a:cs typeface="+mn-cs"/>
                        </a:rPr>
                        <a:t>Streamline Publication Workflows</a:t>
                      </a:r>
                      <a:r>
                        <a:rPr lang="en-CA" sz="1600" kern="1200">
                          <a:solidFill>
                            <a:schemeClr val="dk1"/>
                          </a:solidFill>
                          <a:effectLst/>
                          <a:latin typeface="+mn-lt"/>
                          <a:ea typeface="+mn-ea"/>
                          <a:cs typeface="+mn-cs"/>
                        </a:rPr>
                        <a:t>: Streamline and automate the end-to-end publication process to reduce friction, duplication, improve consistency, and better support rapid content updates.</a:t>
                      </a:r>
                    </a:p>
                    <a:p>
                      <a:pPr lvl="0"/>
                      <a:r>
                        <a:rPr lang="en-CA" sz="1600" b="1" kern="1200">
                          <a:solidFill>
                            <a:schemeClr val="dk1"/>
                          </a:solidFill>
                          <a:effectLst/>
                          <a:latin typeface="+mn-lt"/>
                          <a:ea typeface="+mn-ea"/>
                          <a:cs typeface="+mn-cs"/>
                        </a:rPr>
                        <a:t>Reevaluate Data Visualization Investments</a:t>
                      </a:r>
                      <a:r>
                        <a:rPr lang="en-CA" sz="1600" kern="1200">
                          <a:solidFill>
                            <a:schemeClr val="dk1"/>
                          </a:solidFill>
                          <a:effectLst/>
                          <a:latin typeface="+mn-lt"/>
                          <a:ea typeface="+mn-ea"/>
                          <a:cs typeface="+mn-cs"/>
                        </a:rPr>
                        <a:t>: Focus less on proprietary visualizations for public users, recognizing that users will generate tailored outputs via AI tools.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187039833"/>
                  </a:ext>
                </a:extLst>
              </a:tr>
            </a:tbl>
          </a:graphicData>
        </a:graphic>
      </p:graphicFrame>
    </p:spTree>
    <p:extLst>
      <p:ext uri="{BB962C8B-B14F-4D97-AF65-F5344CB8AC3E}">
        <p14:creationId xmlns:p14="http://schemas.microsoft.com/office/powerpoint/2010/main" val="1336905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 (continued)</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nvGraphicFramePr>
        <p:xfrm>
          <a:off x="315310" y="803752"/>
          <a:ext cx="11684237" cy="4819281"/>
        </p:xfrm>
        <a:graphic>
          <a:graphicData uri="http://schemas.openxmlformats.org/drawingml/2006/table">
            <a:tbl>
              <a:tblPr firstRow="1" bandRow="1">
                <a:tableStyleId>{5C22544A-7EE6-4342-B048-85BDC9FD1C3A}</a:tableStyleId>
              </a:tblPr>
              <a:tblGrid>
                <a:gridCol w="11684237">
                  <a:extLst>
                    <a:ext uri="{9D8B030D-6E8A-4147-A177-3AD203B41FA5}">
                      <a16:colId xmlns:a16="http://schemas.microsoft.com/office/drawing/2014/main" val="588226930"/>
                    </a:ext>
                  </a:extLst>
                </a:gridCol>
              </a:tblGrid>
              <a:tr h="535475">
                <a:tc>
                  <a:txBody>
                    <a:bodyPr/>
                    <a:lstStyle/>
                    <a:p>
                      <a:pPr lvl="0">
                        <a:buNone/>
                      </a:pPr>
                      <a:r>
                        <a:rPr lang="en-US" sz="1400" b="0" i="0" u="none" strike="noStrike" kern="1200">
                          <a:solidFill>
                            <a:schemeClr val="tx1"/>
                          </a:solidFill>
                          <a:latin typeface="Calibri"/>
                          <a:ea typeface="+mn-ea"/>
                          <a:cs typeface="+mn-cs"/>
                        </a:rPr>
                        <a:t>GSBPM Step: Dissemination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85353919"/>
                  </a:ext>
                </a:extLst>
              </a:tr>
              <a:tr h="4283806">
                <a:tc>
                  <a:txBody>
                    <a:bodyPr/>
                    <a:lstStyle/>
                    <a:p>
                      <a:pPr lvl="0">
                        <a:buNone/>
                      </a:pPr>
                      <a:r>
                        <a:rPr lang="en-US" sz="2000" b="1" i="0" u="none" strike="noStrike" noProof="0">
                          <a:solidFill>
                            <a:schemeClr val="tx1"/>
                          </a:solidFill>
                          <a:latin typeface="+mn-lt"/>
                        </a:rPr>
                        <a:t>Value to Stakeholders / Users: </a:t>
                      </a:r>
                    </a:p>
                    <a:p>
                      <a:pPr lvl="0"/>
                      <a:r>
                        <a:rPr lang="en-CA" sz="2000" b="1" kern="1200">
                          <a:solidFill>
                            <a:schemeClr val="dk1"/>
                          </a:solidFill>
                          <a:effectLst/>
                          <a:latin typeface="+mn-lt"/>
                          <a:ea typeface="+mn-ea"/>
                          <a:cs typeface="+mn-cs"/>
                        </a:rPr>
                        <a:t>Increased Accessibility</a:t>
                      </a:r>
                      <a:r>
                        <a:rPr lang="en-CA" sz="2000" kern="1200">
                          <a:solidFill>
                            <a:schemeClr val="dk1"/>
                          </a:solidFill>
                          <a:effectLst/>
                          <a:latin typeface="+mn-lt"/>
                          <a:ea typeface="+mn-ea"/>
                          <a:cs typeface="+mn-cs"/>
                        </a:rPr>
                        <a:t>: Users, whether individuals, organizations, or AI agents, will access data seamlessly in their preferred format or interface, reducing friction and democratizing insight.</a:t>
                      </a:r>
                    </a:p>
                    <a:p>
                      <a:pPr lvl="0"/>
                      <a:r>
                        <a:rPr lang="en-CA" sz="2000" b="1" kern="1200">
                          <a:solidFill>
                            <a:schemeClr val="dk1"/>
                          </a:solidFill>
                          <a:effectLst/>
                          <a:latin typeface="+mn-lt"/>
                          <a:ea typeface="+mn-ea"/>
                          <a:cs typeface="+mn-cs"/>
                        </a:rPr>
                        <a:t>Enhanced Relevancy</a:t>
                      </a:r>
                      <a:r>
                        <a:rPr lang="en-CA" sz="2000" kern="1200">
                          <a:solidFill>
                            <a:schemeClr val="dk1"/>
                          </a:solidFill>
                          <a:effectLst/>
                          <a:latin typeface="+mn-lt"/>
                          <a:ea typeface="+mn-ea"/>
                          <a:cs typeface="+mn-cs"/>
                        </a:rPr>
                        <a:t>: By ensuring our data is easily findable and usable by emerging technologies, we safeguard our role as an authoritative data provider in a rapidly evolving information ecosystem and counter disinformation.</a:t>
                      </a:r>
                    </a:p>
                    <a:p>
                      <a:pPr lvl="0"/>
                      <a:r>
                        <a:rPr lang="en-CA" sz="2000" b="1" kern="1200">
                          <a:solidFill>
                            <a:schemeClr val="dk1"/>
                          </a:solidFill>
                          <a:effectLst/>
                          <a:latin typeface="+mn-lt"/>
                          <a:ea typeface="+mn-ea"/>
                          <a:cs typeface="+mn-cs"/>
                        </a:rPr>
                        <a:t>Improved Stakeholder Satisfaction</a:t>
                      </a:r>
                      <a:r>
                        <a:rPr lang="en-CA" sz="2000" kern="1200">
                          <a:solidFill>
                            <a:schemeClr val="dk1"/>
                          </a:solidFill>
                          <a:effectLst/>
                          <a:latin typeface="+mn-lt"/>
                          <a:ea typeface="+mn-ea"/>
                          <a:cs typeface="+mn-cs"/>
                        </a:rPr>
                        <a:t>: Advanced users (e.g., researchers, policymakers) benefit from specialized, high-value interfaces and standardized, robust data offerings.</a:t>
                      </a:r>
                    </a:p>
                    <a:p>
                      <a:pPr lvl="0"/>
                      <a:r>
                        <a:rPr lang="en-CA" sz="2000" b="1" kern="1200">
                          <a:solidFill>
                            <a:schemeClr val="dk1"/>
                          </a:solidFill>
                          <a:effectLst/>
                          <a:latin typeface="+mn-lt"/>
                          <a:ea typeface="+mn-ea"/>
                          <a:cs typeface="+mn-cs"/>
                        </a:rPr>
                        <a:t>Operational Efficiency</a:t>
                      </a:r>
                      <a:r>
                        <a:rPr lang="en-CA" sz="2000" kern="1200">
                          <a:solidFill>
                            <a:schemeClr val="dk1"/>
                          </a:solidFill>
                          <a:effectLst/>
                          <a:latin typeface="+mn-lt"/>
                          <a:ea typeface="+mn-ea"/>
                          <a:cs typeface="+mn-cs"/>
                        </a:rPr>
                        <a:t>: Automation and streamlining of dissemination reduce manual workload, allowing staff to focus on higher-value activities.</a:t>
                      </a:r>
                    </a:p>
                    <a:p>
                      <a:pPr lvl="0"/>
                      <a:r>
                        <a:rPr lang="en-CA" sz="2000" b="1" kern="1200">
                          <a:solidFill>
                            <a:schemeClr val="dk1"/>
                          </a:solidFill>
                          <a:effectLst/>
                          <a:latin typeface="+mn-lt"/>
                          <a:ea typeface="+mn-ea"/>
                          <a:cs typeface="+mn-cs"/>
                        </a:rPr>
                        <a:t>Future Preparedness</a:t>
                      </a:r>
                      <a:r>
                        <a:rPr lang="en-CA" sz="2000" kern="1200">
                          <a:solidFill>
                            <a:schemeClr val="dk1"/>
                          </a:solidFill>
                          <a:effectLst/>
                          <a:latin typeface="+mn-lt"/>
                          <a:ea typeface="+mn-ea"/>
                          <a:cs typeface="+mn-cs"/>
                        </a:rPr>
                        <a:t>: Early adoption of machine-readable standards and automated processes ensures organizational adaptability and resiliency in the AI-driven future.</a:t>
                      </a:r>
                    </a:p>
                    <a:p>
                      <a:endParaRPr lang="en-CA" sz="1400" kern="1200">
                        <a:solidFill>
                          <a:schemeClr val="dk1"/>
                        </a:solidFill>
                        <a:effectLst/>
                        <a:latin typeface="+mn-lt"/>
                        <a:ea typeface="+mn-ea"/>
                        <a:cs typeface="+mn-cs"/>
                      </a:endParaRPr>
                    </a:p>
                  </a:txBody>
                  <a:tcPr>
                    <a:lnL w="3175">
                      <a:solidFill>
                        <a:schemeClr val="tx1"/>
                      </a:solidFill>
                    </a:lnL>
                    <a:lnR w="3175">
                      <a:solidFill>
                        <a:schemeClr val="tx1"/>
                      </a:solidFill>
                    </a:lnR>
                    <a:lnT w="3175" cap="flat" cmpd="sng" algn="ctr">
                      <a:solidFill>
                        <a:schemeClr val="tx1"/>
                      </a:solidFill>
                      <a:prstDash val="solid"/>
                      <a:round/>
                      <a:headEnd type="none" w="med" len="med"/>
                      <a:tailEnd type="none" w="med" len="med"/>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bl>
          </a:graphicData>
        </a:graphic>
      </p:graphicFrame>
    </p:spTree>
    <p:extLst>
      <p:ext uri="{BB962C8B-B14F-4D97-AF65-F5344CB8AC3E}">
        <p14:creationId xmlns:p14="http://schemas.microsoft.com/office/powerpoint/2010/main" val="447693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A4B87D-B17A-44E7-9C4E-D963BFF4587E}"/>
              </a:ext>
            </a:extLst>
          </p:cNvPr>
          <p:cNvSpPr>
            <a:spLocks noGrp="1"/>
          </p:cNvSpPr>
          <p:nvPr>
            <p:ph type="sldNum" sz="quarter" idx="12"/>
          </p:nvPr>
        </p:nvSpPr>
        <p:spPr/>
        <p:txBody>
          <a:bodyPr/>
          <a:lstStyle/>
          <a:p>
            <a:fld id="{49DA9349-B3BD-4AC8-BE71-63081D1E6344}" type="slidenum">
              <a:rPr lang="en-CA" smtClean="0"/>
              <a:t>13</a:t>
            </a:fld>
            <a:endParaRPr lang="en-CA"/>
          </a:p>
        </p:txBody>
      </p:sp>
      <p:sp>
        <p:nvSpPr>
          <p:cNvPr id="10" name="Title 1">
            <a:extLst>
              <a:ext uri="{FF2B5EF4-FFF2-40B4-BE49-F238E27FC236}">
                <a16:creationId xmlns:a16="http://schemas.microsoft.com/office/drawing/2014/main" id="{5203C565-3949-48A6-AA57-38598868CFC9}"/>
              </a:ext>
            </a:extLst>
          </p:cNvPr>
          <p:cNvSpPr>
            <a:spLocks noGrp="1"/>
          </p:cNvSpPr>
          <p:nvPr/>
        </p:nvSpPr>
        <p:spPr>
          <a:xfrm>
            <a:off x="847249" y="272473"/>
            <a:ext cx="10626811" cy="540601"/>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Key Opportunities</a:t>
            </a:r>
            <a:endParaRPr lang="en-CA" sz="2800">
              <a:effectLst>
                <a:outerShdw blurRad="38100" dist="38100" dir="2700000" algn="tl">
                  <a:srgbClr val="000000">
                    <a:alpha val="43137"/>
                  </a:srgbClr>
                </a:outerShdw>
              </a:effectLst>
            </a:endParaRPr>
          </a:p>
        </p:txBody>
      </p:sp>
      <p:graphicFrame>
        <p:nvGraphicFramePr>
          <p:cNvPr id="12" name="Table 12">
            <a:extLst>
              <a:ext uri="{FF2B5EF4-FFF2-40B4-BE49-F238E27FC236}">
                <a16:creationId xmlns:a16="http://schemas.microsoft.com/office/drawing/2014/main" id="{8356D077-26F8-4914-BBF2-94DAD679D61F}"/>
              </a:ext>
            </a:extLst>
          </p:cNvPr>
          <p:cNvGraphicFramePr>
            <a:graphicFrameLocks noGrp="1"/>
          </p:cNvGraphicFramePr>
          <p:nvPr>
            <p:extLst>
              <p:ext uri="{D42A27DB-BD31-4B8C-83A1-F6EECF244321}">
                <p14:modId xmlns:p14="http://schemas.microsoft.com/office/powerpoint/2010/main" val="654754032"/>
              </p:ext>
            </p:extLst>
          </p:nvPr>
        </p:nvGraphicFramePr>
        <p:xfrm>
          <a:off x="172973" y="908720"/>
          <a:ext cx="11846054" cy="5848537"/>
        </p:xfrm>
        <a:graphic>
          <a:graphicData uri="http://schemas.openxmlformats.org/drawingml/2006/table">
            <a:tbl>
              <a:tblPr firstRow="1" bandRow="1">
                <a:tableStyleId>{5C22544A-7EE6-4342-B048-85BDC9FD1C3A}</a:tableStyleId>
              </a:tblPr>
              <a:tblGrid>
                <a:gridCol w="1674555">
                  <a:extLst>
                    <a:ext uri="{9D8B030D-6E8A-4147-A177-3AD203B41FA5}">
                      <a16:colId xmlns:a16="http://schemas.microsoft.com/office/drawing/2014/main" val="3277556587"/>
                    </a:ext>
                  </a:extLst>
                </a:gridCol>
                <a:gridCol w="2304256">
                  <a:extLst>
                    <a:ext uri="{9D8B030D-6E8A-4147-A177-3AD203B41FA5}">
                      <a16:colId xmlns:a16="http://schemas.microsoft.com/office/drawing/2014/main" val="1809336168"/>
                    </a:ext>
                  </a:extLst>
                </a:gridCol>
                <a:gridCol w="3456384">
                  <a:extLst>
                    <a:ext uri="{9D8B030D-6E8A-4147-A177-3AD203B41FA5}">
                      <a16:colId xmlns:a16="http://schemas.microsoft.com/office/drawing/2014/main" val="378703768"/>
                    </a:ext>
                  </a:extLst>
                </a:gridCol>
                <a:gridCol w="4410859">
                  <a:extLst>
                    <a:ext uri="{9D8B030D-6E8A-4147-A177-3AD203B41FA5}">
                      <a16:colId xmlns:a16="http://schemas.microsoft.com/office/drawing/2014/main" val="4070344323"/>
                    </a:ext>
                  </a:extLst>
                </a:gridCol>
              </a:tblGrid>
              <a:tr h="247104">
                <a:tc>
                  <a:txBody>
                    <a:bodyPr/>
                    <a:lstStyle/>
                    <a:p>
                      <a:pPr lvl="0" algn="ctr">
                        <a:buNone/>
                      </a:pPr>
                      <a:r>
                        <a:rPr lang="en-CA" sz="1400" b="1">
                          <a:solidFill>
                            <a:schemeClr val="tx1"/>
                          </a:solidFill>
                        </a:rPr>
                        <a:t>Key Business Process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400" b="1">
                          <a:solidFill>
                            <a:schemeClr val="tx1"/>
                          </a:solidFill>
                        </a:rPr>
                        <a:t>Current State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ctr"/>
                      <a:r>
                        <a:rPr lang="en-CA" sz="1400" b="1">
                          <a:solidFill>
                            <a:schemeClr val="tx1"/>
                          </a:solidFill>
                        </a:rPr>
                        <a:t>Proposed Change (tactic, lever)</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400" b="1">
                          <a:solidFill>
                            <a:schemeClr val="tx1"/>
                          </a:solidFill>
                        </a:rPr>
                        <a:t>Expected Impact</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3639897"/>
                  </a:ext>
                </a:extLst>
              </a:tr>
              <a:tr h="9326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Public Use Microdata files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CA" sz="1200" b="0">
                          <a:solidFill>
                            <a:schemeClr val="tx1"/>
                          </a:solidFill>
                        </a:rPr>
                        <a:t>PUMFs are downloadable now from our website however many subject matter areas find it too labour intensive and expensive to create them.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Make PUMFs mandatory, use automated methods for creation of PUMFs</a:t>
                      </a:r>
                    </a:p>
                    <a:p>
                      <a:pPr algn="l"/>
                      <a:endParaRPr lang="en-CA" sz="120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Providing users with more microdata level information as we are the authoritative source. </a:t>
                      </a:r>
                      <a:r>
                        <a:rPr lang="en-CA" sz="1200" kern="1200">
                          <a:solidFill>
                            <a:schemeClr val="dk1"/>
                          </a:solidFill>
                          <a:effectLst/>
                          <a:latin typeface="+mn-lt"/>
                          <a:ea typeface="+mn-ea"/>
                          <a:cs typeface="+mn-cs"/>
                        </a:rPr>
                        <a:t>Automation and streamlining of dissemination reduce manual workload, allowing staff to focus on higher-value activities.</a:t>
                      </a:r>
                    </a:p>
                    <a:p>
                      <a:pPr algn="l"/>
                      <a:endParaRPr lang="en-CA" sz="120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4652513"/>
                  </a:ext>
                </a:extLst>
              </a:tr>
              <a:tr h="12762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Dissemination of statistical and analytical outputs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We create multiple products on the same topic such as having an infographic, video, article and a Daily.  We also create data tables with a data visualization on the same information.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Discuss the type of product to disseminate before it gets to the end of the GSBPM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Not all projects require a data visualization for example as users will do it themselves.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Reduction of duplication will help our search engine. It will be easier for users, whether individuals, organizations, or AI agents, to find what they’re looking for. We can also increase the impact of each release by reducing confusion.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265843521"/>
                  </a:ext>
                </a:extLst>
              </a:tr>
              <a:tr h="1490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Machine readable outputs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CA" sz="1200" b="0">
                          <a:solidFill>
                            <a:schemeClr val="tx1"/>
                          </a:solidFill>
                        </a:rPr>
                        <a:t>We only have 1 API right now (CODR). </a:t>
                      </a:r>
                    </a:p>
                    <a:p>
                      <a:pPr algn="l"/>
                      <a:r>
                        <a:rPr lang="en-CA" sz="1200" b="0">
                          <a:solidFill>
                            <a:schemeClr val="tx1"/>
                          </a:solidFill>
                        </a:rPr>
                        <a:t>The website is too segmented for our own search engine and our web architecture is not optimized for machine learning.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Better and more robust API platforms for both data and metadata. </a:t>
                      </a:r>
                      <a:r>
                        <a:rPr lang="en-CA" sz="1200" kern="1200">
                          <a:solidFill>
                            <a:schemeClr val="dk1"/>
                          </a:solidFill>
                          <a:effectLst/>
                          <a:latin typeface="+mn-lt"/>
                          <a:ea typeface="+mn-ea"/>
                          <a:cs typeface="+mn-cs"/>
                        </a:rPr>
                        <a:t>Shift focus to dynamic, interactive, and API-driven platforms for more accessible and real-time data engagement since the general public will increasingly access our data through third-party AI interfaces</a:t>
                      </a: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a:solidFill>
                            <a:schemeClr val="dk1"/>
                          </a:solidFill>
                          <a:effectLst/>
                          <a:latin typeface="+mn-lt"/>
                          <a:ea typeface="+mn-ea"/>
                          <a:cs typeface="+mn-cs"/>
                        </a:rPr>
                        <a:t>By ensuring our data is easily findable and usable by emerging technologies, we safeguard our role as an authoritative data provider in a rapidly evolving information ecosystem and counter disinformation.</a:t>
                      </a:r>
                    </a:p>
                    <a:p>
                      <a:pPr algn="l"/>
                      <a:endParaRPr lang="en-CA" sz="120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77923524"/>
                  </a:ext>
                </a:extLst>
              </a:tr>
              <a:tr h="1462378">
                <a:tc>
                  <a:txBody>
                    <a:bodyPr/>
                    <a:lstStyle/>
                    <a:p>
                      <a:pPr marL="0" indent="0" algn="l">
                        <a:buFont typeface="+mj-lt"/>
                        <a:buNone/>
                      </a:pPr>
                      <a:r>
                        <a:rPr lang="en-CA" sz="1200" b="0" kern="1200">
                          <a:solidFill>
                            <a:schemeClr val="tx1"/>
                          </a:solidFill>
                          <a:latin typeface="+mn-lt"/>
                          <a:ea typeface="+mn-ea"/>
                          <a:cs typeface="+mn-cs"/>
                        </a:rPr>
                        <a:t>Client Service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r>
                        <a:rPr lang="en-CA" sz="1200" b="0" kern="1200">
                          <a:solidFill>
                            <a:schemeClr val="tx1"/>
                          </a:solidFill>
                          <a:latin typeface="+mn-lt"/>
                          <a:ea typeface="+mn-ea"/>
                          <a:cs typeface="+mn-cs"/>
                        </a:rPr>
                        <a:t>Client service is fragmented as it’s provided by different groups across the agency. We don’t always have clear service standards, a defined product line or a coherent strategy. </a:t>
                      </a:r>
                    </a:p>
                  </a:txBody>
                  <a:tcPr>
                    <a:lnL w="3175">
                      <a:solidFill>
                        <a:schemeClr val="tx1"/>
                      </a:solidFill>
                    </a:lnL>
                    <a:lnR w="3175" cap="flat" cmpd="sng" algn="ctr">
                      <a:solidFill>
                        <a:schemeClr val="tx1"/>
                      </a:solidFill>
                      <a:prstDash val="solid"/>
                      <a:round/>
                      <a:headEnd type="none" w="med" len="med"/>
                      <a:tailEnd type="none" w="med" len="med"/>
                    </a:lnR>
                    <a:lnT w="3175">
                      <a:solidFill>
                        <a:schemeClr val="tx1"/>
                      </a:solidFill>
                    </a:lnT>
                    <a:lnB w="3175">
                      <a:solidFill>
                        <a:schemeClr val="tx1"/>
                      </a:solidFill>
                    </a:lnB>
                    <a:solidFill>
                      <a:schemeClr val="tx2">
                        <a:lumMod val="20000"/>
                        <a:lumOff val="80000"/>
                      </a:schemeClr>
                    </a:solidFill>
                  </a:tcPr>
                </a:tc>
                <a:tc>
                  <a:txBody>
                    <a:bodyPr/>
                    <a:lstStyle/>
                    <a:p>
                      <a:pPr algn="l">
                        <a:lnSpc>
                          <a:spcPct val="107000"/>
                        </a:lnSpc>
                        <a:spcAft>
                          <a:spcPts val="800"/>
                        </a:spcAft>
                        <a:buNone/>
                      </a:pPr>
                      <a:r>
                        <a:rPr lang="en-CA" sz="1200" b="0" kern="1200">
                          <a:solidFill>
                            <a:schemeClr val="tx1"/>
                          </a:solidFill>
                          <a:latin typeface="+mn-lt"/>
                          <a:ea typeface="+mn-ea"/>
                          <a:cs typeface="+mn-cs"/>
                        </a:rPr>
                        <a:t>Centralize and standardize client services across divisions with the goal of reducing the number of layers between the client and the data. Offer a single point of entry and make our services more visible by engaging with users proactively. </a:t>
                      </a:r>
                    </a:p>
                  </a:txBody>
                  <a:tcPr marL="114300" marR="114300" marT="0" marB="0">
                    <a:lnL w="3175">
                      <a:solidFill>
                        <a:schemeClr val="tx1"/>
                      </a:solidFill>
                    </a:lnL>
                    <a:lnR w="3175" cap="flat" cmpd="sng" algn="ctr">
                      <a:solidFill>
                        <a:schemeClr val="tx1"/>
                      </a:solidFill>
                      <a:prstDash val="solid"/>
                      <a:round/>
                      <a:headEnd type="none" w="med" len="med"/>
                      <a:tailEnd type="none" w="med" len="med"/>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CA" sz="1200" b="0" kern="1200">
                          <a:solidFill>
                            <a:schemeClr val="tx1"/>
                          </a:solidFill>
                          <a:latin typeface="+mn-lt"/>
                          <a:ea typeface="+mn-ea"/>
                          <a:cs typeface="+mn-cs"/>
                        </a:rPr>
                        <a:t>As some clients won’t be able to find what they need online even after we’ve improved outputs, we need a complementary service offering with a renewed focus on consistency and high quality. We should aim to deliver value-added services that will widen and diversify our client base, increase our impact and meet cross-cutting needs. </a:t>
                      </a:r>
                    </a:p>
                  </a:txBody>
                  <a:tcPr marL="114300" marR="114300" marT="0" marB="0">
                    <a:lnL w="3175" cap="flat" cmpd="sng" algn="ctr">
                      <a:solidFill>
                        <a:schemeClr val="tx1"/>
                      </a:solidFill>
                      <a:prstDash val="solid"/>
                      <a:round/>
                      <a:headEnd type="none" w="med" len="med"/>
                      <a:tailEnd type="none" w="med" len="med"/>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1407530466"/>
                  </a:ext>
                </a:extLst>
              </a:tr>
            </a:tbl>
          </a:graphicData>
        </a:graphic>
      </p:graphicFrame>
    </p:spTree>
    <p:extLst>
      <p:ext uri="{BB962C8B-B14F-4D97-AF65-F5344CB8AC3E}">
        <p14:creationId xmlns:p14="http://schemas.microsoft.com/office/powerpoint/2010/main" val="3129954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Data and Information Governance and Stewardship</a:t>
            </a:r>
          </a:p>
        </p:txBody>
      </p:sp>
    </p:spTree>
    <p:extLst>
      <p:ext uri="{BB962C8B-B14F-4D97-AF65-F5344CB8AC3E}">
        <p14:creationId xmlns:p14="http://schemas.microsoft.com/office/powerpoint/2010/main" val="1951289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extLst>
              <p:ext uri="{D42A27DB-BD31-4B8C-83A1-F6EECF244321}">
                <p14:modId xmlns:p14="http://schemas.microsoft.com/office/powerpoint/2010/main" val="4003909721"/>
              </p:ext>
            </p:extLst>
          </p:nvPr>
        </p:nvGraphicFramePr>
        <p:xfrm>
          <a:off x="174514" y="686215"/>
          <a:ext cx="11842972" cy="6010257"/>
        </p:xfrm>
        <a:graphic>
          <a:graphicData uri="http://schemas.openxmlformats.org/drawingml/2006/table">
            <a:tbl>
              <a:tblPr firstRow="1" bandRow="1">
                <a:tableStyleId>{5C22544A-7EE6-4342-B048-85BDC9FD1C3A}</a:tableStyleId>
              </a:tblPr>
              <a:tblGrid>
                <a:gridCol w="11842972">
                  <a:extLst>
                    <a:ext uri="{9D8B030D-6E8A-4147-A177-3AD203B41FA5}">
                      <a16:colId xmlns:a16="http://schemas.microsoft.com/office/drawing/2014/main" val="588226930"/>
                    </a:ext>
                  </a:extLst>
                </a:gridCol>
              </a:tblGrid>
              <a:tr h="302712">
                <a:tc>
                  <a:txBody>
                    <a:bodyPr/>
                    <a:lstStyle/>
                    <a:p>
                      <a:pPr lvl="0">
                        <a:buNone/>
                      </a:pPr>
                      <a:r>
                        <a:rPr lang="en-US" sz="1400" b="0" i="0" u="none" strike="noStrike" kern="1200">
                          <a:solidFill>
                            <a:schemeClr val="tx1"/>
                          </a:solidFill>
                          <a:latin typeface="Calibri"/>
                          <a:ea typeface="+mn-ea"/>
                          <a:cs typeface="+mn-cs"/>
                        </a:rPr>
                        <a:t>GSBPM Step: Collect/Process/</a:t>
                      </a:r>
                      <a:r>
                        <a:rPr lang="en-US" sz="1400" b="0" i="0" u="none" strike="noStrike" kern="1200" err="1">
                          <a:solidFill>
                            <a:schemeClr val="tx1"/>
                          </a:solidFill>
                          <a:latin typeface="Calibri"/>
                          <a:ea typeface="+mn-ea"/>
                          <a:cs typeface="+mn-cs"/>
                        </a:rPr>
                        <a:t>Analyse</a:t>
                      </a:r>
                      <a:r>
                        <a:rPr lang="en-US" sz="1400" b="0" i="0" u="none" strike="noStrike" kern="1200">
                          <a:solidFill>
                            <a:schemeClr val="tx1"/>
                          </a:solidFill>
                          <a:latin typeface="Calibri"/>
                          <a:ea typeface="+mn-ea"/>
                          <a:cs typeface="+mn-cs"/>
                        </a:rPr>
                        <a:t>/Disseminate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85353919"/>
                  </a:ext>
                </a:extLst>
              </a:tr>
              <a:tr h="1285857">
                <a:tc>
                  <a:txBody>
                    <a:bodyPr/>
                    <a:lstStyle/>
                    <a:p>
                      <a:r>
                        <a:rPr lang="en-US" sz="1400" b="1" i="0" u="none" strike="noStrike" kern="1200">
                          <a:solidFill>
                            <a:schemeClr val="tx1"/>
                          </a:solidFill>
                          <a:latin typeface="Calibri"/>
                          <a:ea typeface="+mn-ea"/>
                          <a:cs typeface="+mn-cs"/>
                        </a:rPr>
                        <a:t>Business Vision:</a:t>
                      </a:r>
                    </a:p>
                    <a:p>
                      <a:pPr lvl="0">
                        <a:buNone/>
                      </a:pPr>
                      <a:r>
                        <a:rPr lang="en-US" sz="1400" b="0" i="0" u="none" strike="noStrike" kern="1200" noProof="0">
                          <a:solidFill>
                            <a:schemeClr val="tx1"/>
                          </a:solidFill>
                        </a:rPr>
                        <a:t>Integrate AI, ML, and other advanced technologies into the Generic Statistical Business Process Model (GSBPM) to enhance efficiency, accuracy, and responsiveness in statistical processes. By leveraging these for automated data collection, processing, analysis, dissemination, process optimization, and quality management, and incorporating robust standards and metadata management, we aim to create a seamless, high-quality, and adaptive statistical environment that meets the evolving needs of stakeholders.</a:t>
                      </a:r>
                      <a:endParaRPr lang="en-US"/>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r h="1715366">
                <a:tc>
                  <a:txBody>
                    <a:bodyPr/>
                    <a:lstStyle/>
                    <a:p>
                      <a:pPr lvl="0" algn="l">
                        <a:lnSpc>
                          <a:spcPct val="100000"/>
                        </a:lnSpc>
                        <a:spcBef>
                          <a:spcPts val="0"/>
                        </a:spcBef>
                        <a:spcAft>
                          <a:spcPts val="0"/>
                        </a:spcAft>
                        <a:buNone/>
                      </a:pPr>
                      <a:r>
                        <a:rPr lang="en-US" sz="1400" b="1" i="0" u="none" strike="noStrike" noProof="0">
                          <a:solidFill>
                            <a:schemeClr val="tx1"/>
                          </a:solidFill>
                          <a:latin typeface="Calibri"/>
                        </a:rPr>
                        <a:t>Key changes required to reach the vision:</a:t>
                      </a:r>
                    </a:p>
                    <a:p>
                      <a:pPr marL="285750" lvl="0" indent="-285750">
                        <a:buFont typeface="Arial"/>
                        <a:buChar char="•"/>
                      </a:pPr>
                      <a:r>
                        <a:rPr lang="en-US" sz="1400" b="0" i="0" u="none" strike="noStrike" noProof="0">
                          <a:solidFill>
                            <a:schemeClr val="tx1"/>
                          </a:solidFill>
                          <a:latin typeface="Calibri"/>
                        </a:rPr>
                        <a:t>Incorporate AI agents capable of interpreting data-sharing agreements, executing governance policies dynamically (e.g., privacy, retention, classification), and mediating context-aware access based on metadata, provenance, and purpose.</a:t>
                      </a:r>
                    </a:p>
                    <a:p>
                      <a:pPr marL="285750" lvl="0" indent="-285750">
                        <a:buFont typeface="Arial"/>
                        <a:buChar char="•"/>
                      </a:pPr>
                      <a:r>
                        <a:rPr lang="en-US" sz="1400" b="0" i="0" u="none" strike="noStrike" noProof="0">
                          <a:solidFill>
                            <a:schemeClr val="tx1"/>
                          </a:solidFill>
                          <a:latin typeface="Calibri"/>
                        </a:rPr>
                        <a:t>The governance model is metadata-first: classification, policy, and access rules are machine-actionable, discoverable, and versioned. </a:t>
                      </a:r>
                    </a:p>
                    <a:p>
                      <a:pPr marL="285750" lvl="0" indent="-285750">
                        <a:buFont typeface="Arial"/>
                        <a:buChar char="•"/>
                      </a:pPr>
                      <a:r>
                        <a:rPr lang="en-US" sz="1400" b="0" i="0" u="none" strike="noStrike" noProof="0">
                          <a:solidFill>
                            <a:schemeClr val="tx1"/>
                          </a:solidFill>
                          <a:latin typeface="Calibri"/>
                        </a:rPr>
                        <a:t>Shift from system access to data access will allow better scalability and security of data holdings</a:t>
                      </a:r>
                    </a:p>
                    <a:p>
                      <a:pPr marL="285750" lvl="0" indent="-285750">
                        <a:buFont typeface="Arial"/>
                        <a:buChar char="•"/>
                      </a:pPr>
                      <a:r>
                        <a:rPr lang="en-US" sz="1400" b="0" i="0" u="none" strike="noStrike" noProof="0">
                          <a:solidFill>
                            <a:srgbClr val="000000"/>
                          </a:solidFill>
                          <a:latin typeface="Calibri"/>
                        </a:rPr>
                        <a:t>emphasize modular design using microservices for scalable, reusable components, and a hybrid development strategy combining business-led and IT-led initiatives</a:t>
                      </a:r>
                    </a:p>
                    <a:p>
                      <a:pPr marL="285750" lvl="0" indent="-285750">
                        <a:buFont typeface="Arial"/>
                        <a:buChar char="•"/>
                      </a:pPr>
                      <a:r>
                        <a:rPr lang="en-US" sz="1200" b="0" i="0" u="none" strike="noStrike" noProof="0">
                          <a:solidFill>
                            <a:srgbClr val="000000"/>
                          </a:solidFill>
                          <a:latin typeface="Calibri"/>
                        </a:rPr>
                        <a:t>Implement Infrastructure to support the orchestration of Events to Trigger processing (Automation versus Manual to start)</a:t>
                      </a:r>
                      <a:endParaRPr lang="en-US" sz="1400" b="0" i="0" u="none" strike="noStrike" noProof="0">
                        <a:solidFill>
                          <a:srgbClr val="000000"/>
                        </a:solidFill>
                        <a:latin typeface="Calibri"/>
                      </a:endParaRPr>
                    </a:p>
                    <a:p>
                      <a:pPr marL="285750" lvl="0" indent="-285750">
                        <a:buFont typeface="Arial"/>
                        <a:buChar char="•"/>
                      </a:pPr>
                      <a:r>
                        <a:rPr lang="en-US" sz="1400" b="0" i="0" u="none" strike="noStrike" noProof="0">
                          <a:solidFill>
                            <a:srgbClr val="000000"/>
                          </a:solidFill>
                          <a:latin typeface="Calibri"/>
                        </a:rPr>
                        <a:t>Shift from active data collection to a passive model for collection</a:t>
                      </a:r>
                    </a:p>
                    <a:p>
                      <a:pPr marL="285750" lvl="0" indent="-285750">
                        <a:buFont typeface="Arial"/>
                        <a:buChar char="•"/>
                      </a:pPr>
                      <a:r>
                        <a:rPr lang="en-US" sz="1400" b="0" i="0" u="none" strike="noStrike" noProof="0">
                          <a:solidFill>
                            <a:srgbClr val="000000"/>
                          </a:solidFill>
                          <a:latin typeface="Calibri"/>
                        </a:rPr>
                        <a:t>Incorporate further standardization throughout the collection process to support the remaining steps of GSBPM</a:t>
                      </a:r>
                    </a:p>
                    <a:p>
                      <a:pPr lvl="0">
                        <a:buNone/>
                      </a:pPr>
                      <a:endParaRPr lang="en-US" sz="1400" b="0" i="0" u="none" strike="noStrike" noProof="0">
                        <a:solidFill>
                          <a:schemeClr val="tx1"/>
                        </a:solidFill>
                        <a:latin typeface="Calibri"/>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187039833"/>
                  </a:ext>
                </a:extLst>
              </a:tr>
              <a:tr h="1715366">
                <a:tc>
                  <a:txBody>
                    <a:bodyPr/>
                    <a:lstStyle/>
                    <a:p>
                      <a:pPr lvl="0">
                        <a:buNone/>
                      </a:pPr>
                      <a:r>
                        <a:rPr lang="en-US" sz="1400" b="1" i="0" u="none" strike="noStrike" noProof="0">
                          <a:solidFill>
                            <a:schemeClr val="tx1"/>
                          </a:solidFill>
                          <a:latin typeface="Calibri"/>
                        </a:rPr>
                        <a:t>Value to Stakeholders / Users:</a:t>
                      </a:r>
                      <a:endParaRPr lang="en-US"/>
                    </a:p>
                    <a:p>
                      <a:pPr marL="285750" lvl="0" indent="-285750">
                        <a:buFont typeface="Arial"/>
                        <a:buChar char="•"/>
                      </a:pPr>
                      <a:r>
                        <a:rPr lang="en-CA" sz="1400" b="0" i="0" u="none" strike="noStrike" noProof="0">
                          <a:solidFill>
                            <a:schemeClr val="tx1"/>
                          </a:solidFill>
                          <a:latin typeface="Calibri"/>
                        </a:rPr>
                        <a:t>Enable AI through solid data foundations</a:t>
                      </a:r>
                    </a:p>
                    <a:p>
                      <a:pPr marL="285750" lvl="0" indent="-285750">
                        <a:buFont typeface="Arial"/>
                        <a:buChar char="•"/>
                      </a:pPr>
                      <a:r>
                        <a:rPr lang="en-CA" sz="1400" b="0" i="0" u="none" strike="noStrike" noProof="0">
                          <a:solidFill>
                            <a:schemeClr val="tx1"/>
                          </a:solidFill>
                          <a:latin typeface="Calibri"/>
                        </a:rPr>
                        <a:t>Statistical and data standards, and metadata management enable re-use and increased data usage</a:t>
                      </a:r>
                      <a:endParaRPr lang="en-CA"/>
                    </a:p>
                    <a:p>
                      <a:pPr marL="285750" lvl="0" indent="-285750">
                        <a:buFont typeface="Arial"/>
                        <a:buChar char="•"/>
                      </a:pPr>
                      <a:r>
                        <a:rPr lang="en-US" sz="1400" b="0" i="0" u="none" strike="noStrike" noProof="0">
                          <a:solidFill>
                            <a:srgbClr val="000000"/>
                          </a:solidFill>
                          <a:latin typeface="Calibri"/>
                        </a:rPr>
                        <a:t>Proper data governance and centralization will ensure consistency, accessibility, and quality, forming a solid foundation for innovation and decision-making</a:t>
                      </a:r>
                    </a:p>
                    <a:p>
                      <a:pPr marL="285750" lvl="0" indent="-285750" algn="l">
                        <a:lnSpc>
                          <a:spcPct val="100000"/>
                        </a:lnSpc>
                        <a:spcBef>
                          <a:spcPts val="0"/>
                        </a:spcBef>
                        <a:spcAft>
                          <a:spcPts val="0"/>
                        </a:spcAft>
                        <a:buFont typeface="Arial"/>
                        <a:buChar char="•"/>
                      </a:pPr>
                      <a:r>
                        <a:rPr lang="en-US" sz="1400" b="0" i="0" u="none" strike="noStrike" noProof="0">
                          <a:solidFill>
                            <a:srgbClr val="000000"/>
                          </a:solidFill>
                          <a:latin typeface="Calibri"/>
                        </a:rPr>
                        <a:t>adopting working in the open principles will foster transparency and international collaboration, with clear guidelines on code of practice, governance, and security</a:t>
                      </a:r>
                    </a:p>
                    <a:p>
                      <a:pPr marL="285750" lvl="0" indent="-285750" algn="l">
                        <a:lnSpc>
                          <a:spcPct val="100000"/>
                        </a:lnSpc>
                        <a:spcBef>
                          <a:spcPts val="0"/>
                        </a:spcBef>
                        <a:spcAft>
                          <a:spcPts val="0"/>
                        </a:spcAft>
                        <a:buFont typeface="Arial"/>
                        <a:buChar char="•"/>
                      </a:pPr>
                      <a:r>
                        <a:rPr lang="en-US" sz="1400" b="0" i="0" u="none" strike="noStrike" noProof="0">
                          <a:solidFill>
                            <a:srgbClr val="000000"/>
                          </a:solidFill>
                          <a:latin typeface="Calibri"/>
                        </a:rPr>
                        <a:t>Efficiencies in Processing Time and Elapse Time for both service provider and SMA, creating value to programs to shift focus to other higher value work activities/operations</a:t>
                      </a:r>
                    </a:p>
                    <a:p>
                      <a:pPr marL="285750" lvl="0" indent="-285750" algn="l">
                        <a:lnSpc>
                          <a:spcPct val="100000"/>
                        </a:lnSpc>
                        <a:spcBef>
                          <a:spcPts val="0"/>
                        </a:spcBef>
                        <a:spcAft>
                          <a:spcPts val="0"/>
                        </a:spcAft>
                        <a:buFont typeface="Arial"/>
                        <a:buChar char="•"/>
                      </a:pPr>
                      <a:r>
                        <a:rPr lang="en-US" sz="1400" b="0" i="0" u="none" strike="noStrike" noProof="0">
                          <a:solidFill>
                            <a:srgbClr val="000000"/>
                          </a:solidFill>
                          <a:latin typeface="Calibri"/>
                        </a:rPr>
                        <a:t>Assist in combating mis/disinformation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94531670"/>
                  </a:ext>
                </a:extLst>
              </a:tr>
            </a:tbl>
          </a:graphicData>
        </a:graphic>
      </p:graphicFrame>
    </p:spTree>
    <p:extLst>
      <p:ext uri="{BB962C8B-B14F-4D97-AF65-F5344CB8AC3E}">
        <p14:creationId xmlns:p14="http://schemas.microsoft.com/office/powerpoint/2010/main" val="2835740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3E11-F9E7-B995-AA95-229FBA9DF6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7A1407-5B39-6D89-9A48-6F6B016E692D}"/>
              </a:ext>
            </a:extLst>
          </p:cNvPr>
          <p:cNvSpPr>
            <a:spLocks noGrp="1"/>
          </p:cNvSpPr>
          <p:nvPr>
            <p:ph type="sldNum" sz="quarter" idx="12"/>
          </p:nvPr>
        </p:nvSpPr>
        <p:spPr/>
        <p:txBody>
          <a:bodyPr/>
          <a:lstStyle/>
          <a:p>
            <a:fld id="{49DA9349-B3BD-4AC8-BE71-63081D1E6344}" type="slidenum">
              <a:rPr lang="en-CA" smtClean="0"/>
              <a:t>16</a:t>
            </a:fld>
            <a:endParaRPr lang="en-CA"/>
          </a:p>
        </p:txBody>
      </p:sp>
      <p:sp>
        <p:nvSpPr>
          <p:cNvPr id="10" name="Title 1">
            <a:extLst>
              <a:ext uri="{FF2B5EF4-FFF2-40B4-BE49-F238E27FC236}">
                <a16:creationId xmlns:a16="http://schemas.microsoft.com/office/drawing/2014/main" id="{5703F6DC-AC85-5E10-D513-59612E662B6B}"/>
              </a:ext>
            </a:extLst>
          </p:cNvPr>
          <p:cNvSpPr>
            <a:spLocks noGrp="1"/>
          </p:cNvSpPr>
          <p:nvPr/>
        </p:nvSpPr>
        <p:spPr>
          <a:xfrm>
            <a:off x="838389" y="130706"/>
            <a:ext cx="10626811" cy="540601"/>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Key Opportunities</a:t>
            </a:r>
          </a:p>
        </p:txBody>
      </p:sp>
      <p:graphicFrame>
        <p:nvGraphicFramePr>
          <p:cNvPr id="12" name="Table 12">
            <a:extLst>
              <a:ext uri="{FF2B5EF4-FFF2-40B4-BE49-F238E27FC236}">
                <a16:creationId xmlns:a16="http://schemas.microsoft.com/office/drawing/2014/main" id="{B2B13D0F-851E-C879-5743-8DCC871C31AB}"/>
              </a:ext>
            </a:extLst>
          </p:cNvPr>
          <p:cNvGraphicFramePr>
            <a:graphicFrameLocks noGrp="1"/>
          </p:cNvGraphicFramePr>
          <p:nvPr>
            <p:extLst>
              <p:ext uri="{D42A27DB-BD31-4B8C-83A1-F6EECF244321}">
                <p14:modId xmlns:p14="http://schemas.microsoft.com/office/powerpoint/2010/main" val="2665429597"/>
              </p:ext>
            </p:extLst>
          </p:nvPr>
        </p:nvGraphicFramePr>
        <p:xfrm>
          <a:off x="62023" y="609283"/>
          <a:ext cx="12075087" cy="6065520"/>
        </p:xfrm>
        <a:graphic>
          <a:graphicData uri="http://schemas.openxmlformats.org/drawingml/2006/table">
            <a:tbl>
              <a:tblPr firstRow="1" bandRow="1">
                <a:tableStyleId>{5C22544A-7EE6-4342-B048-85BDC9FD1C3A}</a:tableStyleId>
              </a:tblPr>
              <a:tblGrid>
                <a:gridCol w="1809750">
                  <a:extLst>
                    <a:ext uri="{9D8B030D-6E8A-4147-A177-3AD203B41FA5}">
                      <a16:colId xmlns:a16="http://schemas.microsoft.com/office/drawing/2014/main" val="3277556587"/>
                    </a:ext>
                  </a:extLst>
                </a:gridCol>
                <a:gridCol w="2667000">
                  <a:extLst>
                    <a:ext uri="{9D8B030D-6E8A-4147-A177-3AD203B41FA5}">
                      <a16:colId xmlns:a16="http://schemas.microsoft.com/office/drawing/2014/main" val="1809336168"/>
                    </a:ext>
                  </a:extLst>
                </a:gridCol>
                <a:gridCol w="3861483">
                  <a:extLst>
                    <a:ext uri="{9D8B030D-6E8A-4147-A177-3AD203B41FA5}">
                      <a16:colId xmlns:a16="http://schemas.microsoft.com/office/drawing/2014/main" val="378703768"/>
                    </a:ext>
                  </a:extLst>
                </a:gridCol>
                <a:gridCol w="3736854">
                  <a:extLst>
                    <a:ext uri="{9D8B030D-6E8A-4147-A177-3AD203B41FA5}">
                      <a16:colId xmlns:a16="http://schemas.microsoft.com/office/drawing/2014/main" val="4070344323"/>
                    </a:ext>
                  </a:extLst>
                </a:gridCol>
              </a:tblGrid>
              <a:tr h="371812">
                <a:tc>
                  <a:txBody>
                    <a:bodyPr/>
                    <a:lstStyle/>
                    <a:p>
                      <a:pPr lvl="0" algn="ctr">
                        <a:buNone/>
                      </a:pPr>
                      <a:r>
                        <a:rPr lang="en-CA" sz="1600" b="0">
                          <a:solidFill>
                            <a:schemeClr val="tx1"/>
                          </a:solidFill>
                        </a:rPr>
                        <a:t>Key Business Process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600" b="0">
                          <a:solidFill>
                            <a:schemeClr val="tx1"/>
                          </a:solidFill>
                        </a:rPr>
                        <a:t>Current State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ctr"/>
                      <a:r>
                        <a:rPr lang="en-CA" sz="1600" b="0">
                          <a:solidFill>
                            <a:schemeClr val="tx1"/>
                          </a:solidFill>
                        </a:rPr>
                        <a:t>Proposed Change (tactic, lever)</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600" b="0">
                          <a:solidFill>
                            <a:schemeClr val="tx1"/>
                          </a:solidFill>
                        </a:rPr>
                        <a:t>Expected Impact</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3639897"/>
                  </a:ext>
                </a:extLst>
              </a:tr>
              <a:tr h="672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b="0">
                          <a:solidFill>
                            <a:schemeClr val="tx1"/>
                          </a:solidFill>
                        </a:rPr>
                        <a:t>Data Governance and Monitoring</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US" sz="1050"/>
                        <a:t>Governance activities remain siloed and manual, constrained by centralized services and legacy systems. There is no real-time, decentralized mechanism for adaptive policy enforcement or automated data stewardship across jurisdictions.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US" sz="1050"/>
                        <a:t>Establish an agent-based system architecture composed of intelligent, autonomous software agents. These agents are embedded at the edge and coordinated via a lightweight Model Context Protocol (MCP), functioning as a decentralized policy interpreter and dispatcher. Each agent is capable of executing specialized tasks—such as metadata verification, data lineage tracking, stewardship validation, and anomaly detection—based on encoded governance policies and contextual awareness. Agents collaborate across jurisdictions to achieve emergent coherence without requiring a central authority.</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indent="-171450">
                        <a:buFont typeface="Arial" panose="020B0604020202020204" pitchFamily="34" charset="0"/>
                        <a:buChar char="•"/>
                      </a:pPr>
                      <a:r>
                        <a:rPr lang="en-US" sz="1050"/>
                        <a:t>Decentralized, adaptive monitoring of data quality and policy compliance.</a:t>
                      </a:r>
                    </a:p>
                    <a:p>
                      <a:pPr marL="171450" indent="-171450">
                        <a:buFont typeface="Arial" panose="020B0604020202020204" pitchFamily="34" charset="0"/>
                        <a:buChar char="•"/>
                      </a:pPr>
                      <a:r>
                        <a:rPr lang="en-US" sz="1050"/>
                        <a:t>Real-time decision-making and issue resolution through agent negotiation and knowledge sharing.</a:t>
                      </a:r>
                    </a:p>
                    <a:p>
                      <a:pPr marL="171450" indent="-171450">
                        <a:buFont typeface="Arial" panose="020B0604020202020204" pitchFamily="34" charset="0"/>
                        <a:buChar char="•"/>
                      </a:pPr>
                      <a:r>
                        <a:rPr lang="en-US" sz="1050"/>
                        <a:t>Reduced human oversight by automating lineage documentation, anomaly alerts, and stewardship verification.</a:t>
                      </a:r>
                    </a:p>
                    <a:p>
                      <a:pPr marL="171450" indent="-171450">
                        <a:buFont typeface="Arial" panose="020B0604020202020204" pitchFamily="34" charset="0"/>
                        <a:buChar char="•"/>
                      </a:pPr>
                      <a:r>
                        <a:rPr lang="en-US" sz="1050"/>
                        <a:t>A scalable, modular governance infrastructure that aligns with asymmetric federalism.</a:t>
                      </a:r>
                    </a:p>
                    <a:p>
                      <a:pPr algn="l"/>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4652513"/>
                  </a:ext>
                </a:extLst>
              </a:tr>
              <a:tr h="672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Compliance with Governance, Privacy Regulations, and Policies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Manual access audits, ad hoc retention enforcement, and non-scalable data anonymization mechanisms prevail. Governance policies are interpreted and applied inconsistently, often relying on individual discretion and physical data management.</a:t>
                      </a:r>
                      <a:endParaRPr lang="en-CA" sz="105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Embed AI agents within data workflows to interpret and enforce privacy, access, and retention policies in real time. These agents use contextual metadata and policy logic to flag unauthorized access, manage privacy-preserving tokens, and apply data minimization principles automatically. Retention and disposal workflows are AI-triggered, based on policy thresholds and data usage patterns.</a:t>
                      </a:r>
                      <a:endParaRPr lang="en-CA" sz="105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indent="-171450">
                        <a:buFont typeface="Arial" panose="020B0604020202020204" pitchFamily="34" charset="0"/>
                        <a:buChar char="•"/>
                      </a:pPr>
                      <a:r>
                        <a:rPr lang="en-US" sz="1050"/>
                        <a:t>Regulatory compliance becomes continuous, explainable, and machine-executed.</a:t>
                      </a:r>
                    </a:p>
                    <a:p>
                      <a:pPr marL="171450" indent="-171450">
                        <a:buFont typeface="Arial" panose="020B0604020202020204" pitchFamily="34" charset="0"/>
                        <a:buChar char="•"/>
                      </a:pPr>
                      <a:r>
                        <a:rPr lang="en-US" sz="1050"/>
                        <a:t>Elimination of manual privacy enforcement burdens.</a:t>
                      </a:r>
                    </a:p>
                    <a:p>
                      <a:pPr marL="171450" indent="-171450">
                        <a:buFont typeface="Arial" panose="020B0604020202020204" pitchFamily="34" charset="0"/>
                        <a:buChar char="•"/>
                      </a:pPr>
                      <a:r>
                        <a:rPr lang="en-US" sz="1050"/>
                        <a:t>AI-driven accountability mechanisms improve auditability and legal resilience.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05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265843521"/>
                  </a:ext>
                </a:extLst>
              </a:tr>
              <a:tr h="672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a:t>Automated Data Classification</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050"/>
                        <a:t>Classification is inconsistently applied, often reactive, and dependent on local taxonomies or manual review. There is no system-wide semantic alignment for classification across the NSS.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050"/>
                        <a:t>Activate MCP-linked AI classifiers trained on organizational taxonomies, jurisdictional norms, and contextual usage. These classifiers apply semantic labeling, metadata tagging, and sensitivity designations as data enters or moves across the system. The process is federated: local nodes maintain control, while classification standards are harmonized through shared governance ontologies.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171450" indent="-171450">
                        <a:buFont typeface="Arial" panose="020B0604020202020204" pitchFamily="34" charset="0"/>
                        <a:buChar char="•"/>
                      </a:pPr>
                      <a:r>
                        <a:rPr lang="en-US" sz="1050"/>
                        <a:t>Real-time, high-precision classification based on enterprise and regulatory standards.</a:t>
                      </a:r>
                    </a:p>
                    <a:p>
                      <a:pPr marL="171450" indent="-171450">
                        <a:buFont typeface="Arial" panose="020B0604020202020204" pitchFamily="34" charset="0"/>
                        <a:buChar char="•"/>
                      </a:pPr>
                      <a:r>
                        <a:rPr lang="en-US" sz="1050"/>
                        <a:t>Improved interoperability and access control.</a:t>
                      </a:r>
                    </a:p>
                    <a:p>
                      <a:pPr marL="171450" indent="-171450">
                        <a:buFont typeface="Arial" panose="020B0604020202020204" pitchFamily="34" charset="0"/>
                        <a:buChar char="•"/>
                      </a:pPr>
                      <a:r>
                        <a:rPr lang="en-US" sz="1050"/>
                        <a:t>Reduced risk of misclassification and enhanced data discoverability.</a:t>
                      </a:r>
                    </a:p>
                    <a:p>
                      <a:pPr algn="l"/>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77923524"/>
                  </a:ext>
                </a:extLst>
              </a:tr>
              <a:tr h="672801">
                <a:tc>
                  <a:txBody>
                    <a:bodyPr/>
                    <a:lstStyle/>
                    <a:p>
                      <a:pPr marL="0" lvl="0" indent="0" algn="l" defTabSz="914400">
                        <a:lnSpc>
                          <a:spcPct val="100000"/>
                        </a:lnSpc>
                        <a:spcBef>
                          <a:spcPts val="0"/>
                        </a:spcBef>
                        <a:spcAft>
                          <a:spcPts val="0"/>
                        </a:spcAft>
                        <a:buNone/>
                        <a:tabLst/>
                        <a:defRPr/>
                      </a:pPr>
                      <a:r>
                        <a:rPr lang="en-CA" sz="1050"/>
                        <a:t>Standardization</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lvl="0" algn="l">
                        <a:buNone/>
                      </a:pPr>
                      <a:r>
                        <a:rPr lang="en-US" sz="1050"/>
                        <a:t>Ad hoc use of standards throughout the organization at all GSBPM steps</a:t>
                      </a:r>
                    </a:p>
                    <a:p>
                      <a:pPr lvl="0" algn="l">
                        <a:buNone/>
                      </a:pPr>
                      <a:r>
                        <a:rPr lang="en-US" sz="1050"/>
                        <a:t>Lack of time and budget to align systems to standards which apply to legacy systems</a:t>
                      </a:r>
                    </a:p>
                    <a:p>
                      <a:pPr lvl="0" algn="l">
                        <a:buNone/>
                      </a:pPr>
                      <a:r>
                        <a:rPr lang="en-US" sz="1050"/>
                        <a:t>Processing doesn't allow for the introduction of these standards</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lvl="0" algn="l">
                        <a:buNone/>
                      </a:pPr>
                      <a:r>
                        <a:rPr lang="en-CA" sz="1050" b="0">
                          <a:solidFill>
                            <a:schemeClr val="tx1"/>
                          </a:solidFill>
                        </a:rPr>
                        <a:t>Standard data formats, data models &amp; concepts, data cataloguing, defined data domains to facilitate data stewardship, cloud storage solutions, medallion data architecture (lake house environment)</a:t>
                      </a:r>
                      <a:endParaRPr lang="en-US" sz="1050"/>
                    </a:p>
                  </a:txBody>
                  <a:tcPr>
                    <a:lnL w="3174" cap="flat" cmpd="sng" algn="ctr">
                      <a:solidFill>
                        <a:schemeClr val="tx1"/>
                      </a:solidFill>
                      <a:prstDash val="solid"/>
                      <a:round/>
                      <a:headEnd type="none" w="med" len="med"/>
                      <a:tailEnd type="none" w="med" len="med"/>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lvl="0" indent="-171450" algn="l">
                        <a:buFont typeface="Arial"/>
                        <a:buChar char="•"/>
                      </a:pPr>
                      <a:r>
                        <a:rPr lang="en-CA" sz="1050" b="0">
                          <a:solidFill>
                            <a:schemeClr val="tx1"/>
                          </a:solidFill>
                        </a:rPr>
                        <a:t>Prescribed standards applied to data, services, processes</a:t>
                      </a:r>
                    </a:p>
                    <a:p>
                      <a:pPr marL="171450" lvl="0" indent="-171450" algn="l">
                        <a:buFont typeface="Arial"/>
                        <a:buChar char="•"/>
                      </a:pPr>
                      <a:r>
                        <a:rPr lang="en-CA" sz="1050" b="0">
                          <a:solidFill>
                            <a:schemeClr val="tx1"/>
                          </a:solidFill>
                        </a:rPr>
                        <a:t>Improved data quality, findability, interoperability, and reusability</a:t>
                      </a:r>
                    </a:p>
                    <a:p>
                      <a:pPr marL="171450" lvl="0" indent="-171450" algn="l">
                        <a:buFont typeface="Arial"/>
                        <a:buChar char="•"/>
                      </a:pPr>
                      <a:endParaRPr lang="en-CA" sz="1050" b="0">
                        <a:solidFill>
                          <a:schemeClr val="tx1"/>
                        </a:solidFill>
                      </a:endParaRPr>
                    </a:p>
                  </a:txBody>
                  <a:tcPr>
                    <a:lnL w="3175" cap="flat" cmpd="sng" algn="ctr">
                      <a:solidFill>
                        <a:schemeClr val="tx1"/>
                      </a:solidFill>
                      <a:prstDash val="solid"/>
                      <a:round/>
                      <a:headEnd type="none" w="med" len="med"/>
                      <a:tailEnd type="none" w="med" len="med"/>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9336502"/>
                  </a:ext>
                </a:extLst>
              </a:tr>
            </a:tbl>
          </a:graphicData>
        </a:graphic>
      </p:graphicFrame>
    </p:spTree>
    <p:extLst>
      <p:ext uri="{BB962C8B-B14F-4D97-AF65-F5344CB8AC3E}">
        <p14:creationId xmlns:p14="http://schemas.microsoft.com/office/powerpoint/2010/main" val="535379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3E11-F9E7-B995-AA95-229FBA9DF6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7A1407-5B39-6D89-9A48-6F6B016E692D}"/>
              </a:ext>
            </a:extLst>
          </p:cNvPr>
          <p:cNvSpPr>
            <a:spLocks noGrp="1"/>
          </p:cNvSpPr>
          <p:nvPr>
            <p:ph type="sldNum" sz="quarter" idx="12"/>
          </p:nvPr>
        </p:nvSpPr>
        <p:spPr/>
        <p:txBody>
          <a:bodyPr/>
          <a:lstStyle/>
          <a:p>
            <a:fld id="{49DA9349-B3BD-4AC8-BE71-63081D1E6344}" type="slidenum">
              <a:rPr lang="en-CA" smtClean="0"/>
              <a:t>17</a:t>
            </a:fld>
            <a:endParaRPr lang="en-CA"/>
          </a:p>
        </p:txBody>
      </p:sp>
      <p:sp>
        <p:nvSpPr>
          <p:cNvPr id="10" name="Title 1">
            <a:extLst>
              <a:ext uri="{FF2B5EF4-FFF2-40B4-BE49-F238E27FC236}">
                <a16:creationId xmlns:a16="http://schemas.microsoft.com/office/drawing/2014/main" id="{5703F6DC-AC85-5E10-D513-59612E662B6B}"/>
              </a:ext>
            </a:extLst>
          </p:cNvPr>
          <p:cNvSpPr>
            <a:spLocks noGrp="1"/>
          </p:cNvSpPr>
          <p:nvPr/>
        </p:nvSpPr>
        <p:spPr>
          <a:xfrm>
            <a:off x="838389" y="130706"/>
            <a:ext cx="10626811" cy="540601"/>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Concrete Actions</a:t>
            </a:r>
          </a:p>
        </p:txBody>
      </p:sp>
      <p:graphicFrame>
        <p:nvGraphicFramePr>
          <p:cNvPr id="12" name="Table 12">
            <a:extLst>
              <a:ext uri="{FF2B5EF4-FFF2-40B4-BE49-F238E27FC236}">
                <a16:creationId xmlns:a16="http://schemas.microsoft.com/office/drawing/2014/main" id="{B2B13D0F-851E-C879-5743-8DCC871C31AB}"/>
              </a:ext>
            </a:extLst>
          </p:cNvPr>
          <p:cNvGraphicFramePr>
            <a:graphicFrameLocks noGrp="1"/>
          </p:cNvGraphicFramePr>
          <p:nvPr/>
        </p:nvGraphicFramePr>
        <p:xfrm>
          <a:off x="417285" y="752928"/>
          <a:ext cx="11000922" cy="5654512"/>
        </p:xfrm>
        <a:graphic>
          <a:graphicData uri="http://schemas.openxmlformats.org/drawingml/2006/table">
            <a:tbl>
              <a:tblPr firstRow="1" bandRow="1">
                <a:tableStyleId>{5C22544A-7EE6-4342-B048-85BDC9FD1C3A}</a:tableStyleId>
              </a:tblPr>
              <a:tblGrid>
                <a:gridCol w="2864826">
                  <a:extLst>
                    <a:ext uri="{9D8B030D-6E8A-4147-A177-3AD203B41FA5}">
                      <a16:colId xmlns:a16="http://schemas.microsoft.com/office/drawing/2014/main" val="3277556587"/>
                    </a:ext>
                  </a:extLst>
                </a:gridCol>
                <a:gridCol w="8136096">
                  <a:extLst>
                    <a:ext uri="{9D8B030D-6E8A-4147-A177-3AD203B41FA5}">
                      <a16:colId xmlns:a16="http://schemas.microsoft.com/office/drawing/2014/main" val="378703768"/>
                    </a:ext>
                  </a:extLst>
                </a:gridCol>
              </a:tblGrid>
              <a:tr h="365252">
                <a:tc>
                  <a:txBody>
                    <a:bodyPr/>
                    <a:lstStyle/>
                    <a:p>
                      <a:pPr lvl="0" algn="ctr">
                        <a:buNone/>
                      </a:pPr>
                      <a:r>
                        <a:rPr lang="en-CA" sz="1400" b="0">
                          <a:solidFill>
                            <a:schemeClr val="tx1"/>
                          </a:solidFill>
                        </a:rPr>
                        <a:t>GSBPM Phase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ctr"/>
                      <a:r>
                        <a:rPr lang="en-CA" sz="1400" b="0">
                          <a:solidFill>
                            <a:schemeClr val="tx1"/>
                          </a:solidFill>
                        </a:rPr>
                        <a:t>Proposed Change (tactic, lever)</a:t>
                      </a:r>
                    </a:p>
                  </a:txBody>
                  <a:tcPr>
                    <a:lnL w="3175" cap="flat" cmpd="sng" algn="ctr">
                      <a:solidFill>
                        <a:schemeClr val="tx1"/>
                      </a:solidFill>
                      <a:prstDash val="solid"/>
                      <a:round/>
                      <a:headEnd type="none" w="med" len="med"/>
                      <a:tailEnd type="none" w="med" len="med"/>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3639897"/>
                  </a:ext>
                </a:extLst>
              </a:tr>
              <a:tr h="12246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b="0">
                          <a:solidFill>
                            <a:schemeClr val="tx1"/>
                          </a:solidFill>
                        </a:rPr>
                        <a:t>Data Collection/Acquisition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lvl="0" indent="-171450">
                        <a:buFont typeface="Arial" panose="020B0604020202020204" pitchFamily="34" charset="0"/>
                        <a:buChar char="•"/>
                      </a:pPr>
                      <a:r>
                        <a:rPr lang="en-US" sz="1300" b="0" i="0" baseline="0"/>
                        <a:t>Ensure minimum metadata requirements are respected for every data collection/acquisition process</a:t>
                      </a:r>
                    </a:p>
                    <a:p>
                      <a:pPr marL="171450" lvl="0" indent="-171450">
                        <a:buFont typeface="Arial" panose="020B0604020202020204" pitchFamily="34" charset="0"/>
                        <a:buChar char="•"/>
                      </a:pPr>
                      <a:r>
                        <a:rPr lang="en-US" sz="1300" b="0" i="0" baseline="0"/>
                        <a:t>Use AI to enhance the extraction of structured data from unstructured sources</a:t>
                      </a:r>
                    </a:p>
                    <a:p>
                      <a:pPr marL="171450" lvl="0" indent="-171450">
                        <a:buFont typeface="Arial" panose="020B0604020202020204" pitchFamily="34" charset="0"/>
                        <a:buChar char="•"/>
                      </a:pPr>
                      <a:r>
                        <a:rPr lang="en-US" sz="1300" b="0" i="0" baseline="0"/>
                        <a:t>Ensure metadata to </a:t>
                      </a:r>
                      <a:r>
                        <a:rPr lang="en-US" sz="1300" b="0" i="0" baseline="0">
                          <a:solidFill>
                            <a:schemeClr val="tx1"/>
                          </a:solidFill>
                        </a:rPr>
                        <a:t>identify</a:t>
                      </a:r>
                      <a:r>
                        <a:rPr lang="en-US" sz="1300" b="0" i="0" baseline="0"/>
                        <a:t> credible data sources to reduce mis/dis-information</a:t>
                      </a:r>
                    </a:p>
                    <a:p>
                      <a:pPr marL="171450" lvl="0" indent="-171450">
                        <a:buFont typeface="Arial" panose="020B0604020202020204" pitchFamily="34" charset="0"/>
                        <a:buChar char="•"/>
                      </a:pPr>
                      <a:r>
                        <a:rPr lang="en-US" sz="1300" b="0" i="0" baseline="0"/>
                        <a:t>Automate recurring data acquisitions with external partners</a:t>
                      </a:r>
                    </a:p>
                    <a:p>
                      <a:pPr marL="171450" lvl="0" indent="-171450">
                        <a:buFont typeface="Arial" panose="020B0604020202020204" pitchFamily="34" charset="0"/>
                        <a:buChar char="•"/>
                      </a:pPr>
                      <a:r>
                        <a:rPr lang="en-US" sz="1300" b="0" i="0" baseline="0"/>
                        <a:t>Use AI/ML to populate metadata repositories (fill gaps) and IM data tagging, at ingestion</a:t>
                      </a:r>
                    </a:p>
                  </a:txBody>
                  <a:tcPr>
                    <a:lnL w="3175"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4652513"/>
                  </a:ext>
                </a:extLst>
              </a:tr>
              <a:tr h="14538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Process</a:t>
                      </a:r>
                      <a:endParaRPr lang="en-CA" sz="130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1300"/>
                        <a:t>Expand use of SDMX throughout the data lifecycle process</a:t>
                      </a:r>
                    </a:p>
                    <a:p>
                      <a:pPr marL="171450" marR="0" lvl="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US" sz="1300" b="0" i="0" u="none" strike="noStrike" noProof="0">
                          <a:solidFill>
                            <a:srgbClr val="000000"/>
                          </a:solidFill>
                          <a:latin typeface="Calibri"/>
                        </a:rPr>
                        <a:t>Leverage .STAT tools for data processing &amp; analysis</a:t>
                      </a:r>
                    </a:p>
                    <a:p>
                      <a:pPr marL="171450" marR="0" lvl="0" indent="-171450" algn="l">
                        <a:lnSpc>
                          <a:spcPct val="100000"/>
                        </a:lnSpc>
                        <a:spcBef>
                          <a:spcPts val="0"/>
                        </a:spcBef>
                        <a:spcAft>
                          <a:spcPts val="0"/>
                        </a:spcAft>
                        <a:buClrTx/>
                        <a:buSzTx/>
                        <a:buFont typeface="Arial" panose="020B0604020202020204" pitchFamily="34" charset="0"/>
                        <a:buChar char="•"/>
                      </a:pPr>
                      <a:r>
                        <a:rPr lang="en-CA" sz="1300"/>
                        <a:t>Implement an exemption process for non-compliance</a:t>
                      </a:r>
                    </a:p>
                    <a:p>
                      <a:pPr marL="171450" marR="0" lvl="0" indent="-171450" algn="l">
                        <a:lnSpc>
                          <a:spcPct val="100000"/>
                        </a:lnSpc>
                        <a:spcBef>
                          <a:spcPts val="0"/>
                        </a:spcBef>
                        <a:spcAft>
                          <a:spcPts val="0"/>
                        </a:spcAft>
                        <a:buClrTx/>
                        <a:buSzTx/>
                        <a:buFont typeface="Arial" panose="020B0604020202020204" pitchFamily="34" charset="0"/>
                        <a:buChar char="•"/>
                      </a:pPr>
                      <a:r>
                        <a:rPr lang="en-CA" sz="1300"/>
                        <a:t>Amplify use of AI/ML to apply classification codes/standards</a:t>
                      </a:r>
                    </a:p>
                    <a:p>
                      <a:pPr marL="171450" marR="0" lvl="0" indent="-171450" algn="l">
                        <a:lnSpc>
                          <a:spcPct val="100000"/>
                        </a:lnSpc>
                        <a:spcBef>
                          <a:spcPts val="0"/>
                        </a:spcBef>
                        <a:spcAft>
                          <a:spcPts val="0"/>
                        </a:spcAft>
                        <a:buClrTx/>
                        <a:buSzTx/>
                        <a:buFont typeface="Arial" panose="020B0604020202020204" pitchFamily="34" charset="0"/>
                        <a:buChar char="•"/>
                      </a:pPr>
                      <a:r>
                        <a:rPr lang="en-US" sz="1300" b="0" i="0" u="none" strike="noStrike" noProof="0">
                          <a:solidFill>
                            <a:srgbClr val="000000"/>
                          </a:solidFill>
                          <a:latin typeface="Calibri"/>
                        </a:rPr>
                        <a:t>Prescribe the use of data management tools (Aria/Colectica)  </a:t>
                      </a:r>
                      <a:endParaRPr lang="en-CA" sz="1300"/>
                    </a:p>
                  </a:txBody>
                  <a:tcPr>
                    <a:lnL w="3175"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265843521"/>
                  </a:ext>
                </a:extLst>
              </a:tr>
              <a:tr h="8059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a:t>Analyse</a:t>
                      </a:r>
                      <a:endParaRPr lang="en-CA" sz="130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171450" lvl="0" indent="-171450">
                        <a:buFont typeface="Arial" panose="020B0604020202020204" pitchFamily="34" charset="0"/>
                        <a:buChar char="•"/>
                      </a:pPr>
                      <a:endParaRPr lang="en-US" sz="1300" b="0" i="0" u="none" strike="noStrike" noProof="0">
                        <a:solidFill>
                          <a:srgbClr val="000000"/>
                        </a:solidFill>
                        <a:latin typeface="Calibri"/>
                      </a:endParaRPr>
                    </a:p>
                    <a:p>
                      <a:pPr marL="171450" lvl="0" indent="-171450">
                        <a:buFont typeface="Arial" panose="020B0604020202020204" pitchFamily="34" charset="0"/>
                        <a:buChar char="•"/>
                      </a:pPr>
                      <a:r>
                        <a:rPr lang="en-CA" sz="1300"/>
                        <a:t>Automate linkage of data from disparate sources to generate deeper insights</a:t>
                      </a:r>
                    </a:p>
                    <a:p>
                      <a:pPr marL="171450" lvl="0" indent="-171450">
                        <a:buFont typeface="Arial" panose="020B0604020202020204" pitchFamily="34" charset="0"/>
                        <a:buChar char="•"/>
                      </a:pPr>
                      <a:r>
                        <a:rPr lang="en-CA" sz="1300"/>
                        <a:t>Enhance data refinement to identify gold standard data, improving quality</a:t>
                      </a:r>
                    </a:p>
                  </a:txBody>
                  <a:tcPr>
                    <a:lnL w="3175"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77923524"/>
                  </a:ext>
                </a:extLst>
              </a:tr>
              <a:tr h="902391">
                <a:tc>
                  <a:txBody>
                    <a:bodyPr/>
                    <a:lstStyle/>
                    <a:p>
                      <a:pPr marL="0" lvl="0" indent="0" algn="l" defTabSz="914400">
                        <a:lnSpc>
                          <a:spcPct val="100000"/>
                        </a:lnSpc>
                        <a:spcBef>
                          <a:spcPts val="0"/>
                        </a:spcBef>
                        <a:spcAft>
                          <a:spcPts val="0"/>
                        </a:spcAft>
                        <a:buNone/>
                        <a:tabLst/>
                        <a:defRPr/>
                      </a:pPr>
                      <a:r>
                        <a:rPr lang="en-CA" sz="1300"/>
                        <a:t>Disseminate</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300"/>
                        <a:t>Privacy-enhancing AI tools can automatically apply disclosure control, ensuring sensitive data protection before external sharing</a:t>
                      </a:r>
                    </a:p>
                  </a:txBody>
                  <a:tcPr>
                    <a:lnL w="3174"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9336502"/>
                  </a:ext>
                </a:extLst>
              </a:tr>
              <a:tr h="902390">
                <a:tc>
                  <a:txBody>
                    <a:bodyPr/>
                    <a:lstStyle/>
                    <a:p>
                      <a:pPr marL="0" lvl="0" indent="0" algn="l">
                        <a:lnSpc>
                          <a:spcPct val="100000"/>
                        </a:lnSpc>
                        <a:spcBef>
                          <a:spcPts val="0"/>
                        </a:spcBef>
                        <a:spcAft>
                          <a:spcPts val="0"/>
                        </a:spcAft>
                        <a:buNone/>
                      </a:pPr>
                      <a:r>
                        <a:rPr lang="en-CA" sz="1300"/>
                        <a:t>Big G (Overarching)</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solidFill>
                      <a:schemeClr val="tx2">
                        <a:lumMod val="20000"/>
                        <a:lumOff val="80000"/>
                      </a:schemeClr>
                    </a:solidFill>
                  </a:tcPr>
                </a:tc>
                <a:tc>
                  <a:txBody>
                    <a:bodyPr/>
                    <a:lstStyle/>
                    <a:p>
                      <a:pPr marL="171450" marR="0" lvl="0" indent="-171450" algn="l">
                        <a:lnSpc>
                          <a:spcPct val="100000"/>
                        </a:lnSpc>
                        <a:spcBef>
                          <a:spcPts val="0"/>
                        </a:spcBef>
                        <a:spcAft>
                          <a:spcPts val="0"/>
                        </a:spcAft>
                        <a:buClr>
                          <a:srgbClr val="000000"/>
                        </a:buClr>
                        <a:buFont typeface="Arial"/>
                        <a:buChar char="•"/>
                      </a:pPr>
                      <a:r>
                        <a:rPr lang="en-US" sz="1300" b="0" i="0" u="none" strike="noStrike" noProof="0">
                          <a:solidFill>
                            <a:srgbClr val="000000"/>
                          </a:solidFill>
                          <a:latin typeface="Calibri"/>
                        </a:rPr>
                        <a:t>Automate compliance measurement  for standards/privacy/quality/metadata/TEA/…</a:t>
                      </a:r>
                      <a:endParaRPr lang="en-CA" sz="1300" b="0" i="0" u="none" strike="noStrike" noProof="0">
                        <a:solidFill>
                          <a:srgbClr val="000000"/>
                        </a:solidFill>
                        <a:latin typeface="Calibri"/>
                      </a:endParaRPr>
                    </a:p>
                    <a:p>
                      <a:pPr marL="628650" marR="0" lvl="1" indent="-171450" algn="l">
                        <a:spcBef>
                          <a:spcPts val="0"/>
                        </a:spcBef>
                        <a:spcAft>
                          <a:spcPts val="0"/>
                        </a:spcAft>
                        <a:buClr>
                          <a:srgbClr val="000000"/>
                        </a:buClr>
                        <a:buFont typeface="Courier New,monospace"/>
                        <a:buChar char="o"/>
                      </a:pPr>
                      <a:r>
                        <a:rPr lang="en-CA" sz="1300" b="0" i="0" u="none" strike="noStrike" noProof="0">
                          <a:solidFill>
                            <a:srgbClr val="000000"/>
                          </a:solidFill>
                          <a:latin typeface="Calibri"/>
                        </a:rPr>
                        <a:t>Customize TBS policies &amp; strategies to individual departments</a:t>
                      </a:r>
                      <a:endParaRPr lang="en-US" sz="1300" b="0" i="0" u="none" strike="noStrike" noProof="0">
                        <a:solidFill>
                          <a:srgbClr val="000000"/>
                        </a:solidFill>
                        <a:latin typeface="Calibri"/>
                      </a:endParaRPr>
                    </a:p>
                    <a:p>
                      <a:pPr marL="285750" lvl="0" indent="-285750" algn="l">
                        <a:lnSpc>
                          <a:spcPct val="100000"/>
                        </a:lnSpc>
                        <a:spcBef>
                          <a:spcPts val="0"/>
                        </a:spcBef>
                        <a:spcAft>
                          <a:spcPts val="0"/>
                        </a:spcAft>
                        <a:buClr>
                          <a:srgbClr val="000000"/>
                        </a:buClr>
                        <a:buFont typeface="Arial"/>
                        <a:buChar char="•"/>
                      </a:pPr>
                      <a:r>
                        <a:rPr lang="en-CA" sz="1300" b="0" i="0" u="none" strike="noStrike" noProof="0">
                          <a:solidFill>
                            <a:srgbClr val="000000"/>
                          </a:solidFill>
                          <a:latin typeface="Calibri"/>
                        </a:rPr>
                        <a:t>Evergreening of governing instruments and strategies using AI to identify contradictions and flag required updates</a:t>
                      </a:r>
                      <a:endParaRPr lang="en-CA" sz="1300"/>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solidFill>
                      <a:schemeClr val="tx2">
                        <a:lumMod val="20000"/>
                        <a:lumOff val="80000"/>
                      </a:schemeClr>
                    </a:solidFill>
                  </a:tcPr>
                </a:tc>
                <a:extLst>
                  <a:ext uri="{0D108BD9-81ED-4DB2-BD59-A6C34878D82A}">
                    <a16:rowId xmlns:a16="http://schemas.microsoft.com/office/drawing/2014/main" val="498298590"/>
                  </a:ext>
                </a:extLst>
              </a:tr>
            </a:tbl>
          </a:graphicData>
        </a:graphic>
      </p:graphicFrame>
    </p:spTree>
    <p:extLst>
      <p:ext uri="{BB962C8B-B14F-4D97-AF65-F5344CB8AC3E}">
        <p14:creationId xmlns:p14="http://schemas.microsoft.com/office/powerpoint/2010/main" val="3107544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BARB</a:t>
            </a:r>
          </a:p>
        </p:txBody>
      </p:sp>
    </p:spTree>
    <p:extLst>
      <p:ext uri="{BB962C8B-B14F-4D97-AF65-F5344CB8AC3E}">
        <p14:creationId xmlns:p14="http://schemas.microsoft.com/office/powerpoint/2010/main" val="1883445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70333" y="71121"/>
            <a:ext cx="10949763" cy="9059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Business Vision - Process</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370333" y="1124812"/>
            <a:ext cx="11304182" cy="4904288"/>
          </a:xfrm>
          <a:prstGeom prst="rect">
            <a:avLst/>
          </a:prstGeom>
        </p:spPr>
        <p:txBody>
          <a:bodyPr vert="horz" lIns="91440" tIns="45720" rIns="91440" bIns="45720" rtlCol="0" anchor="t">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2000" b="0" i="0" u="none" strike="noStrike" kern="1200">
                <a:latin typeface="+mn-lt"/>
                <a:ea typeface="+mn-ea"/>
                <a:cs typeface="+mn-cs"/>
              </a:rPr>
              <a:t>By 2030, Process </a:t>
            </a:r>
            <a:r>
              <a:rPr lang="en-CA" sz="2000" i="0" u="none" strike="noStrike" kern="1200">
                <a:latin typeface="+mn-lt"/>
                <a:ea typeface="+mn-ea"/>
                <a:cs typeface="+mn-cs"/>
              </a:rPr>
              <a:t>(GSBPM 5.0) will operate infrastructure leveraging AI, ML, and advanced technologies to provide programs with rules for their Data Pipelines. </a:t>
            </a:r>
            <a:r>
              <a:rPr lang="en-CA" sz="2000"/>
              <a:t>Resilient, auditable, and adaptive workflows will produce timely, trustworthy, and reproducible statistical outputs across all subject-matter areas. </a:t>
            </a:r>
            <a:endParaRPr lang="en-CA" sz="2000" i="0" u="none" strike="noStrike" kern="1200">
              <a:latin typeface="+mn-lt"/>
              <a:ea typeface="+mn-ea"/>
              <a:cs typeface="+mn-cs"/>
            </a:endParaRPr>
          </a:p>
          <a:p>
            <a:endParaRPr lang="en-CA" sz="2000" b="0" i="0" u="none" strike="noStrike" kern="1200">
              <a:solidFill>
                <a:schemeClr val="tx1"/>
              </a:solidFill>
              <a:latin typeface="+mn-lt"/>
              <a:ea typeface="+mn-ea"/>
              <a:cs typeface="+mn-cs"/>
            </a:endParaRPr>
          </a:p>
          <a:p>
            <a:r>
              <a:rPr lang="en-CA" sz="2000" b="1" i="0" u="none" strike="noStrike" kern="1200">
                <a:latin typeface="+mn-lt"/>
                <a:ea typeface="+mn-ea"/>
                <a:cs typeface="+mn-cs"/>
              </a:rPr>
              <a:t>End-State Vision Statements (Concrete Outcomes):</a:t>
            </a:r>
            <a:r>
              <a:rPr lang="en-CA" sz="2000" b="1"/>
              <a:t> </a:t>
            </a:r>
            <a:endParaRPr lang="en-CA" sz="1700" i="0" u="none" strike="noStrike" kern="1200">
              <a:latin typeface="+mn-lt"/>
              <a:ea typeface="Calibri"/>
              <a:cs typeface="Calibri"/>
            </a:endParaRPr>
          </a:p>
          <a:p>
            <a:endParaRPr lang="en-CA" sz="2000" b="1" i="0" u="none" strike="noStrike" kern="1200">
              <a:solidFill>
                <a:schemeClr val="tx1"/>
              </a:solidFill>
              <a:latin typeface="+mn-lt"/>
              <a:ea typeface="+mn-ea"/>
              <a:cs typeface="+mn-cs"/>
            </a:endParaRPr>
          </a:p>
          <a:p>
            <a:r>
              <a:rPr lang="en-CA" sz="1600" b="0" i="0" u="none" strike="noStrike" kern="1200">
                <a:latin typeface="+mn-lt"/>
                <a:ea typeface="+mn-ea"/>
                <a:cs typeface="+mn-cs"/>
              </a:rPr>
              <a:t>GSBPM 5 sub-processes </a:t>
            </a:r>
            <a:r>
              <a:rPr lang="en-CA" sz="1600"/>
              <a:t>are orchestrated</a:t>
            </a:r>
            <a:r>
              <a:rPr lang="en-CA" sz="1600" b="0" i="0" u="none" strike="noStrike" kern="1200">
                <a:latin typeface="+mn-lt"/>
                <a:ea typeface="+mn-ea"/>
                <a:cs typeface="+mn-cs"/>
              </a:rPr>
              <a:t> in modular, event-driven </a:t>
            </a:r>
            <a:r>
              <a:rPr lang="en-CA" sz="1600"/>
              <a:t>frameworks</a:t>
            </a:r>
            <a:r>
              <a:rPr lang="en-CA" sz="1600" b="0" i="0" u="none" strike="noStrike" kern="1200">
                <a:latin typeface="+mn-lt"/>
                <a:ea typeface="+mn-ea"/>
                <a:cs typeface="+mn-cs"/>
              </a:rPr>
              <a:t> that are automated and version-controlled by design.  Analysts are no longer required to manually </a:t>
            </a:r>
            <a:r>
              <a:rPr lang="en-CA" sz="1600"/>
              <a:t>intervene, </a:t>
            </a:r>
            <a:r>
              <a:rPr lang="en-CA" sz="1600" b="0" i="0" u="none" strike="noStrike" kern="1200">
                <a:latin typeface="+mn-lt"/>
                <a:ea typeface="+mn-ea"/>
                <a:cs typeface="+mn-cs"/>
              </a:rPr>
              <a:t>clean or manipulate files.</a:t>
            </a:r>
          </a:p>
          <a:p>
            <a:endParaRPr lang="en-CA" sz="1600" b="0" i="0" u="none" strike="noStrike" kern="1200">
              <a:latin typeface="+mn-lt"/>
              <a:ea typeface="Calibri"/>
              <a:cs typeface="Calibri"/>
            </a:endParaRPr>
          </a:p>
          <a:p>
            <a:r>
              <a:rPr lang="en-CA" sz="1600" b="0" i="0" u="none" strike="noStrike" kern="1200">
                <a:latin typeface="+mn-lt"/>
                <a:ea typeface="+mn-ea"/>
                <a:cs typeface="+mn-cs"/>
              </a:rPr>
              <a:t>AI-enabled modules handle 50% </a:t>
            </a:r>
            <a:r>
              <a:rPr lang="en-CA" sz="1600"/>
              <a:t>of manual</a:t>
            </a:r>
            <a:r>
              <a:rPr lang="en-CA" sz="1600" b="0" i="0" u="none" strike="noStrike" kern="1200">
                <a:latin typeface="+mn-lt"/>
                <a:ea typeface="+mn-ea"/>
                <a:cs typeface="+mn-cs"/>
              </a:rPr>
              <a:t> interventions for activities such as classification, edits and imputation for administrative and survey data.</a:t>
            </a:r>
          </a:p>
          <a:p>
            <a:endParaRPr lang="en-CA" sz="1600" b="0" i="0" u="none" strike="noStrike" kern="1200">
              <a:latin typeface="+mn-lt"/>
              <a:ea typeface="Calibri"/>
              <a:cs typeface="Calibri"/>
            </a:endParaRPr>
          </a:p>
          <a:p>
            <a:r>
              <a:rPr lang="en-CA" sz="1600" b="0" i="0" u="none" strike="noStrike" kern="1200">
                <a:latin typeface="+mn-lt"/>
                <a:ea typeface="+mn-ea"/>
                <a:cs typeface="+mn-cs"/>
              </a:rPr>
              <a:t>Every processing pipeline is auditable, reproducible, and deployable across subject-matter domains. </a:t>
            </a:r>
            <a:r>
              <a:rPr lang="en-CA" sz="1600" b="0" i="0" u="none" kern="1200">
                <a:latin typeface="+mn-lt"/>
                <a:ea typeface="+mn-ea"/>
                <a:cs typeface="+mn-cs"/>
              </a:rPr>
              <a:t>Meta-data driven </a:t>
            </a:r>
            <a:r>
              <a:rPr lang="en-CA" sz="1600" b="0" i="0" u="none" strike="noStrike" kern="1200">
                <a:latin typeface="+mn-lt"/>
                <a:ea typeface="+mn-ea"/>
                <a:cs typeface="+mn-cs"/>
              </a:rPr>
              <a:t>and standardization </a:t>
            </a:r>
            <a:r>
              <a:rPr lang="en-CA" sz="1600"/>
              <a:t>are default by design.</a:t>
            </a:r>
          </a:p>
          <a:p>
            <a:endParaRPr lang="en-CA" sz="1600" b="0" i="0" u="none" strike="noStrike" kern="1200">
              <a:latin typeface="+mn-lt"/>
              <a:ea typeface="Calibri"/>
              <a:cs typeface="Calibri"/>
            </a:endParaRPr>
          </a:p>
          <a:p>
            <a:r>
              <a:rPr lang="en-CA" sz="1600" b="0" i="0" u="none" strike="noStrike" kern="1200">
                <a:latin typeface="+mn-lt"/>
                <a:ea typeface="+mn-ea"/>
                <a:cs typeface="+mn-cs"/>
              </a:rPr>
              <a:t>Data processing turnaround time </a:t>
            </a:r>
            <a:r>
              <a:rPr lang="en-CA" sz="1600"/>
              <a:t>has reduced</a:t>
            </a:r>
            <a:r>
              <a:rPr lang="en-CA" sz="1600" b="0" i="0" u="none" strike="noStrike" kern="1200">
                <a:latin typeface="+mn-lt"/>
                <a:ea typeface="+mn-ea"/>
                <a:cs typeface="+mn-cs"/>
              </a:rPr>
              <a:t> by 50% across survey programs through automation and orchestration.</a:t>
            </a:r>
          </a:p>
          <a:p>
            <a:endParaRPr lang="en-CA" sz="1600" b="0" i="0" u="none" strike="noStrike" kern="1200">
              <a:latin typeface="+mn-lt"/>
              <a:ea typeface="Calibri"/>
              <a:cs typeface="Calibri"/>
            </a:endParaRPr>
          </a:p>
          <a:p>
            <a:r>
              <a:rPr lang="en-CA" sz="1600" b="0" i="0" u="none" strike="noStrike" kern="1200">
                <a:latin typeface="+mn-lt"/>
                <a:ea typeface="+mn-ea"/>
                <a:cs typeface="+mn-cs"/>
              </a:rPr>
              <a:t>Microservices </a:t>
            </a:r>
            <a:r>
              <a:rPr lang="en-CA" sz="1600"/>
              <a:t>are used</a:t>
            </a:r>
            <a:r>
              <a:rPr lang="en-CA" sz="1600" b="0" i="0" u="none" strike="noStrike" kern="1200">
                <a:latin typeface="+mn-lt"/>
                <a:ea typeface="+mn-ea"/>
                <a:cs typeface="+mn-cs"/>
              </a:rPr>
              <a:t> to manage each processing function (e.g. integrate data, edit, derive new variables, aggregate), with clear input/output standards across surveys and subject-matter areas.</a:t>
            </a:r>
            <a:endParaRPr lang="en-CA" sz="1600" b="0" i="0" u="none" strike="noStrike" kern="1200">
              <a:latin typeface="+mn-lt"/>
              <a:ea typeface="Calibri"/>
              <a:cs typeface="Calibri"/>
            </a:endParaRPr>
          </a:p>
          <a:p>
            <a:endParaRPr lang="en-US" sz="1700">
              <a:solidFill>
                <a:schemeClr val="dk1"/>
              </a:solidFill>
              <a:ea typeface="Calibri" panose="020F0502020204030204"/>
              <a:cs typeface="Calibri" panose="020F0502020204030204"/>
            </a:endParaRPr>
          </a:p>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3376948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70333" y="419301"/>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Key Changes Required - Process</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370333" y="1050929"/>
            <a:ext cx="11304182" cy="4904288"/>
          </a:xfrm>
          <a:prstGeom prst="rect">
            <a:avLst/>
          </a:prstGeom>
        </p:spPr>
        <p:txBody>
          <a:bodyPr vert="horz" lIns="91440" tIns="45720" rIns="91440" bIns="45720" rtlCol="0" anchor="t">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Culture Change: </a:t>
            </a:r>
            <a:r>
              <a:rPr lang="en-CA" sz="2000" kern="0">
                <a:effectLst/>
                <a:ea typeface="Times New Roman" panose="02020603050405020304" pitchFamily="18" charset="0"/>
                <a:cs typeface="Segoe UI"/>
              </a:rPr>
              <a:t>Emphasis on the need for the right people to handle technical aspects and the importance of standardizing data formats.</a:t>
            </a:r>
            <a:endParaRPr lang="en-CA" sz="1800" kern="100">
              <a:effectLst/>
              <a:ea typeface="Calibri" panose="020F0502020204030204" pitchFamily="34" charset="0"/>
              <a:cs typeface="Segoe UI"/>
            </a:endParaRPr>
          </a:p>
          <a:p>
            <a:pPr marL="34290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Data</a:t>
            </a:r>
            <a:r>
              <a:rPr lang="en-CA" sz="2000" b="1" kern="0">
                <a:ea typeface="Times New Roman" panose="02020603050405020304" pitchFamily="18" charset="0"/>
                <a:cs typeface="Segoe UI"/>
              </a:rPr>
              <a:t> </a:t>
            </a:r>
            <a:r>
              <a:rPr lang="en-CA" sz="2000" b="1" kern="0">
                <a:effectLst/>
                <a:ea typeface="Times New Roman" panose="02020603050405020304" pitchFamily="18" charset="0"/>
                <a:cs typeface="Segoe UI"/>
              </a:rPr>
              <a:t>Integration</a:t>
            </a:r>
            <a:r>
              <a:rPr lang="en-CA" sz="2000" kern="0">
                <a:effectLst/>
                <a:ea typeface="Times New Roman" panose="02020603050405020304" pitchFamily="18" charset="0"/>
                <a:cs typeface="Segoe UI"/>
              </a:rPr>
              <a:t>: Focus on </a:t>
            </a:r>
            <a:r>
              <a:rPr lang="en-CA" sz="2000" kern="0">
                <a:ea typeface="Times New Roman" panose="02020603050405020304" pitchFamily="18" charset="0"/>
                <a:cs typeface="Segoe UI"/>
              </a:rPr>
              <a:t>facilitating integration</a:t>
            </a:r>
            <a:r>
              <a:rPr lang="en-CA" sz="2000" kern="0">
                <a:effectLst/>
                <a:ea typeface="Times New Roman" panose="02020603050405020304" pitchFamily="18" charset="0"/>
                <a:cs typeface="Segoe UI"/>
              </a:rPr>
              <a:t>, with architecture </a:t>
            </a:r>
            <a:r>
              <a:rPr lang="en-CA" sz="2000" kern="0">
                <a:ea typeface="Times New Roman" panose="02020603050405020304" pitchFamily="18" charset="0"/>
                <a:cs typeface="Segoe UI"/>
              </a:rPr>
              <a:t>and FAIR principles playing</a:t>
            </a:r>
            <a:r>
              <a:rPr lang="en-CA" sz="2000" kern="0">
                <a:effectLst/>
                <a:ea typeface="Times New Roman" panose="02020603050405020304" pitchFamily="18" charset="0"/>
                <a:cs typeface="Segoe UI"/>
              </a:rPr>
              <a:t> a key role.</a:t>
            </a:r>
            <a:endParaRPr lang="en-CA" sz="1800" kern="100">
              <a:effectLst/>
              <a:ea typeface="Calibri" panose="020F0502020204030204" pitchFamily="34" charset="0"/>
              <a:cs typeface="Segoe UI"/>
            </a:endParaRPr>
          </a:p>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Self-Service Platforms</a:t>
            </a:r>
            <a:r>
              <a:rPr lang="en-CA" sz="2000" kern="0">
                <a:effectLst/>
                <a:ea typeface="Times New Roman" panose="02020603050405020304" pitchFamily="18" charset="0"/>
                <a:cs typeface="Segoe UI"/>
              </a:rPr>
              <a:t>: Discussion on the role of self-service platforms and tools, making data pipelines transparent and user-friendly.</a:t>
            </a:r>
            <a:endParaRPr lang="en-CA" sz="1800" kern="100">
              <a:effectLst/>
              <a:ea typeface="Calibri" panose="020F0502020204030204" pitchFamily="34" charset="0"/>
              <a:cs typeface="Segoe UI"/>
            </a:endParaRPr>
          </a:p>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Wider adoption:</a:t>
            </a:r>
            <a:r>
              <a:rPr lang="en-CA" sz="2000" kern="0">
                <a:effectLst/>
                <a:ea typeface="Times New Roman" panose="02020603050405020304" pitchFamily="18" charset="0"/>
                <a:cs typeface="Segoe UI"/>
              </a:rPr>
              <a:t> Create role-based training for orchestration and automation (pipeline creation, usage and maintenance). Embed knowledge-sharing practices (</a:t>
            </a:r>
            <a:r>
              <a:rPr lang="en-CA" sz="2000" kern="0">
                <a:ea typeface="Times New Roman" panose="02020603050405020304" pitchFamily="18" charset="0"/>
                <a:cs typeface="Segoe UI"/>
              </a:rPr>
              <a:t>community of practice).</a:t>
            </a:r>
            <a:endParaRPr lang="en-CA" sz="1800" kern="100">
              <a:effectLst/>
              <a:ea typeface="Calibri" panose="020F0502020204030204" pitchFamily="34" charset="0"/>
              <a:cs typeface="Segoe UI"/>
            </a:endParaRPr>
          </a:p>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Redefine roles and responsibilities</a:t>
            </a:r>
            <a:r>
              <a:rPr lang="en-CA" sz="2000" kern="0">
                <a:effectLst/>
                <a:ea typeface="Times New Roman" panose="02020603050405020304" pitchFamily="18" charset="0"/>
                <a:cs typeface="Segoe UI"/>
              </a:rPr>
              <a:t>: centralized versus decentralized systems, modular approaches, and standardization.</a:t>
            </a:r>
            <a:endParaRPr lang="en-CA" sz="1800" kern="100">
              <a:effectLst/>
              <a:ea typeface="Calibri" panose="020F0502020204030204" pitchFamily="34" charset="0"/>
              <a:cs typeface="Segoe UI"/>
            </a:endParaRPr>
          </a:p>
          <a:p>
            <a:pPr marL="342900" indent="-342900" fontAlgn="ctr">
              <a:lnSpc>
                <a:spcPct val="115000"/>
              </a:lnSpc>
              <a:spcAft>
                <a:spcPts val="600"/>
              </a:spcAft>
              <a:buSzPts val="1000"/>
              <a:buFont typeface="Symbol" panose="05050102010706020507" pitchFamily="18" charset="2"/>
              <a:buChar char=""/>
              <a:tabLst>
                <a:tab pos="457200" algn="l"/>
              </a:tabLst>
            </a:pPr>
            <a:r>
              <a:rPr lang="en-CA" sz="2000" b="1" kern="0">
                <a:ea typeface="Times New Roman" panose="02020603050405020304" pitchFamily="18" charset="0"/>
                <a:cs typeface="Segoe UI"/>
              </a:rPr>
              <a:t>Agile governance</a:t>
            </a:r>
            <a:r>
              <a:rPr lang="en-CA" sz="2000" kern="0">
                <a:effectLst/>
                <a:ea typeface="Times New Roman" panose="02020603050405020304" pitchFamily="18" charset="0"/>
                <a:cs typeface="Segoe UI"/>
              </a:rPr>
              <a:t>: Current governance structure is </a:t>
            </a:r>
            <a:r>
              <a:rPr lang="en-CA" sz="2000" kern="0">
                <a:ea typeface="Times New Roman" panose="02020603050405020304" pitchFamily="18" charset="0"/>
                <a:cs typeface="Segoe UI"/>
              </a:rPr>
              <a:t>rigid, risk averse and</a:t>
            </a:r>
            <a:r>
              <a:rPr lang="en-CA" sz="2000" kern="0">
                <a:effectLst/>
                <a:ea typeface="Times New Roman" panose="02020603050405020304" pitchFamily="18" charset="0"/>
                <a:cs typeface="Segoe UI"/>
              </a:rPr>
              <a:t> slow for iterative digital innovation. </a:t>
            </a:r>
            <a:endParaRPr lang="en-US" sz="1700">
              <a:ea typeface="Calibri" panose="020F0502020204030204"/>
              <a:cs typeface="Calibri" panose="020F0502020204030204"/>
            </a:endParaRPr>
          </a:p>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2931952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60832" y="353482"/>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Value to Stakeholders - Process</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621118" y="5386419"/>
            <a:ext cx="11304182" cy="490428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
        <p:nvSpPr>
          <p:cNvPr id="2" name="Rectangle 1">
            <a:extLst>
              <a:ext uri="{FF2B5EF4-FFF2-40B4-BE49-F238E27FC236}">
                <a16:creationId xmlns:a16="http://schemas.microsoft.com/office/drawing/2014/main" id="{BD445473-5650-E120-3391-965D1F8DF636}"/>
              </a:ext>
            </a:extLst>
          </p:cNvPr>
          <p:cNvSpPr>
            <a:spLocks noChangeArrowheads="1"/>
          </p:cNvSpPr>
          <p:nvPr/>
        </p:nvSpPr>
        <p:spPr bwMode="auto">
          <a:xfrm>
            <a:off x="83885" y="1368757"/>
            <a:ext cx="120242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Faster Processing &amp; Delivery</a:t>
            </a:r>
            <a:r>
              <a:rPr lang="en-US" altLang="en-US" sz="2000" b="1"/>
              <a:t>:</a:t>
            </a:r>
            <a:r>
              <a:rPr lang="en-US" altLang="en-US" sz="2000"/>
              <a:t> </a:t>
            </a:r>
            <a:r>
              <a:rPr kumimoji="0" lang="en-US" altLang="en-US" sz="2000" b="0" i="0" u="none" strike="noStrike" cap="none" normalizeH="0" baseline="0">
                <a:ln>
                  <a:noFill/>
                </a:ln>
                <a:effectLst/>
              </a:rPr>
              <a:t>Real-time access to validate data supports </a:t>
            </a:r>
            <a:r>
              <a:rPr kumimoji="0" lang="en-US" altLang="en-US" sz="2000" b="0" i="0" u="none" cap="none" normalizeH="0" baseline="0">
                <a:ln>
                  <a:noFill/>
                </a:ln>
                <a:effectLst/>
              </a:rPr>
              <a:t>faster insights. </a:t>
            </a:r>
            <a:endParaRPr kumimoji="0" lang="en-US" altLang="en-US" sz="2000" b="0" i="0" u="none" strike="sng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Operational Efficiency: </a:t>
            </a:r>
            <a:r>
              <a:rPr kumimoji="0" lang="en-US" altLang="en-US" sz="2000" b="0" i="0" u="none" strike="noStrike" cap="none" normalizeH="0" baseline="0">
                <a:ln>
                  <a:noFill/>
                </a:ln>
                <a:effectLst/>
              </a:rPr>
              <a:t>Automated, reusable components reduce duplication.</a:t>
            </a:r>
            <a:endParaRPr lang="en-US" altLang="en-US" sz="2000" b="0" i="0" u="none" strike="noStrike" cap="none" normalizeH="0" baseline="0">
              <a:ln>
                <a:noFill/>
              </a:ln>
              <a:effectLst/>
              <a:ea typeface="Calibri"/>
              <a:cs typeface="Calibri"/>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Greater Reproducibility &amp; Transparency: </a:t>
            </a:r>
            <a:r>
              <a:rPr kumimoji="0" lang="en-US" altLang="en-US" sz="2000" b="0" i="0" u="none" strike="noStrike" cap="none" normalizeH="0" baseline="0">
                <a:ln>
                  <a:noFill/>
                </a:ln>
                <a:effectLst/>
              </a:rPr>
              <a:t>Version-controlled workflows provide traceability. </a:t>
            </a:r>
            <a:endParaRPr lang="en-US" altLang="en-US" sz="2000" b="0" i="0" u="none" strike="noStrike" cap="none" normalizeH="0" baseline="0">
              <a:ln>
                <a:noFill/>
              </a:ln>
              <a:effectLst/>
              <a:ea typeface="Calibri"/>
              <a:cs typeface="Calibri"/>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Standardization</a:t>
            </a:r>
            <a:r>
              <a:rPr lang="en-US" altLang="en-US" sz="2000" b="1"/>
              <a:t>: </a:t>
            </a:r>
            <a:r>
              <a:rPr lang="en-US" altLang="en-US" sz="2000"/>
              <a:t>Uniformity in </a:t>
            </a:r>
            <a:r>
              <a:rPr lang="en-US" altLang="en-US"/>
              <a:t>data</a:t>
            </a:r>
            <a:r>
              <a:rPr lang="en-US" altLang="en-US" sz="2000"/>
              <a:t> processing enhances reliability.</a:t>
            </a:r>
            <a:endParaRPr lang="en-US" altLang="en-US" sz="2000">
              <a:ea typeface="Calibri"/>
              <a:cs typeface="Calibri"/>
            </a:endParaRPr>
          </a:p>
          <a:p>
            <a:endParaRPr lang="en-CA" sz="2000" b="1"/>
          </a:p>
          <a:p>
            <a:r>
              <a:rPr lang="en-CA" sz="2000" b="1">
                <a:cs typeface="Arial"/>
              </a:rPr>
              <a:t>Reduced manual interventions:  </a:t>
            </a:r>
            <a:r>
              <a:rPr lang="en-CA" sz="2000">
                <a:cs typeface="Arial"/>
              </a:rPr>
              <a:t>Reproducible pipelines reduce process errors and streamline analytical operations.</a:t>
            </a:r>
            <a:endParaRPr lang="en-CA" sz="2000" b="1">
              <a:ea typeface="Calibri"/>
              <a:cs typeface="Arial"/>
            </a:endParaRPr>
          </a:p>
          <a:p>
            <a:endParaRPr kumimoji="0" lang="en-US" altLang="en-US" sz="2000" b="1"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Increased Trust &amp; User Confidence</a:t>
            </a:r>
            <a:r>
              <a:rPr lang="en-US" altLang="en-US" sz="2000" b="1"/>
              <a:t>: </a:t>
            </a:r>
            <a:r>
              <a:rPr kumimoji="0" lang="en-US" altLang="en-US" sz="2000" b="0" i="0" u="none" strike="noStrike" cap="none" normalizeH="0" baseline="0">
                <a:ln>
                  <a:noFill/>
                </a:ln>
                <a:effectLst/>
              </a:rPr>
              <a:t>Transparent and systematic quality monitoring boosts data user confidence.</a:t>
            </a:r>
            <a:endParaRPr lang="en-US" altLang="en-US" sz="2000" b="0" i="0" u="none" strike="noStrike" cap="none" normalizeH="0" baseline="0">
              <a:ln>
                <a:noFill/>
              </a:ln>
              <a:effectLst/>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effectLst/>
            </a:endParaRPr>
          </a:p>
        </p:txBody>
      </p:sp>
    </p:spTree>
    <p:extLst>
      <p:ext uri="{BB962C8B-B14F-4D97-AF65-F5344CB8AC3E}">
        <p14:creationId xmlns:p14="http://schemas.microsoft.com/office/powerpoint/2010/main" val="1247781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70333" y="71121"/>
            <a:ext cx="10949763" cy="6419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Business Vision - Analyse</a:t>
            </a:r>
          </a:p>
          <a:p>
            <a:pPr algn="ctr">
              <a:defRPr/>
            </a:pPr>
            <a:endParaRPr lang="en-US" sz="1400">
              <a:effectLst>
                <a:outerShdw blurRad="38100" dist="38100" dir="2700000" algn="tl">
                  <a:srgbClr val="000000">
                    <a:alpha val="43137"/>
                  </a:srgbClr>
                </a:outerShdw>
              </a:effectLst>
              <a:latin typeface="Century Gothic"/>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443909" y="652431"/>
            <a:ext cx="11304182" cy="5496591"/>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2000">
                <a:effectLst/>
                <a:ea typeface="Calibri"/>
              </a:rPr>
              <a:t>By 2030, the Analyse (GSBPM 6.0) process will be modernized where analysts focus on delivering high-value outputs by leveraging their analytical expertise and subject matter knowledge. </a:t>
            </a:r>
            <a:r>
              <a:rPr lang="en-CA" sz="2000">
                <a:ea typeface="Calibri"/>
              </a:rPr>
              <a:t>The Analyse process will use orchestration and embed Technology (AI and automation) throughout, supporting </a:t>
            </a:r>
            <a:r>
              <a:rPr lang="en-CA" sz="2000">
                <a:effectLst/>
                <a:ea typeface="Calibri"/>
              </a:rPr>
              <a:t>an event-driven creation of outputs, validation, user-friendly and robust disclosure control, and preparation of tables and reports for dissemination in a timely way.</a:t>
            </a:r>
          </a:p>
          <a:p>
            <a:endParaRPr lang="en-CA" sz="1800">
              <a:effectLst/>
              <a:ea typeface="Calibri" panose="020F0502020204030204" pitchFamily="34" charset="0"/>
            </a:endParaRPr>
          </a:p>
          <a:p>
            <a:r>
              <a:rPr lang="en-CA" sz="2000" b="1" i="0" u="none" strike="noStrike" kern="1200">
                <a:ea typeface="+mn-ea"/>
                <a:cs typeface="+mn-cs"/>
              </a:rPr>
              <a:t>End-State Vision Statements (Concrete Outcomes):</a:t>
            </a:r>
            <a:endParaRPr lang="en-CA" sz="2000" b="1" i="0" u="none" strike="noStrike" kern="1200">
              <a:ea typeface="Calibri"/>
              <a:cs typeface="Calibri"/>
            </a:endParaRPr>
          </a:p>
          <a:p>
            <a:endParaRPr lang="en-CA" sz="1600"/>
          </a:p>
          <a:p>
            <a:r>
              <a:rPr lang="en-CA" sz="1600"/>
              <a:t>Analysts focus on value-added outputs such as interpretation and contextualization.</a:t>
            </a:r>
            <a:endParaRPr lang="en-CA" sz="1600">
              <a:ea typeface="Calibri"/>
              <a:cs typeface="Calibri"/>
            </a:endParaRPr>
          </a:p>
          <a:p>
            <a:endParaRPr lang="en-CA" sz="1600"/>
          </a:p>
          <a:p>
            <a:r>
              <a:rPr lang="en-US" altLang="en-US" sz="1600"/>
              <a:t>Reproducible, standardized analytical pipelines are the norm.</a:t>
            </a:r>
            <a:endParaRPr lang="en-US" altLang="en-US" sz="1600">
              <a:ea typeface="Calibri"/>
              <a:cs typeface="Calibri"/>
            </a:endParaRPr>
          </a:p>
          <a:p>
            <a:endParaRPr lang="en-CA" sz="1600"/>
          </a:p>
          <a:p>
            <a:r>
              <a:rPr lang="en-CA" sz="1600">
                <a:ea typeface="Calibri"/>
                <a:cs typeface="Calibri"/>
              </a:rPr>
              <a:t>Publication preparation time is reduced by 50% leveraging AI and automation to facilitate output creation (e.g. Daily text) or validation.</a:t>
            </a:r>
            <a:endParaRPr lang="en-CA" sz="1600"/>
          </a:p>
          <a:p>
            <a:endParaRPr lang="en-CA" sz="1600"/>
          </a:p>
          <a:p>
            <a:r>
              <a:rPr lang="en-CA" sz="1600"/>
              <a:t>Disclosure control outputs turnaround time is reduced by 50%.</a:t>
            </a:r>
            <a:endParaRPr lang="en-CA" sz="1600">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sz="1600"/>
          </a:p>
          <a:p>
            <a:pPr marL="0" marR="0" lvl="0" indent="0" algn="l" defTabSz="914400" rtl="0" eaLnBrk="0" fontAlgn="base" latinLnBrk="0" hangingPunct="0">
              <a:lnSpc>
                <a:spcPct val="100000"/>
              </a:lnSpc>
              <a:spcBef>
                <a:spcPct val="0"/>
              </a:spcBef>
              <a:spcAft>
                <a:spcPct val="0"/>
              </a:spcAft>
              <a:buClrTx/>
              <a:buSzTx/>
              <a:buFontTx/>
              <a:buNone/>
              <a:tabLst/>
            </a:pPr>
            <a:r>
              <a:rPr lang="en-CA" sz="1600"/>
              <a:t>FAIR-aligned data discovery platform enables better access and reuse. A searchable, metadata-driven data discovery platform is available to all analysts, enabling them to easily locate and access appropriate data sources.</a:t>
            </a:r>
            <a:endParaRPr lang="en-CA" sz="1600">
              <a:ea typeface="Calibri"/>
              <a:cs typeface="Calibri"/>
            </a:endParaRPr>
          </a:p>
          <a:p>
            <a:endParaRPr lang="en-CA" sz="1700"/>
          </a:p>
          <a:p>
            <a:endParaRPr lang="en-US" sz="1700">
              <a:ea typeface="Calibri" panose="020F0502020204030204"/>
              <a:cs typeface="Calibri" panose="020F0502020204030204"/>
            </a:endParaRPr>
          </a:p>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457432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119548" y="271157"/>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Key Changes Required - Analyse</a:t>
            </a:r>
          </a:p>
          <a:p>
            <a:pPr algn="ctr">
              <a:defRPr/>
            </a:pPr>
            <a:endParaRPr lang="en-US" sz="1400">
              <a:effectLst>
                <a:outerShdw blurRad="38100" dist="38100" dir="2700000" algn="tl">
                  <a:srgbClr val="000000">
                    <a:alpha val="43137"/>
                  </a:srgbClr>
                </a:outerShdw>
              </a:effectLst>
              <a:latin typeface="Century Gothic"/>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370333" y="1124812"/>
            <a:ext cx="11304182" cy="490428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2">
              <a:spcAft>
                <a:spcPts val="1200"/>
              </a:spcAft>
            </a:pPr>
            <a:endParaRPr lang="en-US" sz="1600">
              <a:ea typeface="Calibri" panose="020F0502020204030204"/>
              <a:cs typeface="Calibri" panose="020F0502020204030204"/>
            </a:endParaRPr>
          </a:p>
        </p:txBody>
      </p:sp>
      <p:sp>
        <p:nvSpPr>
          <p:cNvPr id="5" name="TextBox 4">
            <a:extLst>
              <a:ext uri="{FF2B5EF4-FFF2-40B4-BE49-F238E27FC236}">
                <a16:creationId xmlns:a16="http://schemas.microsoft.com/office/drawing/2014/main" id="{5549D4BB-590B-F1C5-1B29-FD1B8667E409}"/>
              </a:ext>
            </a:extLst>
          </p:cNvPr>
          <p:cNvSpPr txBox="1"/>
          <p:nvPr/>
        </p:nvSpPr>
        <p:spPr>
          <a:xfrm>
            <a:off x="0" y="776189"/>
            <a:ext cx="11514770" cy="5601533"/>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CA" b="1"/>
              <a:t>Automated Outputs:</a:t>
            </a:r>
            <a:r>
              <a:rPr lang="en-CA"/>
              <a:t> Implement AI-supported pipelines for auto-generated descriptive and exploratory analysis including daily write-ups, dashboards, and standardized analytical products.</a:t>
            </a: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Real-Time Analysis</a:t>
            </a:r>
            <a:r>
              <a:rPr lang="en-CA"/>
              <a:t>: Build infrastructure and tooling that enable real-time analytical workflows with intelligent validation and anomaly detection</a:t>
            </a:r>
            <a:r>
              <a:rPr lang="en-CA" strike="sngStrike">
                <a:effectLst>
                  <a:outerShdw blurRad="38100" dist="38100" dir="2700000" algn="tl">
                    <a:srgbClr val="000000">
                      <a:alpha val="43137"/>
                    </a:srgbClr>
                  </a:outerShdw>
                </a:effectLst>
              </a:rPr>
              <a:t>.</a:t>
            </a: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Privacy and Metadata Management: </a:t>
            </a:r>
            <a:r>
              <a:rPr lang="en-CA"/>
              <a:t>Use metadata repositories and FAIR standards for optimal</a:t>
            </a:r>
            <a:r>
              <a:rPr lang="en-CA" b="1"/>
              <a:t> </a:t>
            </a:r>
            <a:r>
              <a:rPr lang="en-CA"/>
              <a:t>integration into analytical pipelines. </a:t>
            </a: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Quality Assurance: </a:t>
            </a:r>
            <a:r>
              <a:rPr lang="en-CA"/>
              <a:t>Standardize pipelines with embedded validation rules.</a:t>
            </a:r>
            <a:endParaRPr lang="en-CA" strike="sngStrike">
              <a:ea typeface="Calibri"/>
              <a:cs typeface="Calibri"/>
            </a:endParaRP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Transparency and Trust in AI</a:t>
            </a:r>
            <a:r>
              <a:rPr lang="en-CA"/>
              <a:t>: Implement AI frameworks and ethical review processes to ensure human oversight, fairness, and trust in automated analysis.</a:t>
            </a:r>
            <a:endParaRPr lang="en-CA">
              <a:ea typeface="Calibri"/>
              <a:cs typeface="Calibri"/>
            </a:endParaRP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Adapt hiring and redesign training</a:t>
            </a:r>
            <a:r>
              <a:rPr lang="en-CA"/>
              <a:t>: Redesign the Analysis 101 curriculum to proactively meet modern analytical profiles.</a:t>
            </a:r>
            <a:endParaRPr lang="en-CA">
              <a:ea typeface="Calibri"/>
              <a:cs typeface="Calibri"/>
            </a:endParaRP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Data Access and Discovery: </a:t>
            </a:r>
            <a:r>
              <a:rPr lang="en-CA"/>
              <a:t>Develop a unified, searchable metadata-supported platform to find and access the best available data for analytical questions.</a:t>
            </a:r>
            <a:endParaRPr lang="en-CA">
              <a:ea typeface="Calibri"/>
              <a:cs typeface="Calibri"/>
            </a:endParaRPr>
          </a:p>
          <a:p>
            <a:endParaRPr lang="en-CA" sz="1600"/>
          </a:p>
        </p:txBody>
      </p:sp>
    </p:spTree>
    <p:extLst>
      <p:ext uri="{BB962C8B-B14F-4D97-AF65-F5344CB8AC3E}">
        <p14:creationId xmlns:p14="http://schemas.microsoft.com/office/powerpoint/2010/main" val="2173553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241780" y="407020"/>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Value to Stakeholders – Analyse</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621118" y="5386419"/>
            <a:ext cx="11304182" cy="490428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
        <p:nvSpPr>
          <p:cNvPr id="7" name="TextBox 6">
            <a:extLst>
              <a:ext uri="{FF2B5EF4-FFF2-40B4-BE49-F238E27FC236}">
                <a16:creationId xmlns:a16="http://schemas.microsoft.com/office/drawing/2014/main" id="{3EB01D51-3D8D-27EB-0842-A7ECCBEB918E}"/>
              </a:ext>
            </a:extLst>
          </p:cNvPr>
          <p:cNvSpPr txBox="1"/>
          <p:nvPr/>
        </p:nvSpPr>
        <p:spPr>
          <a:xfrm>
            <a:off x="369182" y="1460127"/>
            <a:ext cx="11304182" cy="3970318"/>
          </a:xfrm>
          <a:prstGeom prst="rect">
            <a:avLst/>
          </a:prstGeom>
          <a:noFill/>
        </p:spPr>
        <p:txBody>
          <a:bodyPr wrap="square">
            <a:spAutoFit/>
          </a:bodyPr>
          <a:lstStyle/>
          <a:p>
            <a:r>
              <a:rPr lang="en-CA" b="1"/>
              <a:t>More Timely and Relevant Outputs: </a:t>
            </a:r>
            <a:r>
              <a:rPr lang="en-CA"/>
              <a:t>Orchestrated and automated workflows accelerate end-to-end analysis providing relevant outputs faster.</a:t>
            </a:r>
          </a:p>
          <a:p>
            <a:endParaRPr lang="en-CA"/>
          </a:p>
          <a:p>
            <a:r>
              <a:rPr lang="en-CA" b="1"/>
              <a:t>Robust, scalable processes</a:t>
            </a:r>
            <a:r>
              <a:rPr lang="en-CA"/>
              <a:t>: Built-in validation, traceability, and cross-disciplinary input improve analytical robustness.</a:t>
            </a:r>
          </a:p>
          <a:p>
            <a:endParaRPr lang="en-CA"/>
          </a:p>
          <a:p>
            <a:r>
              <a:rPr lang="en-CA" b="1"/>
              <a:t>Improved Accessibility and Usability: </a:t>
            </a:r>
            <a:r>
              <a:rPr lang="en-CA"/>
              <a:t>FAIR-aligned data platforms make it easier to find, access, and use relevant data sources for confrontation.</a:t>
            </a:r>
          </a:p>
          <a:p>
            <a:endParaRPr lang="en-CA"/>
          </a:p>
          <a:p>
            <a:r>
              <a:rPr lang="en-CA" b="1"/>
              <a:t>Cost Efficiency: </a:t>
            </a:r>
            <a:r>
              <a:rPr lang="en-CA"/>
              <a:t>Automation and standardization reduce manual labour and operational overhead.</a:t>
            </a:r>
          </a:p>
          <a:p>
            <a:endParaRPr lang="en-CA"/>
          </a:p>
          <a:p>
            <a:r>
              <a:rPr lang="en-CA" b="1"/>
              <a:t>Innovation and Collaboration</a:t>
            </a:r>
            <a:r>
              <a:rPr lang="en-CA"/>
              <a:t>: Integrated workflows foster innovation, cross-functional teamwork, and faster uptake of new methods.</a:t>
            </a:r>
          </a:p>
          <a:p>
            <a:endParaRPr lang="en-CA"/>
          </a:p>
          <a:p>
            <a:r>
              <a:rPr lang="en-CA" b="1"/>
              <a:t>Maximized Data Value</a:t>
            </a:r>
            <a:r>
              <a:rPr lang="en-CA"/>
              <a:t>: Increased reuse and cross-functional application of existing data store.</a:t>
            </a:r>
          </a:p>
        </p:txBody>
      </p:sp>
    </p:spTree>
    <p:extLst>
      <p:ext uri="{BB962C8B-B14F-4D97-AF65-F5344CB8AC3E}">
        <p14:creationId xmlns:p14="http://schemas.microsoft.com/office/powerpoint/2010/main" val="3491142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Business Development</a:t>
            </a:r>
          </a:p>
        </p:txBody>
      </p:sp>
    </p:spTree>
    <p:extLst>
      <p:ext uri="{BB962C8B-B14F-4D97-AF65-F5344CB8AC3E}">
        <p14:creationId xmlns:p14="http://schemas.microsoft.com/office/powerpoint/2010/main" val="463267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CDEE5A-07F8-E9DB-967D-4AAC273C4D55}"/>
              </a:ext>
            </a:extLst>
          </p:cNvPr>
          <p:cNvSpPr>
            <a:spLocks noGrp="1"/>
          </p:cNvSpPr>
          <p:nvPr>
            <p:ph idx="1"/>
          </p:nvPr>
        </p:nvSpPr>
        <p:spPr>
          <a:xfrm>
            <a:off x="327503" y="686215"/>
            <a:ext cx="11536993" cy="5260559"/>
          </a:xfrm>
        </p:spPr>
        <p:txBody>
          <a:bodyPr>
            <a:normAutofit lnSpcReduction="10000"/>
          </a:bodyPr>
          <a:lstStyle/>
          <a:p>
            <a:r>
              <a:rPr lang="en-US" sz="2400">
                <a:latin typeface="Calibri" panose="020F0502020204030204" pitchFamily="34" charset="0"/>
                <a:ea typeface="Calibri" panose="020F0502020204030204" pitchFamily="34" charset="0"/>
                <a:cs typeface="Calibri" panose="020F0502020204030204" pitchFamily="34" charset="0"/>
              </a:rPr>
              <a:t>Within StatCan, </a:t>
            </a:r>
            <a:r>
              <a:rPr lang="en-US" sz="2400" b="1">
                <a:latin typeface="Calibri" panose="020F0502020204030204" pitchFamily="34" charset="0"/>
                <a:ea typeface="Calibri" panose="020F0502020204030204" pitchFamily="34" charset="0"/>
                <a:cs typeface="Calibri" panose="020F0502020204030204" pitchFamily="34" charset="0"/>
              </a:rPr>
              <a:t>Business Development </a:t>
            </a:r>
            <a:r>
              <a:rPr lang="en-US" sz="2400">
                <a:latin typeface="Calibri" panose="020F0502020204030204" pitchFamily="34" charset="0"/>
                <a:ea typeface="Calibri" panose="020F0502020204030204" pitchFamily="34" charset="0"/>
                <a:cs typeface="Calibri" panose="020F0502020204030204" pitchFamily="34" charset="0"/>
              </a:rPr>
              <a:t>is defined as a program where </a:t>
            </a:r>
            <a:r>
              <a:rPr lang="en-US" sz="2400" b="1">
                <a:latin typeface="Calibri" panose="020F0502020204030204" pitchFamily="34" charset="0"/>
                <a:ea typeface="Calibri" panose="020F0502020204030204" pitchFamily="34" charset="0"/>
                <a:cs typeface="Calibri" panose="020F0502020204030204" pitchFamily="34" charset="0"/>
              </a:rPr>
              <a:t>employees outside of IT (programs, methodology, operations) </a:t>
            </a:r>
            <a:r>
              <a:rPr lang="en-US" sz="2400">
                <a:latin typeface="Calibri" panose="020F0502020204030204" pitchFamily="34" charset="0"/>
                <a:ea typeface="Calibri" panose="020F0502020204030204" pitchFamily="34" charset="0"/>
                <a:cs typeface="Calibri" panose="020F0502020204030204" pitchFamily="34" charset="0"/>
              </a:rPr>
              <a:t>are enabled to </a:t>
            </a:r>
            <a:r>
              <a:rPr lang="en-US" sz="2400" b="1">
                <a:latin typeface="Calibri" panose="020F0502020204030204" pitchFamily="34" charset="0"/>
                <a:ea typeface="Calibri" panose="020F0502020204030204" pitchFamily="34" charset="0"/>
                <a:cs typeface="Calibri" panose="020F0502020204030204" pitchFamily="34" charset="0"/>
              </a:rPr>
              <a:t>develop solutions</a:t>
            </a:r>
            <a:r>
              <a:rPr lang="en-US" sz="2400">
                <a:latin typeface="Calibri" panose="020F0502020204030204" pitchFamily="34" charset="0"/>
                <a:ea typeface="Calibri" panose="020F0502020204030204" pitchFamily="34" charset="0"/>
                <a:cs typeface="Calibri" panose="020F0502020204030204" pitchFamily="34" charset="0"/>
              </a:rPr>
              <a:t> using approved low-code/no-code platforms (e.g., </a:t>
            </a:r>
            <a:r>
              <a:rPr lang="en-US" sz="2400" err="1">
                <a:latin typeface="Calibri" panose="020F0502020204030204" pitchFamily="34" charset="0"/>
                <a:ea typeface="Calibri" panose="020F0502020204030204" pitchFamily="34" charset="0"/>
                <a:cs typeface="Calibri" panose="020F0502020204030204" pitchFamily="34" charset="0"/>
              </a:rPr>
              <a:t>PowerAutomate</a:t>
            </a:r>
            <a:r>
              <a:rPr lang="en-US" sz="2400">
                <a:latin typeface="Calibri" panose="020F0502020204030204" pitchFamily="34" charset="0"/>
                <a:ea typeface="Calibri" panose="020F0502020204030204" pitchFamily="34" charset="0"/>
                <a:cs typeface="Calibri" panose="020F0502020204030204" pitchFamily="34" charset="0"/>
              </a:rPr>
              <a:t>, PowerApps) and/or approved sets of tools within </a:t>
            </a:r>
            <a:r>
              <a:rPr lang="en-US" sz="2400"/>
              <a:t>IT supported, security assessed, AI-enabled business platforms  </a:t>
            </a:r>
            <a:endParaRPr lang="en-US" sz="2400">
              <a:latin typeface="Calibri" panose="020F0502020204030204" pitchFamily="34" charset="0"/>
              <a:ea typeface="Calibri" panose="020F0502020204030204" pitchFamily="34" charset="0"/>
              <a:cs typeface="Calibri" panose="020F0502020204030204" pitchFamily="34" charset="0"/>
            </a:endParaRPr>
          </a:p>
          <a:p>
            <a:pPr lvl="1"/>
            <a:r>
              <a:rPr lang="en-CA" sz="2000"/>
              <a:t>"Business Development" replaces the concept of "Citizen Development" (TBS)</a:t>
            </a:r>
          </a:p>
          <a:p>
            <a:pPr lvl="1"/>
            <a:r>
              <a:rPr lang="en-US" sz="2000">
                <a:latin typeface="Calibri"/>
                <a:ea typeface="Tahoma"/>
                <a:cs typeface="Tahoma"/>
              </a:rPr>
              <a:t>Business Development is bound to the same security postures and digital guardrails as the usual software development – business development life cycle</a:t>
            </a:r>
            <a:endParaRPr lang="en-CA" sz="2000"/>
          </a:p>
          <a:p>
            <a:r>
              <a:rPr lang="en-CA" sz="2400"/>
              <a:t>Business Development is an important and necessary role for the Agency</a:t>
            </a:r>
          </a:p>
          <a:p>
            <a:r>
              <a:rPr lang="en-CA" sz="2400" b="1"/>
              <a:t>Varying views on nature and need for business development:</a:t>
            </a:r>
          </a:p>
          <a:p>
            <a:pPr lvl="1"/>
            <a:r>
              <a:rPr lang="en-CA" sz="2000"/>
              <a:t>Ongoing production processes</a:t>
            </a:r>
          </a:p>
          <a:p>
            <a:pPr lvl="1"/>
            <a:r>
              <a:rPr lang="en-CA" sz="2000"/>
              <a:t>Responding to a new data demand / exploration</a:t>
            </a:r>
          </a:p>
          <a:p>
            <a:r>
              <a:rPr lang="en-CA" sz="2400" b="1"/>
              <a:t>Out of scope</a:t>
            </a:r>
            <a:r>
              <a:rPr lang="en-CA" sz="2400"/>
              <a:t>: business decisions on roles and responsibilities between programs, operations, IT</a:t>
            </a:r>
          </a:p>
          <a:p>
            <a:pPr marL="0" indent="0">
              <a:buNone/>
            </a:pPr>
            <a:endParaRPr lang="en-CA" sz="2400" strike="sngStrike">
              <a:latin typeface="Calibri" panose="020F0502020204030204" pitchFamily="34" charset="0"/>
              <a:ea typeface="Calibri" panose="020F0502020204030204" pitchFamily="34" charset="0"/>
              <a:cs typeface="Calibri" panose="020F0502020204030204" pitchFamily="34" charset="0"/>
            </a:endParaRPr>
          </a:p>
          <a:p>
            <a:endParaRPr lang="en-CA" sz="2400"/>
          </a:p>
        </p:txBody>
      </p:sp>
      <p:sp>
        <p:nvSpPr>
          <p:cNvPr id="4" name="Slide Number Placeholder 3">
            <a:extLst>
              <a:ext uri="{FF2B5EF4-FFF2-40B4-BE49-F238E27FC236}">
                <a16:creationId xmlns:a16="http://schemas.microsoft.com/office/drawing/2014/main" id="{E1BACEC8-B0B3-8A9C-1F50-C2B8DA79FA3E}"/>
              </a:ext>
            </a:extLst>
          </p:cNvPr>
          <p:cNvSpPr>
            <a:spLocks noGrp="1"/>
          </p:cNvSpPr>
          <p:nvPr>
            <p:ph type="sldNum" sz="quarter" idx="12"/>
          </p:nvPr>
        </p:nvSpPr>
        <p:spPr/>
        <p:txBody>
          <a:bodyPr/>
          <a:lstStyle/>
          <a:p>
            <a:fld id="{49DA9349-B3BD-4AC8-BE71-63081D1E6344}" type="slidenum">
              <a:rPr lang="en-CA" smtClean="0"/>
              <a:t>26</a:t>
            </a:fld>
            <a:endParaRPr lang="en-CA"/>
          </a:p>
        </p:txBody>
      </p:sp>
      <p:sp>
        <p:nvSpPr>
          <p:cNvPr id="5" name="Title 1">
            <a:extLst>
              <a:ext uri="{FF2B5EF4-FFF2-40B4-BE49-F238E27FC236}">
                <a16:creationId xmlns:a16="http://schemas.microsoft.com/office/drawing/2014/main" id="{64196780-7552-500B-AD12-3CCFCD4BABF8}"/>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CA" sz="2800">
                <a:effectLst>
                  <a:outerShdw blurRad="38100" dist="38100" dir="2700000" algn="tl">
                    <a:srgbClr val="000000">
                      <a:alpha val="43137"/>
                    </a:srgbClr>
                  </a:outerShdw>
                </a:effectLst>
                <a:latin typeface="Century Gothic"/>
              </a:rPr>
              <a:t>What is Business Development</a:t>
            </a:r>
            <a:endParaRPr lang="en-US" sz="2800">
              <a:effectLst>
                <a:outerShdw blurRad="38100" dist="38100" dir="2700000" algn="tl">
                  <a:srgbClr val="000000">
                    <a:alpha val="43137"/>
                  </a:srgbClr>
                </a:outerShdw>
              </a:effectLst>
              <a:latin typeface="Century Gothic"/>
            </a:endParaRPr>
          </a:p>
        </p:txBody>
      </p:sp>
    </p:spTree>
    <p:extLst>
      <p:ext uri="{BB962C8B-B14F-4D97-AF65-F5344CB8AC3E}">
        <p14:creationId xmlns:p14="http://schemas.microsoft.com/office/powerpoint/2010/main" val="2012668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30910"/>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extLst>
              <p:ext uri="{D42A27DB-BD31-4B8C-83A1-F6EECF244321}">
                <p14:modId xmlns:p14="http://schemas.microsoft.com/office/powerpoint/2010/main" val="1870856978"/>
              </p:ext>
            </p:extLst>
          </p:nvPr>
        </p:nvGraphicFramePr>
        <p:xfrm>
          <a:off x="153235" y="511864"/>
          <a:ext cx="11842972" cy="6035040"/>
        </p:xfrm>
        <a:graphic>
          <a:graphicData uri="http://schemas.openxmlformats.org/drawingml/2006/table">
            <a:tbl>
              <a:tblPr firstRow="1" bandRow="1">
                <a:tableStyleId>{5C22544A-7EE6-4342-B048-85BDC9FD1C3A}</a:tableStyleId>
              </a:tblPr>
              <a:tblGrid>
                <a:gridCol w="11842972">
                  <a:extLst>
                    <a:ext uri="{9D8B030D-6E8A-4147-A177-3AD203B41FA5}">
                      <a16:colId xmlns:a16="http://schemas.microsoft.com/office/drawing/2014/main" val="588226930"/>
                    </a:ext>
                  </a:extLst>
                </a:gridCol>
              </a:tblGrid>
              <a:tr h="1965649">
                <a:tc>
                  <a:txBody>
                    <a:bodyPr/>
                    <a:lstStyle/>
                    <a:p>
                      <a:r>
                        <a:rPr lang="en-US" sz="1400" b="1" i="0" u="none" strike="noStrike" kern="1200">
                          <a:solidFill>
                            <a:schemeClr val="tx1"/>
                          </a:solidFill>
                          <a:latin typeface="Calibri"/>
                          <a:ea typeface="+mn-ea"/>
                          <a:cs typeface="+mn-cs"/>
                        </a:rPr>
                        <a:t>Business Vision: </a:t>
                      </a:r>
                    </a:p>
                    <a:p>
                      <a:r>
                        <a:rPr lang="en-CA" sz="1400" b="0" i="0">
                          <a:solidFill>
                            <a:schemeClr val="tx1"/>
                          </a:solidFill>
                          <a:latin typeface="+mn-lt"/>
                          <a:ea typeface="Calibri"/>
                          <a:cs typeface="Calibri"/>
                        </a:rPr>
                        <a:t>Empower ’</a:t>
                      </a:r>
                      <a:r>
                        <a:rPr lang="en-CA" sz="1400" b="1" i="0">
                          <a:solidFill>
                            <a:schemeClr val="tx1"/>
                          </a:solidFill>
                          <a:latin typeface="+mn-lt"/>
                          <a:ea typeface="Calibri"/>
                          <a:cs typeface="Calibri"/>
                        </a:rPr>
                        <a:t>smart’</a:t>
                      </a:r>
                      <a:r>
                        <a:rPr lang="en-CA" sz="1400" b="0" i="0">
                          <a:solidFill>
                            <a:schemeClr val="tx1"/>
                          </a:solidFill>
                          <a:latin typeface="+mn-lt"/>
                          <a:ea typeface="Calibri"/>
                          <a:cs typeface="Calibri"/>
                        </a:rPr>
                        <a:t> business development with modern, flexible, user-friendly tools to </a:t>
                      </a:r>
                      <a:r>
                        <a:rPr lang="en-CA" sz="1400" b="1" i="0">
                          <a:solidFill>
                            <a:schemeClr val="tx1"/>
                          </a:solidFill>
                          <a:latin typeface="+mn-lt"/>
                          <a:ea typeface="Calibri"/>
                          <a:cs typeface="Calibri"/>
                        </a:rPr>
                        <a:t>deliver on business outcomes </a:t>
                      </a:r>
                      <a:r>
                        <a:rPr lang="en-CA" sz="1400" b="0" i="0">
                          <a:solidFill>
                            <a:schemeClr val="tx1"/>
                          </a:solidFill>
                          <a:latin typeface="+mn-lt"/>
                          <a:ea typeface="Calibri"/>
                          <a:cs typeface="Calibri"/>
                        </a:rPr>
                        <a:t>and align with the Agency's </a:t>
                      </a:r>
                      <a:r>
                        <a:rPr lang="en-CA" sz="1400" b="0" i="0">
                          <a:solidFill>
                            <a:schemeClr val="tx1"/>
                          </a:solidFill>
                          <a:latin typeface="+mn-lt"/>
                          <a:ea typeface="Calibri"/>
                          <a:cs typeface="Calibri"/>
                          <a:hlinkClick r:id="rId3">
                            <a:extLst>
                              <a:ext uri="{A12FA001-AC4F-418D-AE19-62706E023703}">
                                <ahyp:hlinkClr xmlns:ahyp="http://schemas.microsoft.com/office/drawing/2018/hyperlinkcolor" val="tx"/>
                              </a:ext>
                            </a:extLst>
                          </a:hlinkClick>
                        </a:rPr>
                        <a:t>Strategic Goals</a:t>
                      </a:r>
                      <a:r>
                        <a:rPr lang="en-CA" sz="1400" b="0" i="0">
                          <a:solidFill>
                            <a:schemeClr val="tx1"/>
                          </a:solidFill>
                          <a:latin typeface="+mn-lt"/>
                          <a:ea typeface="Calibri"/>
                          <a:cs typeface="Calibri"/>
                        </a:rPr>
                        <a:t> and priorities, </a:t>
                      </a:r>
                      <a:r>
                        <a:rPr lang="en-CA" sz="1400" b="1" i="0">
                          <a:solidFill>
                            <a:schemeClr val="tx1"/>
                          </a:solidFill>
                          <a:latin typeface="+mn-lt"/>
                          <a:ea typeface="Calibri"/>
                          <a:cs typeface="Calibri"/>
                        </a:rPr>
                        <a:t>while managing costs and risks</a:t>
                      </a:r>
                      <a:r>
                        <a:rPr lang="en-CA" sz="1400" b="0" i="0">
                          <a:solidFill>
                            <a:schemeClr val="tx1"/>
                          </a:solidFill>
                          <a:latin typeface="+mn-lt"/>
                          <a:ea typeface="Calibri"/>
                          <a:cs typeface="Calibri"/>
                        </a:rPr>
                        <a:t>.  Key principles: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CA" sz="1400" b="0" i="0" u="none" strike="noStrike" kern="1200">
                          <a:solidFill>
                            <a:schemeClr val="tx1"/>
                          </a:solidFill>
                          <a:latin typeface="+mn-lt"/>
                          <a:ea typeface="Calibri"/>
                          <a:cs typeface="Calibri"/>
                        </a:rPr>
                        <a:t>Open Source and solutions development ‘smart’ - </a:t>
                      </a:r>
                      <a:r>
                        <a:rPr lang="en-US" sz="1400" b="0" i="0" u="none" strike="noStrike" kern="1200">
                          <a:solidFill>
                            <a:schemeClr val="tx1"/>
                          </a:solidFill>
                          <a:latin typeface="+mn-lt"/>
                          <a:ea typeface="Tahoma"/>
                          <a:cs typeface="Tahoma"/>
                        </a:rPr>
                        <a:t>c</a:t>
                      </a:r>
                      <a:r>
                        <a:rPr lang="en-US" sz="1400">
                          <a:solidFill>
                            <a:schemeClr val="tx1"/>
                          </a:solidFill>
                          <a:ea typeface="Tahoma"/>
                          <a:cs typeface="Tahoma"/>
                        </a:rPr>
                        <a:t>hoosing the best tool for the job or business problem and who is better positioned to develop</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CA" sz="1400" b="0" i="0" u="none" strike="noStrike" kern="1200">
                          <a:solidFill>
                            <a:schemeClr val="tx1"/>
                          </a:solidFill>
                          <a:latin typeface="+mn-lt"/>
                          <a:ea typeface="Calibri"/>
                          <a:cs typeface="Calibri"/>
                        </a:rPr>
                        <a:t>Re-usability - s</a:t>
                      </a:r>
                      <a:r>
                        <a:rPr lang="en-US" sz="1400">
                          <a:solidFill>
                            <a:schemeClr val="tx1"/>
                          </a:solidFill>
                          <a:ea typeface="Tahoma"/>
                          <a:cs typeface="Tahoma"/>
                        </a:rPr>
                        <a:t>haring knowledge, code and processes in open repositories to maximize efficiency and avoid duplication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a:solidFill>
                            <a:schemeClr val="tx1"/>
                          </a:solidFill>
                          <a:ea typeface="Tahoma"/>
                          <a:cs typeface="Tahoma"/>
                        </a:rPr>
                        <a:t>Managed standardization – establishing and managing standard modules developed by business (e.g., standard libraries)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a:solidFill>
                            <a:schemeClr val="tx1"/>
                          </a:solidFill>
                          <a:ea typeface="Tahoma"/>
                          <a:cs typeface="Tahoma"/>
                        </a:rPr>
                        <a:t>Value-added – focus business development on business value creation (e.g.., rapid prototyping and response to data needs; production of statistics requiring SME expertise; exploration) by removing current process/system gaps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r h="2081788">
                <a:tc>
                  <a:txBody>
                    <a:bodyPr/>
                    <a:lstStyle/>
                    <a:p>
                      <a:pPr lvl="0" algn="l">
                        <a:lnSpc>
                          <a:spcPct val="100000"/>
                        </a:lnSpc>
                        <a:spcBef>
                          <a:spcPts val="0"/>
                        </a:spcBef>
                        <a:spcAft>
                          <a:spcPts val="0"/>
                        </a:spcAft>
                        <a:buNone/>
                      </a:pPr>
                      <a:r>
                        <a:rPr lang="en-US" sz="1400" b="1" i="0" u="none" strike="noStrike" noProof="0">
                          <a:solidFill>
                            <a:schemeClr val="tx1"/>
                          </a:solidFill>
                          <a:latin typeface="Calibri"/>
                        </a:rPr>
                        <a:t>Key changes required to reach the vision:</a:t>
                      </a:r>
                    </a:p>
                    <a:p>
                      <a:pPr marL="171450" indent="-171450" algn="l">
                        <a:buFontTx/>
                        <a:buChar char="-"/>
                      </a:pPr>
                      <a:r>
                        <a:rPr lang="en-US" sz="1400" b="1">
                          <a:solidFill>
                            <a:schemeClr val="tx1"/>
                          </a:solidFill>
                          <a:ea typeface="Tahoma"/>
                          <a:cs typeface="Tahoma"/>
                        </a:rPr>
                        <a:t>TEA implemented</a:t>
                      </a:r>
                      <a:r>
                        <a:rPr lang="en-US" sz="1400" b="0">
                          <a:solidFill>
                            <a:schemeClr val="tx1"/>
                          </a:solidFill>
                          <a:ea typeface="Tahoma"/>
                          <a:cs typeface="Tahoma"/>
                        </a:rPr>
                        <a:t> (data-driven architecture; AI-driven automated data pipelines from collection through dissemination; self-service platforms; digital workspaces) - to eliminate process and system gaps </a:t>
                      </a:r>
                      <a:r>
                        <a:rPr lang="en-US" sz="1400">
                          <a:solidFill>
                            <a:schemeClr val="tx1"/>
                          </a:solidFill>
                          <a:ea typeface="Tahoma"/>
                          <a:cs typeface="Tahoma"/>
                        </a:rPr>
                        <a:t>(e.g., moving data between process phases and systems )</a:t>
                      </a:r>
                      <a:endParaRPr lang="en-US" sz="1400" b="0">
                        <a:solidFill>
                          <a:schemeClr val="tx1"/>
                        </a:solidFill>
                        <a:ea typeface="Tahoma"/>
                        <a:cs typeface="Tahoma"/>
                      </a:endParaRPr>
                    </a:p>
                    <a:p>
                      <a:pPr marL="171450" indent="-171450" algn="l">
                        <a:buFontTx/>
                        <a:buChar char="-"/>
                      </a:pPr>
                      <a:r>
                        <a:rPr lang="en-US" sz="1400" b="0">
                          <a:solidFill>
                            <a:schemeClr val="tx1"/>
                          </a:solidFill>
                          <a:ea typeface="Tahoma"/>
                          <a:cs typeface="Tahoma"/>
                        </a:rPr>
                        <a:t>Projects use </a:t>
                      </a:r>
                      <a:r>
                        <a:rPr lang="en-US" sz="1400" b="1">
                          <a:solidFill>
                            <a:schemeClr val="tx1"/>
                          </a:solidFill>
                          <a:ea typeface="Tahoma"/>
                          <a:cs typeface="Tahoma"/>
                        </a:rPr>
                        <a:t>established principles to differentiate corporate (IT) and business development </a:t>
                      </a:r>
                      <a:r>
                        <a:rPr lang="en-US" sz="1400" b="0">
                          <a:solidFill>
                            <a:schemeClr val="tx1"/>
                          </a:solidFill>
                          <a:ea typeface="Tahoma"/>
                          <a:cs typeface="Tahoma"/>
                        </a:rPr>
                        <a:t>to determine the best approach (see Annexes)</a:t>
                      </a:r>
                    </a:p>
                    <a:p>
                      <a:pPr marL="171450" indent="-171450" algn="l">
                        <a:buFontTx/>
                        <a:buChar char="-"/>
                      </a:pPr>
                      <a:r>
                        <a:rPr lang="en-US" sz="1400" b="0">
                          <a:solidFill>
                            <a:schemeClr val="tx1"/>
                          </a:solidFill>
                          <a:ea typeface="Tahoma"/>
                          <a:cs typeface="Tahoma"/>
                        </a:rPr>
                        <a:t>Programs and operations choose between </a:t>
                      </a:r>
                      <a:r>
                        <a:rPr lang="en-US" sz="1400" b="1">
                          <a:solidFill>
                            <a:schemeClr val="tx1"/>
                          </a:solidFill>
                          <a:ea typeface="Tahoma"/>
                          <a:cs typeface="Tahoma"/>
                        </a:rPr>
                        <a:t>innovation and production modes </a:t>
                      </a:r>
                      <a:r>
                        <a:rPr lang="en-US" sz="1400" b="0">
                          <a:solidFill>
                            <a:schemeClr val="tx1"/>
                          </a:solidFill>
                          <a:ea typeface="Tahoma"/>
                          <a:cs typeface="Tahoma"/>
                        </a:rPr>
                        <a:t>depending on the need</a:t>
                      </a:r>
                    </a:p>
                    <a:p>
                      <a:pPr marL="171450" indent="-171450" algn="l">
                        <a:buFontTx/>
                        <a:buChar char="-"/>
                      </a:pPr>
                      <a:r>
                        <a:rPr lang="en-US" sz="1400" b="0">
                          <a:solidFill>
                            <a:schemeClr val="tx1"/>
                          </a:solidFill>
                          <a:ea typeface="Tahoma"/>
                          <a:cs typeface="Tahoma"/>
                        </a:rPr>
                        <a:t>Business developers follow </a:t>
                      </a:r>
                      <a:r>
                        <a:rPr lang="en-US" sz="1400" b="1">
                          <a:solidFill>
                            <a:schemeClr val="tx1"/>
                          </a:solidFill>
                          <a:ea typeface="Tahoma"/>
                          <a:cs typeface="Tahoma"/>
                        </a:rPr>
                        <a:t>Activity-Based processes and toolkits that enable AI </a:t>
                      </a:r>
                      <a:r>
                        <a:rPr lang="en-US" sz="1400" b="0">
                          <a:solidFill>
                            <a:schemeClr val="tx1"/>
                          </a:solidFill>
                          <a:ea typeface="Tahoma"/>
                          <a:cs typeface="Tahoma"/>
                        </a:rPr>
                        <a:t>-</a:t>
                      </a:r>
                      <a:r>
                        <a:rPr lang="en-US" sz="1400">
                          <a:solidFill>
                            <a:schemeClr val="tx1"/>
                          </a:solidFill>
                          <a:ea typeface="Tahoma"/>
                          <a:cs typeface="Tahoma"/>
                        </a:rPr>
                        <a:t> flexible tools, development process, training and guardrails for the task at hand</a:t>
                      </a:r>
                      <a:endParaRPr lang="en-US" sz="1400" b="1">
                        <a:solidFill>
                          <a:schemeClr val="tx1"/>
                        </a:solidFill>
                        <a:ea typeface="Tahoma"/>
                        <a:cs typeface="Tahoma"/>
                      </a:endParaRPr>
                    </a:p>
                    <a:p>
                      <a:pPr marL="171450" indent="-171450" algn="l">
                        <a:buFontTx/>
                        <a:buChar char="-"/>
                      </a:pPr>
                      <a:r>
                        <a:rPr lang="en-US" sz="1400" b="0">
                          <a:solidFill>
                            <a:schemeClr val="tx1"/>
                          </a:solidFill>
                          <a:ea typeface="Tahoma"/>
                          <a:cs typeface="Tahoma"/>
                        </a:rPr>
                        <a:t>Business developers </a:t>
                      </a:r>
                      <a:r>
                        <a:rPr lang="en-US" sz="1400" b="1">
                          <a:solidFill>
                            <a:schemeClr val="tx1"/>
                          </a:solidFill>
                          <a:ea typeface="Tahoma"/>
                          <a:cs typeface="Tahoma"/>
                        </a:rPr>
                        <a:t>work in the open</a:t>
                      </a:r>
                      <a:r>
                        <a:rPr lang="en-US" sz="1400" b="0">
                          <a:solidFill>
                            <a:schemeClr val="tx1"/>
                          </a:solidFill>
                          <a:ea typeface="Tahoma"/>
                          <a:cs typeface="Tahoma"/>
                        </a:rPr>
                        <a:t> - t</a:t>
                      </a:r>
                      <a:r>
                        <a:rPr lang="en-US" sz="1400">
                          <a:solidFill>
                            <a:schemeClr val="tx1"/>
                          </a:solidFill>
                          <a:ea typeface="Tahoma"/>
                          <a:cs typeface="Tahoma"/>
                        </a:rPr>
                        <a:t>aking a community approach - sharing best practices, lessons learned, code and resources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400" b="1">
                          <a:solidFill>
                            <a:schemeClr val="tx1"/>
                          </a:solidFill>
                          <a:ea typeface="Tahoma"/>
                          <a:cs typeface="Tahoma"/>
                        </a:rPr>
                        <a:t>Centre of Enablement </a:t>
                      </a:r>
                      <a:r>
                        <a:rPr lang="en-US" sz="1400" b="0">
                          <a:solidFill>
                            <a:schemeClr val="tx1"/>
                          </a:solidFill>
                          <a:ea typeface="Tahoma"/>
                          <a:cs typeface="Tahoma"/>
                        </a:rPr>
                        <a:t>is implemented - p</a:t>
                      </a:r>
                      <a:r>
                        <a:rPr lang="en-US" sz="1400">
                          <a:solidFill>
                            <a:schemeClr val="tx1"/>
                          </a:solidFill>
                          <a:ea typeface="Tahoma"/>
                          <a:cs typeface="Tahoma"/>
                        </a:rPr>
                        <a:t>roviding clear and easy access to support and resources for developers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400" b="1">
                          <a:solidFill>
                            <a:schemeClr val="tx1"/>
                          </a:solidFill>
                          <a:ea typeface="Tahoma"/>
                          <a:cs typeface="Tahoma"/>
                        </a:rPr>
                        <a:t>Digital accountability</a:t>
                      </a:r>
                      <a:r>
                        <a:rPr lang="en-US" sz="1400" b="0">
                          <a:solidFill>
                            <a:schemeClr val="tx1"/>
                          </a:solidFill>
                          <a:ea typeface="Tahoma"/>
                          <a:cs typeface="Tahoma"/>
                        </a:rPr>
                        <a:t> attributed to whoever created digital assets / solutions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400" b="0">
                          <a:solidFill>
                            <a:schemeClr val="tx1"/>
                          </a:solidFill>
                          <a:ea typeface="Tahoma"/>
                          <a:cs typeface="Tahoma"/>
                        </a:rPr>
                        <a:t>Business users </a:t>
                      </a:r>
                      <a:r>
                        <a:rPr lang="en-US" sz="1400" b="1">
                          <a:solidFill>
                            <a:schemeClr val="tx1"/>
                          </a:solidFill>
                          <a:ea typeface="Tahoma"/>
                          <a:cs typeface="Tahoma"/>
                        </a:rPr>
                        <a:t>trained and onboarded </a:t>
                      </a:r>
                      <a:r>
                        <a:rPr lang="en-US" sz="1400" b="0">
                          <a:solidFill>
                            <a:schemeClr val="tx1"/>
                          </a:solidFill>
                          <a:ea typeface="Tahoma"/>
                          <a:cs typeface="Tahoma"/>
                        </a:rPr>
                        <a:t>to the new business development approach</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187039833"/>
                  </a:ext>
                </a:extLst>
              </a:tr>
              <a:tr h="979014">
                <a:tc>
                  <a:txBody>
                    <a:bodyPr/>
                    <a:lstStyle/>
                    <a:p>
                      <a:pPr lvl="0">
                        <a:buNone/>
                      </a:pPr>
                      <a:r>
                        <a:rPr lang="en-US" sz="1400" b="1" i="0" u="none" strike="noStrike" noProof="0">
                          <a:solidFill>
                            <a:schemeClr val="tx1"/>
                          </a:solidFill>
                          <a:latin typeface="Calibri"/>
                        </a:rPr>
                        <a:t>Value to Stakeholders / Users:</a:t>
                      </a:r>
                    </a:p>
                    <a:p>
                      <a:pPr marL="285750" lvl="0" indent="-285750">
                        <a:buFontTx/>
                        <a:buChar char="-"/>
                      </a:pPr>
                      <a:r>
                        <a:rPr lang="en-US" sz="1400" b="0" i="0" u="none" strike="noStrike" noProof="0">
                          <a:solidFill>
                            <a:schemeClr val="tx1"/>
                          </a:solidFill>
                          <a:latin typeface="Calibri"/>
                        </a:rPr>
                        <a:t>Improved business developer satisfaction, effectiveness and efficiency</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b="0" i="0" u="none" strike="noStrike" noProof="0">
                          <a:solidFill>
                            <a:schemeClr val="tx1"/>
                          </a:solidFill>
                          <a:latin typeface="Calibri"/>
                        </a:rPr>
                        <a:t>Improved responsiveness to changing data demands and urgent business needs; e</a:t>
                      </a:r>
                      <a:r>
                        <a:rPr lang="en-US" sz="1400" b="0" err="1">
                          <a:solidFill>
                            <a:schemeClr val="tx1"/>
                          </a:solidFill>
                        </a:rPr>
                        <a:t>nablement</a:t>
                      </a:r>
                      <a:r>
                        <a:rPr lang="en-US" sz="1400" b="0">
                          <a:solidFill>
                            <a:schemeClr val="tx1"/>
                          </a:solidFill>
                        </a:rPr>
                        <a:t> of corporate priorities such as shift to open source</a:t>
                      </a:r>
                      <a:endParaRPr lang="en-US" sz="1400" b="0" i="0" u="none" strike="noStrike" noProof="0">
                        <a:solidFill>
                          <a:schemeClr val="tx1"/>
                        </a:solidFill>
                        <a:latin typeface="Calibri"/>
                      </a:endParaRPr>
                    </a:p>
                    <a:p>
                      <a:pPr marL="285750" lvl="0" indent="-285750">
                        <a:buFontTx/>
                        <a:buChar char="-"/>
                      </a:pPr>
                      <a:r>
                        <a:rPr lang="en-US" sz="1400" b="0" i="0" u="none" strike="noStrike" noProof="0">
                          <a:solidFill>
                            <a:schemeClr val="tx1"/>
                          </a:solidFill>
                          <a:latin typeface="Calibri"/>
                        </a:rPr>
                        <a:t>Necessary production rigor for ongoing, repeating production of statistical outputs</a:t>
                      </a:r>
                    </a:p>
                    <a:p>
                      <a:pPr marL="285750" lvl="0" indent="-285750">
                        <a:buFontTx/>
                        <a:buChar char="-"/>
                      </a:pPr>
                      <a:r>
                        <a:rPr lang="en-US" sz="1400" b="0" i="0" u="none" strike="noStrike" noProof="0">
                          <a:solidFill>
                            <a:schemeClr val="tx1"/>
                          </a:solidFill>
                          <a:latin typeface="Calibri"/>
                        </a:rPr>
                        <a:t>Minimized risks for programs and StatCan</a:t>
                      </a:r>
                    </a:p>
                    <a:p>
                      <a:pPr marL="285750" lvl="0" indent="-285750">
                        <a:buFontTx/>
                        <a:buChar char="-"/>
                      </a:pPr>
                      <a:r>
                        <a:rPr lang="en-US" sz="1400" b="0" i="0" u="none" strike="noStrike" noProof="0">
                          <a:solidFill>
                            <a:schemeClr val="tx1"/>
                          </a:solidFill>
                          <a:latin typeface="Calibri"/>
                        </a:rPr>
                        <a:t>Optimized allocation of IT resources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94531670"/>
                  </a:ext>
                </a:extLst>
              </a:tr>
            </a:tbl>
          </a:graphicData>
        </a:graphic>
      </p:graphicFrame>
    </p:spTree>
    <p:extLst>
      <p:ext uri="{BB962C8B-B14F-4D97-AF65-F5344CB8AC3E}">
        <p14:creationId xmlns:p14="http://schemas.microsoft.com/office/powerpoint/2010/main" val="910710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2">
            <a:extLst>
              <a:ext uri="{FF2B5EF4-FFF2-40B4-BE49-F238E27FC236}">
                <a16:creationId xmlns:a16="http://schemas.microsoft.com/office/drawing/2014/main" id="{52394674-1A5B-624E-189B-22603E5D3EEC}"/>
              </a:ext>
            </a:extLst>
          </p:cNvPr>
          <p:cNvGraphicFramePr>
            <a:graphicFrameLocks noGrp="1"/>
          </p:cNvGraphicFramePr>
          <p:nvPr>
            <p:ph idx="1"/>
            <p:extLst>
              <p:ext uri="{D42A27DB-BD31-4B8C-83A1-F6EECF244321}">
                <p14:modId xmlns:p14="http://schemas.microsoft.com/office/powerpoint/2010/main" val="1388218731"/>
              </p:ext>
            </p:extLst>
          </p:nvPr>
        </p:nvGraphicFramePr>
        <p:xfrm>
          <a:off x="412314" y="686215"/>
          <a:ext cx="11286995" cy="5351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83018AC-A22C-BE3A-2D34-F1C300735631}"/>
              </a:ext>
            </a:extLst>
          </p:cNvPr>
          <p:cNvSpPr>
            <a:spLocks noGrp="1"/>
          </p:cNvSpPr>
          <p:nvPr>
            <p:ph type="sldNum" sz="quarter" idx="12"/>
          </p:nvPr>
        </p:nvSpPr>
        <p:spPr/>
        <p:txBody>
          <a:bodyPr/>
          <a:lstStyle/>
          <a:p>
            <a:fld id="{49DA9349-B3BD-4AC8-BE71-63081D1E6344}" type="slidenum">
              <a:rPr lang="en-CA" smtClean="0"/>
              <a:t>28</a:t>
            </a:fld>
            <a:endParaRPr lang="en-CA"/>
          </a:p>
        </p:txBody>
      </p:sp>
      <p:sp>
        <p:nvSpPr>
          <p:cNvPr id="7" name="Title 1">
            <a:extLst>
              <a:ext uri="{FF2B5EF4-FFF2-40B4-BE49-F238E27FC236}">
                <a16:creationId xmlns:a16="http://schemas.microsoft.com/office/drawing/2014/main" id="{16D624C5-AB61-A563-138C-95B620F0DD00}"/>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Development Overview</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spTree>
    <p:extLst>
      <p:ext uri="{BB962C8B-B14F-4D97-AF65-F5344CB8AC3E}">
        <p14:creationId xmlns:p14="http://schemas.microsoft.com/office/powerpoint/2010/main" val="393279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9BEF-4BF5-0E0C-8E54-E8066D275198}"/>
              </a:ext>
            </a:extLst>
          </p:cNvPr>
          <p:cNvSpPr>
            <a:spLocks noGrp="1"/>
          </p:cNvSpPr>
          <p:nvPr>
            <p:ph type="ctrTitle"/>
          </p:nvPr>
        </p:nvSpPr>
        <p:spPr/>
        <p:txBody>
          <a:bodyPr/>
          <a:lstStyle/>
          <a:p>
            <a:r>
              <a:rPr lang="fr-CA"/>
              <a:t>Annexe</a:t>
            </a:r>
            <a:endParaRPr lang="en-CA"/>
          </a:p>
        </p:txBody>
      </p:sp>
      <p:sp>
        <p:nvSpPr>
          <p:cNvPr id="4" name="Slide Number Placeholder 3">
            <a:extLst>
              <a:ext uri="{FF2B5EF4-FFF2-40B4-BE49-F238E27FC236}">
                <a16:creationId xmlns:a16="http://schemas.microsoft.com/office/drawing/2014/main" id="{7EF8BB41-91DE-26ED-49FB-35100D2179AE}"/>
              </a:ext>
            </a:extLst>
          </p:cNvPr>
          <p:cNvSpPr>
            <a:spLocks noGrp="1"/>
          </p:cNvSpPr>
          <p:nvPr>
            <p:ph type="sldNum" sz="quarter" idx="12"/>
          </p:nvPr>
        </p:nvSpPr>
        <p:spPr/>
        <p:txBody>
          <a:bodyPr/>
          <a:lstStyle/>
          <a:p>
            <a:fld id="{49DA9349-B3BD-4AC8-BE71-63081D1E6344}" type="slidenum">
              <a:rPr lang="en-CA" smtClean="0"/>
              <a:t>29</a:t>
            </a:fld>
            <a:endParaRPr lang="en-CA"/>
          </a:p>
        </p:txBody>
      </p:sp>
    </p:spTree>
    <p:extLst>
      <p:ext uri="{BB962C8B-B14F-4D97-AF65-F5344CB8AC3E}">
        <p14:creationId xmlns:p14="http://schemas.microsoft.com/office/powerpoint/2010/main" val="570949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DIGS</a:t>
            </a:r>
          </a:p>
        </p:txBody>
      </p:sp>
    </p:spTree>
    <p:extLst>
      <p:ext uri="{BB962C8B-B14F-4D97-AF65-F5344CB8AC3E}">
        <p14:creationId xmlns:p14="http://schemas.microsoft.com/office/powerpoint/2010/main" val="1228478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FE64A-F794-01DE-A809-52082B53B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03CBA-A515-49D1-E820-1113FF654502}"/>
              </a:ext>
            </a:extLst>
          </p:cNvPr>
          <p:cNvSpPr>
            <a:spLocks noGrp="1"/>
          </p:cNvSpPr>
          <p:nvPr>
            <p:ph type="title"/>
          </p:nvPr>
        </p:nvSpPr>
        <p:spPr>
          <a:xfrm>
            <a:off x="371475" y="365125"/>
            <a:ext cx="11334750" cy="473075"/>
          </a:xfrm>
        </p:spPr>
        <p:txBody>
          <a:bodyPr>
            <a:normAutofit fontScale="90000"/>
          </a:bodyPr>
          <a:lstStyle/>
          <a:p>
            <a:r>
              <a:rPr lang="en-CA" b="1">
                <a:solidFill>
                  <a:schemeClr val="accent4">
                    <a:lumMod val="50000"/>
                  </a:schemeClr>
                </a:solidFill>
              </a:rPr>
              <a:t>GSBPM Sub-Processes with AI Applications</a:t>
            </a:r>
            <a:endParaRPr lang="en-CA">
              <a:solidFill>
                <a:schemeClr val="accent4">
                  <a:lumMod val="50000"/>
                </a:schemeClr>
              </a:solidFill>
            </a:endParaRPr>
          </a:p>
        </p:txBody>
      </p:sp>
      <p:graphicFrame>
        <p:nvGraphicFramePr>
          <p:cNvPr id="10" name="Content Placeholder 9">
            <a:extLst>
              <a:ext uri="{FF2B5EF4-FFF2-40B4-BE49-F238E27FC236}">
                <a16:creationId xmlns:a16="http://schemas.microsoft.com/office/drawing/2014/main" id="{523CB3E2-1EDC-F748-F0CC-F6CE4C5DBF56}"/>
              </a:ext>
            </a:extLst>
          </p:cNvPr>
          <p:cNvGraphicFramePr>
            <a:graphicFrameLocks noGrp="1"/>
          </p:cNvGraphicFramePr>
          <p:nvPr>
            <p:ph idx="1"/>
          </p:nvPr>
        </p:nvGraphicFramePr>
        <p:xfrm>
          <a:off x="153065" y="839916"/>
          <a:ext cx="11877675" cy="594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802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D85D-54C8-5A22-5BAA-F83376A2D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A2BF5-5EF0-33CC-1505-198173338127}"/>
              </a:ext>
            </a:extLst>
          </p:cNvPr>
          <p:cNvSpPr>
            <a:spLocks noGrp="1"/>
          </p:cNvSpPr>
          <p:nvPr>
            <p:ph type="title"/>
          </p:nvPr>
        </p:nvSpPr>
        <p:spPr>
          <a:xfrm>
            <a:off x="420756" y="225978"/>
            <a:ext cx="11257721" cy="410127"/>
          </a:xfrm>
        </p:spPr>
        <p:txBody>
          <a:bodyPr>
            <a:noAutofit/>
          </a:bodyPr>
          <a:lstStyle/>
          <a:p>
            <a:r>
              <a:rPr lang="en-CA" sz="2800">
                <a:solidFill>
                  <a:schemeClr val="accent4">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Mapping AI Applications and Opportunities to the GSBPM (</a:t>
            </a:r>
            <a:r>
              <a:rPr lang="en-CA" sz="2800" b="1">
                <a:solidFill>
                  <a:schemeClr val="accent4">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StatCan version</a:t>
            </a:r>
            <a:r>
              <a:rPr lang="en-CA" sz="2800">
                <a:solidFill>
                  <a:schemeClr val="accent4">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570B0845-7BAD-5367-334F-2596E4326430}"/>
              </a:ext>
            </a:extLst>
          </p:cNvPr>
          <p:cNvPicPr>
            <a:picLocks noChangeAspect="1"/>
          </p:cNvPicPr>
          <p:nvPr/>
        </p:nvPicPr>
        <p:blipFill>
          <a:blip r:embed="rId2"/>
          <a:stretch>
            <a:fillRect/>
          </a:stretch>
        </p:blipFill>
        <p:spPr>
          <a:xfrm>
            <a:off x="1184988" y="636105"/>
            <a:ext cx="9978897" cy="6090291"/>
          </a:xfrm>
          <a:prstGeom prst="rect">
            <a:avLst/>
          </a:prstGeom>
        </p:spPr>
      </p:pic>
    </p:spTree>
    <p:extLst>
      <p:ext uri="{BB962C8B-B14F-4D97-AF65-F5344CB8AC3E}">
        <p14:creationId xmlns:p14="http://schemas.microsoft.com/office/powerpoint/2010/main" val="3198594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Business Development</a:t>
            </a:r>
          </a:p>
        </p:txBody>
      </p:sp>
    </p:spTree>
    <p:extLst>
      <p:ext uri="{BB962C8B-B14F-4D97-AF65-F5344CB8AC3E}">
        <p14:creationId xmlns:p14="http://schemas.microsoft.com/office/powerpoint/2010/main" val="2615581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871FE-AC24-97EF-968F-E0E76148D7B9}"/>
              </a:ext>
            </a:extLst>
          </p:cNvPr>
          <p:cNvSpPr>
            <a:spLocks noGrp="1"/>
          </p:cNvSpPr>
          <p:nvPr>
            <p:ph type="title"/>
          </p:nvPr>
        </p:nvSpPr>
        <p:spPr>
          <a:xfrm>
            <a:off x="888610" y="112031"/>
            <a:ext cx="10515600"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Collection</a:t>
            </a:r>
            <a:endParaRPr lang="en-CA" b="1"/>
          </a:p>
        </p:txBody>
      </p:sp>
      <p:sp>
        <p:nvSpPr>
          <p:cNvPr id="4" name="Slide Number Placeholder 3">
            <a:extLst>
              <a:ext uri="{FF2B5EF4-FFF2-40B4-BE49-F238E27FC236}">
                <a16:creationId xmlns:a16="http://schemas.microsoft.com/office/drawing/2014/main" id="{CC1E24ED-0B7C-FDE6-34DE-CD8DB069782D}"/>
              </a:ext>
            </a:extLst>
          </p:cNvPr>
          <p:cNvSpPr>
            <a:spLocks noGrp="1"/>
          </p:cNvSpPr>
          <p:nvPr>
            <p:ph type="sldNum" sz="quarter" idx="12"/>
          </p:nvPr>
        </p:nvSpPr>
        <p:spPr/>
        <p:txBody>
          <a:bodyPr/>
          <a:lstStyle/>
          <a:p>
            <a:fld id="{49DA9349-B3BD-4AC8-BE71-63081D1E6344}" type="slidenum">
              <a:rPr lang="en-CA" smtClean="0"/>
              <a:t>34</a:t>
            </a:fld>
            <a:endParaRPr lang="en-CA"/>
          </a:p>
        </p:txBody>
      </p:sp>
      <p:pic>
        <p:nvPicPr>
          <p:cNvPr id="1026" name="Picture 2">
            <a:extLst>
              <a:ext uri="{FF2B5EF4-FFF2-40B4-BE49-F238E27FC236}">
                <a16:creationId xmlns:a16="http://schemas.microsoft.com/office/drawing/2014/main" id="{53AC15B6-C461-738F-D95B-1D57DA36D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943" y="816427"/>
            <a:ext cx="5308210" cy="59000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D5F34673-83FA-EB70-310C-59D92521FCC7}"/>
              </a:ext>
            </a:extLst>
          </p:cNvPr>
          <p:cNvSpPr/>
          <p:nvPr/>
        </p:nvSpPr>
        <p:spPr>
          <a:xfrm>
            <a:off x="482989" y="903512"/>
            <a:ext cx="4721807" cy="571500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CA">
              <a:solidFill>
                <a:schemeClr val="tx1"/>
              </a:solidFill>
            </a:endParaRPr>
          </a:p>
        </p:txBody>
      </p:sp>
      <p:sp>
        <p:nvSpPr>
          <p:cNvPr id="6" name="TextBox 3">
            <a:extLst>
              <a:ext uri="{FF2B5EF4-FFF2-40B4-BE49-F238E27FC236}">
                <a16:creationId xmlns:a16="http://schemas.microsoft.com/office/drawing/2014/main" id="{49B45D99-DBF7-6574-1288-30FE16F57947}"/>
              </a:ext>
            </a:extLst>
          </p:cNvPr>
          <p:cNvSpPr txBox="1"/>
          <p:nvPr/>
        </p:nvSpPr>
        <p:spPr>
          <a:xfrm>
            <a:off x="688280" y="972850"/>
            <a:ext cx="4516516" cy="65556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t>Primary Data Collection – activity groups for business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t>Prototyping and exploration with business utilities</a:t>
            </a:r>
          </a:p>
          <a:p>
            <a:pPr marL="742950" lvl="1" indent="-285750">
              <a:buFontTx/>
              <a:buChar char="-"/>
              <a:defRPr/>
            </a:pPr>
            <a:r>
              <a:rPr lang="en-US" sz="1600"/>
              <a:t>Once reached the operationalization stage – use corporate development to ensure operational rigor, repeatability, stability and support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err="1"/>
              <a:t>Paradata</a:t>
            </a:r>
            <a:r>
              <a:rPr lang="en-US" sz="1600"/>
              <a:t> research and analysis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t>Business process automation through established platforms -  PowerApps, RPA etc.</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t>AI-enabled solutions within corporate AI environments / platforms / tools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ea typeface="Calibri"/>
                <a:cs typeface="Calibri"/>
              </a:rPr>
              <a:t>Secondary Data Collection (alternative data sources) – activity groups for business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ea typeface="Calibri"/>
                <a:cs typeface="Calibri"/>
              </a:rPr>
              <a:t>Entry point for processing and analytical pipelines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ea typeface="Calibri"/>
                <a:cs typeface="Calibri"/>
              </a:rPr>
              <a:t>Business development will follow patterns established for processing / analysis – including AI enablement</a:t>
            </a:r>
          </a:p>
          <a:p>
            <a:endParaRPr lang="en-CA" sz="1600">
              <a:solidFill>
                <a:schemeClr val="tx1"/>
              </a:solidFill>
            </a:endParaRPr>
          </a:p>
          <a:p>
            <a:endParaRPr lang="en-CA" sz="2000"/>
          </a:p>
        </p:txBody>
      </p:sp>
    </p:spTree>
    <p:extLst>
      <p:ext uri="{BB962C8B-B14F-4D97-AF65-F5344CB8AC3E}">
        <p14:creationId xmlns:p14="http://schemas.microsoft.com/office/powerpoint/2010/main" val="3877223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51BC6B-720D-DBDA-BE51-C9AFFEF61619}"/>
              </a:ext>
            </a:extLst>
          </p:cNvPr>
          <p:cNvSpPr>
            <a:spLocks noGrp="1"/>
          </p:cNvSpPr>
          <p:nvPr>
            <p:ph type="sldNum" sz="quarter" idx="12"/>
          </p:nvPr>
        </p:nvSpPr>
        <p:spPr/>
        <p:txBody>
          <a:bodyPr/>
          <a:lstStyle/>
          <a:p>
            <a:fld id="{49DA9349-B3BD-4AC8-BE71-63081D1E6344}" type="slidenum">
              <a:rPr lang="en-CA" smtClean="0"/>
              <a:t>35</a:t>
            </a:fld>
            <a:endParaRPr lang="en-CA"/>
          </a:p>
        </p:txBody>
      </p:sp>
      <p:sp>
        <p:nvSpPr>
          <p:cNvPr id="5" name="Rectangle: Rounded Corners 4">
            <a:extLst>
              <a:ext uri="{FF2B5EF4-FFF2-40B4-BE49-F238E27FC236}">
                <a16:creationId xmlns:a16="http://schemas.microsoft.com/office/drawing/2014/main" id="{326C1A58-9906-63F7-030D-F69084E82755}"/>
              </a:ext>
              <a:ext uri="{C183D7F6-B498-43B3-948B-1728B52AA6E4}">
                <adec:decorative xmlns:adec="http://schemas.microsoft.com/office/drawing/2017/decorative" val="1"/>
              </a:ext>
            </a:extLst>
          </p:cNvPr>
          <p:cNvSpPr/>
          <p:nvPr/>
        </p:nvSpPr>
        <p:spPr>
          <a:xfrm>
            <a:off x="769160" y="1237756"/>
            <a:ext cx="11217259" cy="1579015"/>
          </a:xfrm>
          <a:prstGeom prst="roundRect">
            <a:avLst/>
          </a:prstGeom>
          <a:solidFill>
            <a:schemeClr val="accent5">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6" name="Group 5">
            <a:extLst>
              <a:ext uri="{FF2B5EF4-FFF2-40B4-BE49-F238E27FC236}">
                <a16:creationId xmlns:a16="http://schemas.microsoft.com/office/drawing/2014/main" id="{5BBDE655-8934-9C66-56A9-44E0E9D6D9BF}"/>
              </a:ext>
              <a:ext uri="{C183D7F6-B498-43B3-948B-1728B52AA6E4}">
                <adec:decorative xmlns:adec="http://schemas.microsoft.com/office/drawing/2017/decorative" val="1"/>
              </a:ext>
            </a:extLst>
          </p:cNvPr>
          <p:cNvGrpSpPr/>
          <p:nvPr/>
        </p:nvGrpSpPr>
        <p:grpSpPr>
          <a:xfrm>
            <a:off x="184561" y="1364481"/>
            <a:ext cx="1389918" cy="1325563"/>
            <a:chOff x="4390581" y="4130982"/>
            <a:chExt cx="1389918" cy="1325563"/>
          </a:xfrm>
        </p:grpSpPr>
        <p:sp>
          <p:nvSpPr>
            <p:cNvPr id="7" name="Oval 6">
              <a:extLst>
                <a:ext uri="{FF2B5EF4-FFF2-40B4-BE49-F238E27FC236}">
                  <a16:creationId xmlns:a16="http://schemas.microsoft.com/office/drawing/2014/main" id="{FEC30C33-090A-9178-5654-BA332D766C80}"/>
                </a:ext>
              </a:extLst>
            </p:cNvPr>
            <p:cNvSpPr/>
            <p:nvPr/>
          </p:nvSpPr>
          <p:spPr>
            <a:xfrm>
              <a:off x="4390581" y="4130982"/>
              <a:ext cx="1389918" cy="132556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Graphic 7" descr="Scientist female outline">
              <a:extLst>
                <a:ext uri="{FF2B5EF4-FFF2-40B4-BE49-F238E27FC236}">
                  <a16:creationId xmlns:a16="http://schemas.microsoft.com/office/drawing/2014/main" id="{4BFF7145-E790-2361-5DA0-EAFAC722CF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35605" y="4191222"/>
              <a:ext cx="616929" cy="616929"/>
            </a:xfrm>
            <a:prstGeom prst="rect">
              <a:avLst/>
            </a:prstGeom>
          </p:spPr>
        </p:pic>
        <p:sp>
          <p:nvSpPr>
            <p:cNvPr id="9" name="TextBox 8">
              <a:extLst>
                <a:ext uri="{FF2B5EF4-FFF2-40B4-BE49-F238E27FC236}">
                  <a16:creationId xmlns:a16="http://schemas.microsoft.com/office/drawing/2014/main" id="{FBC3D3D9-B576-40DE-FA41-94DAFFF5DDAD}"/>
                </a:ext>
              </a:extLst>
            </p:cNvPr>
            <p:cNvSpPr txBox="1"/>
            <p:nvPr/>
          </p:nvSpPr>
          <p:spPr>
            <a:xfrm>
              <a:off x="4551092" y="4706819"/>
              <a:ext cx="1068895" cy="646331"/>
            </a:xfrm>
            <a:prstGeom prst="rect">
              <a:avLst/>
            </a:prstGeom>
            <a:noFill/>
          </p:spPr>
          <p:txBody>
            <a:bodyPr wrap="square" rtlCol="0">
              <a:spAutoFit/>
            </a:bodyPr>
            <a:lstStyle/>
            <a:p>
              <a:pPr algn="ctr"/>
              <a:r>
                <a:rPr lang="en-US"/>
                <a:t>Data Science</a:t>
              </a:r>
              <a:endParaRPr lang="en-CA"/>
            </a:p>
          </p:txBody>
        </p:sp>
      </p:grpSp>
      <p:sp>
        <p:nvSpPr>
          <p:cNvPr id="10" name="Rectangle: Rounded Corners 9">
            <a:extLst>
              <a:ext uri="{FF2B5EF4-FFF2-40B4-BE49-F238E27FC236}">
                <a16:creationId xmlns:a16="http://schemas.microsoft.com/office/drawing/2014/main" id="{7AAC164D-1D40-44BE-D164-BADC392CCE16}"/>
              </a:ext>
              <a:ext uri="{C183D7F6-B498-43B3-948B-1728B52AA6E4}">
                <adec:decorative xmlns:adec="http://schemas.microsoft.com/office/drawing/2017/decorative" val="1"/>
              </a:ext>
            </a:extLst>
          </p:cNvPr>
          <p:cNvSpPr/>
          <p:nvPr/>
        </p:nvSpPr>
        <p:spPr>
          <a:xfrm>
            <a:off x="769160" y="2905723"/>
            <a:ext cx="11217259" cy="1925501"/>
          </a:xfrm>
          <a:prstGeom prst="roundRect">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1" name="Group 10">
            <a:extLst>
              <a:ext uri="{FF2B5EF4-FFF2-40B4-BE49-F238E27FC236}">
                <a16:creationId xmlns:a16="http://schemas.microsoft.com/office/drawing/2014/main" id="{4E1E55A0-01C6-F106-5CEE-DBBE2C4E723D}"/>
              </a:ext>
              <a:ext uri="{C183D7F6-B498-43B3-948B-1728B52AA6E4}">
                <adec:decorative xmlns:adec="http://schemas.microsoft.com/office/drawing/2017/decorative" val="1"/>
              </a:ext>
            </a:extLst>
          </p:cNvPr>
          <p:cNvGrpSpPr/>
          <p:nvPr/>
        </p:nvGrpSpPr>
        <p:grpSpPr>
          <a:xfrm>
            <a:off x="103465" y="3162486"/>
            <a:ext cx="1396786" cy="1325563"/>
            <a:chOff x="2230894" y="3925126"/>
            <a:chExt cx="1396786" cy="1325563"/>
          </a:xfrm>
        </p:grpSpPr>
        <p:grpSp>
          <p:nvGrpSpPr>
            <p:cNvPr id="12" name="Group 11">
              <a:extLst>
                <a:ext uri="{FF2B5EF4-FFF2-40B4-BE49-F238E27FC236}">
                  <a16:creationId xmlns:a16="http://schemas.microsoft.com/office/drawing/2014/main" id="{9427E1ED-1CB0-249D-F597-062A2ABACAAB}"/>
                </a:ext>
              </a:extLst>
            </p:cNvPr>
            <p:cNvGrpSpPr/>
            <p:nvPr/>
          </p:nvGrpSpPr>
          <p:grpSpPr>
            <a:xfrm>
              <a:off x="2230894" y="3925126"/>
              <a:ext cx="1396786" cy="1325563"/>
              <a:chOff x="4390581" y="4130982"/>
              <a:chExt cx="1396786" cy="1325563"/>
            </a:xfrm>
          </p:grpSpPr>
          <p:sp>
            <p:nvSpPr>
              <p:cNvPr id="14" name="Oval 13">
                <a:extLst>
                  <a:ext uri="{FF2B5EF4-FFF2-40B4-BE49-F238E27FC236}">
                    <a16:creationId xmlns:a16="http://schemas.microsoft.com/office/drawing/2014/main" id="{1657ED28-FABC-B787-6CD4-D9FC0ACEABAE}"/>
                  </a:ext>
                </a:extLst>
              </p:cNvPr>
              <p:cNvSpPr/>
              <p:nvPr/>
            </p:nvSpPr>
            <p:spPr>
              <a:xfrm>
                <a:off x="4390581" y="4130982"/>
                <a:ext cx="1389918" cy="1325563"/>
              </a:xfrm>
              <a:prstGeom prst="ellipse">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2AED7488-51B0-5CC3-E8EF-DD8C4142662E}"/>
                  </a:ext>
                </a:extLst>
              </p:cNvPr>
              <p:cNvSpPr txBox="1"/>
              <p:nvPr/>
            </p:nvSpPr>
            <p:spPr>
              <a:xfrm>
                <a:off x="4397449" y="4742102"/>
                <a:ext cx="1389918" cy="523220"/>
              </a:xfrm>
              <a:prstGeom prst="rect">
                <a:avLst/>
              </a:prstGeom>
              <a:noFill/>
            </p:spPr>
            <p:txBody>
              <a:bodyPr wrap="square" rtlCol="0">
                <a:spAutoFit/>
              </a:bodyPr>
              <a:lstStyle/>
              <a:p>
                <a:pPr algn="ctr"/>
                <a:r>
                  <a:rPr lang="en-US" sz="1400"/>
                  <a:t>Business Development</a:t>
                </a:r>
                <a:endParaRPr lang="en-CA" sz="1400"/>
              </a:p>
            </p:txBody>
          </p:sp>
        </p:grpSp>
        <p:pic>
          <p:nvPicPr>
            <p:cNvPr id="13" name="Graphic 12" descr="Artificial Intelligence outline">
              <a:extLst>
                <a:ext uri="{FF2B5EF4-FFF2-40B4-BE49-F238E27FC236}">
                  <a16:creationId xmlns:a16="http://schemas.microsoft.com/office/drawing/2014/main" id="{491E8FF6-8542-338D-00AD-F8BCAB9313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24080" y="3939967"/>
              <a:ext cx="662077" cy="662077"/>
            </a:xfrm>
            <a:prstGeom prst="rect">
              <a:avLst/>
            </a:prstGeom>
          </p:spPr>
        </p:pic>
      </p:grpSp>
      <p:sp>
        <p:nvSpPr>
          <p:cNvPr id="16" name="Rectangle: Rounded Corners 15">
            <a:extLst>
              <a:ext uri="{FF2B5EF4-FFF2-40B4-BE49-F238E27FC236}">
                <a16:creationId xmlns:a16="http://schemas.microsoft.com/office/drawing/2014/main" id="{0C2274D5-F721-470B-E3BA-2DAA6A271E49}"/>
              </a:ext>
              <a:ext uri="{C183D7F6-B498-43B3-948B-1728B52AA6E4}">
                <adec:decorative xmlns:adec="http://schemas.microsoft.com/office/drawing/2017/decorative" val="1"/>
              </a:ext>
            </a:extLst>
          </p:cNvPr>
          <p:cNvSpPr/>
          <p:nvPr/>
        </p:nvSpPr>
        <p:spPr>
          <a:xfrm>
            <a:off x="769159" y="4878994"/>
            <a:ext cx="11217259" cy="1579015"/>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CEADE0E7-E703-E8F2-FB17-3856CE2884D3}"/>
              </a:ext>
            </a:extLst>
          </p:cNvPr>
          <p:cNvSpPr txBox="1"/>
          <p:nvPr/>
        </p:nvSpPr>
        <p:spPr>
          <a:xfrm>
            <a:off x="5944392" y="1278598"/>
            <a:ext cx="5917777" cy="1661993"/>
          </a:xfrm>
          <a:prstGeom prst="rect">
            <a:avLst/>
          </a:prstGeom>
          <a:noFill/>
        </p:spPr>
        <p:txBody>
          <a:bodyPr wrap="square" lIns="91440" tIns="45720" rIns="91440" bIns="45720" rtlCol="0" anchor="t">
            <a:spAutoFit/>
          </a:bodyPr>
          <a:lstStyle/>
          <a:p>
            <a:r>
              <a:rPr lang="en-US" sz="1600"/>
              <a:t>Needs: </a:t>
            </a:r>
          </a:p>
          <a:p>
            <a:pPr marL="285750" indent="-285750">
              <a:buFont typeface="Arial" panose="020B0604020202020204" pitchFamily="34" charset="0"/>
              <a:buChar char="•"/>
            </a:pPr>
            <a:r>
              <a:rPr lang="en-CA" sz="1400"/>
              <a:t>Develop data cleaning and transformation tools that handle inconsistencies across different data formats and sources</a:t>
            </a:r>
            <a:r>
              <a:rPr lang="en-US" sz="1400"/>
              <a:t> </a:t>
            </a:r>
            <a:endParaRPr lang="en-US" sz="1400">
              <a:ea typeface="Tahoma"/>
              <a:cs typeface="Tahoma"/>
            </a:endParaRPr>
          </a:p>
          <a:p>
            <a:pPr marL="285750" indent="-285750">
              <a:buFont typeface="Arial" panose="020B0604020202020204" pitchFamily="34" charset="0"/>
              <a:buChar char="•"/>
            </a:pPr>
            <a:r>
              <a:rPr lang="en-CA" sz="1400"/>
              <a:t>Leverage scalable computing resources that can quickly process large datasets</a:t>
            </a:r>
            <a:endParaRPr lang="en-CA" sz="1400">
              <a:ea typeface="Tahoma"/>
              <a:cs typeface="Tahoma"/>
            </a:endParaRPr>
          </a:p>
          <a:p>
            <a:pPr marL="285750" indent="-285750">
              <a:buFont typeface="Arial" panose="020B0604020202020204" pitchFamily="34" charset="0"/>
              <a:buChar char="•"/>
            </a:pPr>
            <a:r>
              <a:rPr lang="en-CA" sz="1400"/>
              <a:t>Tools for rapid iteration of models.</a:t>
            </a:r>
            <a:endParaRPr lang="en-CA" sz="1400">
              <a:ea typeface="Tahoma"/>
              <a:cs typeface="Tahoma"/>
            </a:endParaRPr>
          </a:p>
          <a:p>
            <a:pPr marL="285750" indent="-285750">
              <a:buFont typeface="Arial" panose="020B0604020202020204" pitchFamily="34" charset="0"/>
              <a:buChar char="•"/>
            </a:pPr>
            <a:endParaRPr lang="en-CA" sz="1600"/>
          </a:p>
        </p:txBody>
      </p:sp>
      <p:sp>
        <p:nvSpPr>
          <p:cNvPr id="18" name="TextBox 17">
            <a:extLst>
              <a:ext uri="{FF2B5EF4-FFF2-40B4-BE49-F238E27FC236}">
                <a16:creationId xmlns:a16="http://schemas.microsoft.com/office/drawing/2014/main" id="{3EBDF8D6-895B-7AB9-6205-189BD0E102A0}"/>
              </a:ext>
            </a:extLst>
          </p:cNvPr>
          <p:cNvSpPr txBox="1"/>
          <p:nvPr/>
        </p:nvSpPr>
        <p:spPr>
          <a:xfrm>
            <a:off x="1571889" y="1278598"/>
            <a:ext cx="4298731" cy="1415772"/>
          </a:xfrm>
          <a:prstGeom prst="rect">
            <a:avLst/>
          </a:prstGeom>
          <a:noFill/>
        </p:spPr>
        <p:txBody>
          <a:bodyPr wrap="square" lIns="91440" tIns="45720" rIns="91440" bIns="45720" rtlCol="0" anchor="t">
            <a:spAutoFit/>
          </a:bodyPr>
          <a:lstStyle/>
          <a:p>
            <a:r>
              <a:rPr lang="en-CA" sz="1600"/>
              <a:t>Description:</a:t>
            </a:r>
          </a:p>
          <a:p>
            <a:pPr marL="285750" indent="-285750">
              <a:buFont typeface="Arial" panose="020B0604020202020204" pitchFamily="34" charset="0"/>
              <a:buChar char="•"/>
            </a:pPr>
            <a:r>
              <a:rPr lang="en-CA" sz="1400"/>
              <a:t>Develop AI models for classification and other purposes and perform advanced analytics</a:t>
            </a:r>
            <a:endParaRPr lang="en-CA" sz="1400">
              <a:ea typeface="Tahoma"/>
              <a:cs typeface="Tahoma"/>
            </a:endParaRPr>
          </a:p>
          <a:p>
            <a:pPr marL="285750" indent="-285750">
              <a:buFont typeface="Arial" panose="020B0604020202020204" pitchFamily="34" charset="0"/>
              <a:buChar char="•"/>
            </a:pPr>
            <a:r>
              <a:rPr lang="en-CA" sz="1400"/>
              <a:t>Develop methodologic algorithms and statistical models</a:t>
            </a:r>
            <a:endParaRPr lang="en-CA" sz="1400">
              <a:ea typeface="Tahoma"/>
              <a:cs typeface="Tahoma"/>
            </a:endParaRPr>
          </a:p>
          <a:p>
            <a:pPr marL="285750" indent="-285750">
              <a:buFont typeface="Arial" panose="020B0604020202020204" pitchFamily="34" charset="0"/>
              <a:buChar char="•"/>
            </a:pPr>
            <a:r>
              <a:rPr lang="en-CA" sz="1400"/>
              <a:t>High Code use cases, Machine Learning</a:t>
            </a:r>
            <a:endParaRPr lang="en-CA" sz="1400">
              <a:ea typeface="Tahoma"/>
              <a:cs typeface="Tahoma"/>
            </a:endParaRPr>
          </a:p>
        </p:txBody>
      </p:sp>
      <p:sp>
        <p:nvSpPr>
          <p:cNvPr id="19" name="TextBox 18">
            <a:extLst>
              <a:ext uri="{FF2B5EF4-FFF2-40B4-BE49-F238E27FC236}">
                <a16:creationId xmlns:a16="http://schemas.microsoft.com/office/drawing/2014/main" id="{8AC9D27A-2E9B-7E30-9BE5-11BEE131C792}"/>
              </a:ext>
            </a:extLst>
          </p:cNvPr>
          <p:cNvSpPr txBox="1"/>
          <p:nvPr/>
        </p:nvSpPr>
        <p:spPr>
          <a:xfrm>
            <a:off x="1511150" y="2922306"/>
            <a:ext cx="4584850" cy="1631216"/>
          </a:xfrm>
          <a:prstGeom prst="rect">
            <a:avLst/>
          </a:prstGeom>
          <a:noFill/>
        </p:spPr>
        <p:txBody>
          <a:bodyPr wrap="square" lIns="91440" tIns="45720" rIns="91440" bIns="45720" rtlCol="0" anchor="t">
            <a:spAutoFit/>
          </a:bodyPr>
          <a:lstStyle/>
          <a:p>
            <a:r>
              <a:rPr lang="en-CA" sz="1600"/>
              <a:t>Description:</a:t>
            </a:r>
          </a:p>
          <a:p>
            <a:pPr marL="285750" indent="-285750">
              <a:buFont typeface="Arial" panose="020B0604020202020204" pitchFamily="34" charset="0"/>
              <a:buChar char="•"/>
            </a:pPr>
            <a:r>
              <a:rPr lang="en-CA" sz="1400"/>
              <a:t>Build and deploy data analytics solutions for oneself or others, following the </a:t>
            </a:r>
            <a:r>
              <a:rPr lang="en-CA" sz="1400">
                <a:hlinkClick r:id="rId6"/>
              </a:rPr>
              <a:t>Standard on Managing Data Analytics Solutions</a:t>
            </a:r>
            <a:endParaRPr lang="en-CA" sz="1400">
              <a:ea typeface="Tahoma"/>
              <a:cs typeface="Tahoma"/>
            </a:endParaRPr>
          </a:p>
          <a:p>
            <a:pPr marL="285750" indent="-285750">
              <a:buFont typeface="Arial" panose="020B0604020202020204" pitchFamily="34" charset="0"/>
              <a:buChar char="•"/>
            </a:pPr>
            <a:r>
              <a:rPr lang="en-CA" sz="1400"/>
              <a:t>Develop code, libraries, applications, etc. related to processing, modeling, visualization and analysis in statistical and administrative programs</a:t>
            </a:r>
            <a:endParaRPr lang="en-CA" sz="1400">
              <a:ea typeface="Tahoma"/>
              <a:cs typeface="Tahoma"/>
            </a:endParaRPr>
          </a:p>
        </p:txBody>
      </p:sp>
      <p:sp>
        <p:nvSpPr>
          <p:cNvPr id="20" name="TextBox 19">
            <a:extLst>
              <a:ext uri="{FF2B5EF4-FFF2-40B4-BE49-F238E27FC236}">
                <a16:creationId xmlns:a16="http://schemas.microsoft.com/office/drawing/2014/main" id="{6147B7BC-29D3-A257-36EC-DE12134F0E07}"/>
              </a:ext>
            </a:extLst>
          </p:cNvPr>
          <p:cNvSpPr txBox="1"/>
          <p:nvPr/>
        </p:nvSpPr>
        <p:spPr>
          <a:xfrm>
            <a:off x="5944392" y="2925509"/>
            <a:ext cx="5917777" cy="1661993"/>
          </a:xfrm>
          <a:prstGeom prst="rect">
            <a:avLst/>
          </a:prstGeom>
          <a:noFill/>
        </p:spPr>
        <p:txBody>
          <a:bodyPr wrap="square" lIns="91440" tIns="45720" rIns="91440" bIns="45720" rtlCol="0" anchor="t">
            <a:spAutoFit/>
          </a:bodyPr>
          <a:lstStyle/>
          <a:p>
            <a:r>
              <a:rPr lang="en-US" sz="1600"/>
              <a:t>Needs: </a:t>
            </a:r>
          </a:p>
          <a:p>
            <a:pPr marL="285750" indent="-285750">
              <a:buFont typeface="Arial" panose="020B0604020202020204" pitchFamily="34" charset="0"/>
              <a:buChar char="•"/>
            </a:pPr>
            <a:r>
              <a:rPr lang="en-CA" sz="1400"/>
              <a:t>A low-code/no-code platform with intuitive interfaces for data manipulation, orchestration and visualization.</a:t>
            </a:r>
            <a:endParaRPr lang="en-CA" sz="1400">
              <a:ea typeface="Calibri"/>
              <a:cs typeface="Calibri"/>
            </a:endParaRPr>
          </a:p>
          <a:p>
            <a:pPr marL="285750" indent="-285750">
              <a:buFont typeface="Arial" panose="020B0604020202020204" pitchFamily="34" charset="0"/>
              <a:buChar char="•"/>
            </a:pPr>
            <a:r>
              <a:rPr lang="en-CA" sz="1400"/>
              <a:t>High Code - Modern R and Python development tools like RStudio and VS Code that allows debugging, unit testing, etc. to improve code quality and productivity</a:t>
            </a:r>
            <a:endParaRPr lang="en-CA" sz="1400">
              <a:ea typeface="Calibri"/>
              <a:cs typeface="Calibri"/>
            </a:endParaRPr>
          </a:p>
          <a:p>
            <a:pPr marL="285750" indent="-285750">
              <a:buFont typeface="Arial" panose="020B0604020202020204" pitchFamily="34" charset="0"/>
              <a:buChar char="•"/>
            </a:pPr>
            <a:endParaRPr lang="en-CA" sz="1600"/>
          </a:p>
        </p:txBody>
      </p:sp>
      <p:sp>
        <p:nvSpPr>
          <p:cNvPr id="21" name="TextBox 20">
            <a:extLst>
              <a:ext uri="{FF2B5EF4-FFF2-40B4-BE49-F238E27FC236}">
                <a16:creationId xmlns:a16="http://schemas.microsoft.com/office/drawing/2014/main" id="{471F64AE-24F6-A351-DA13-B53213445B56}"/>
              </a:ext>
            </a:extLst>
          </p:cNvPr>
          <p:cNvSpPr txBox="1"/>
          <p:nvPr/>
        </p:nvSpPr>
        <p:spPr>
          <a:xfrm>
            <a:off x="1571889" y="4864913"/>
            <a:ext cx="4298731" cy="1415772"/>
          </a:xfrm>
          <a:prstGeom prst="rect">
            <a:avLst/>
          </a:prstGeom>
          <a:noFill/>
        </p:spPr>
        <p:txBody>
          <a:bodyPr wrap="square" lIns="91440" tIns="45720" rIns="91440" bIns="45720" rtlCol="0" anchor="t">
            <a:spAutoFit/>
          </a:bodyPr>
          <a:lstStyle/>
          <a:p>
            <a:r>
              <a:rPr lang="en-CA" sz="1600"/>
              <a:t>Description:</a:t>
            </a:r>
          </a:p>
          <a:p>
            <a:pPr marL="285750" indent="-285750">
              <a:buFont typeface="Arial" panose="020B0604020202020204" pitchFamily="34" charset="0"/>
              <a:buChar char="•"/>
            </a:pPr>
            <a:r>
              <a:rPr lang="en-CA" sz="1400"/>
              <a:t>Integrate data from all sources and generate accurate, timely reports, to provide reliable insights that guide strategic decisions</a:t>
            </a:r>
            <a:endParaRPr lang="en-CA" sz="1400">
              <a:ea typeface="Tahoma"/>
              <a:cs typeface="Tahoma"/>
            </a:endParaRPr>
          </a:p>
          <a:p>
            <a:pPr marL="285750" indent="-285750">
              <a:buFont typeface="Arial" panose="020B0604020202020204" pitchFamily="34" charset="0"/>
              <a:buChar char="•"/>
            </a:pPr>
            <a:r>
              <a:rPr lang="en-CA" sz="1400"/>
              <a:t>Run and support applications and pipeline built by others</a:t>
            </a:r>
            <a:endParaRPr lang="en-CA" sz="1400">
              <a:ea typeface="Tahoma"/>
              <a:cs typeface="Tahoma"/>
            </a:endParaRPr>
          </a:p>
        </p:txBody>
      </p:sp>
      <p:sp>
        <p:nvSpPr>
          <p:cNvPr id="22" name="TextBox 21">
            <a:extLst>
              <a:ext uri="{FF2B5EF4-FFF2-40B4-BE49-F238E27FC236}">
                <a16:creationId xmlns:a16="http://schemas.microsoft.com/office/drawing/2014/main" id="{5A45F15F-B2EC-F9B5-B85A-0F1E3A7E4557}"/>
              </a:ext>
            </a:extLst>
          </p:cNvPr>
          <p:cNvSpPr txBox="1"/>
          <p:nvPr/>
        </p:nvSpPr>
        <p:spPr>
          <a:xfrm>
            <a:off x="5974884" y="4868116"/>
            <a:ext cx="6085305" cy="1661993"/>
          </a:xfrm>
          <a:prstGeom prst="rect">
            <a:avLst/>
          </a:prstGeom>
          <a:noFill/>
        </p:spPr>
        <p:txBody>
          <a:bodyPr wrap="square" lIns="91440" tIns="45720" rIns="91440" bIns="45720" rtlCol="0" anchor="t">
            <a:spAutoFit/>
          </a:bodyPr>
          <a:lstStyle/>
          <a:p>
            <a:r>
              <a:rPr lang="en-US" sz="1600"/>
              <a:t>Needs: </a:t>
            </a:r>
          </a:p>
          <a:p>
            <a:pPr marL="285750" indent="-285750">
              <a:buFont typeface="Arial" panose="020B0604020202020204" pitchFamily="34" charset="0"/>
              <a:buChar char="•"/>
            </a:pPr>
            <a:r>
              <a:rPr lang="en-CA" sz="1400"/>
              <a:t>Data integration tools that can connect to both legacy and modern systems.</a:t>
            </a:r>
            <a:endParaRPr lang="en-CA" sz="1400">
              <a:ea typeface="Tahoma"/>
              <a:cs typeface="Tahoma"/>
            </a:endParaRPr>
          </a:p>
          <a:p>
            <a:pPr marL="285750" indent="-285750">
              <a:buFont typeface="Arial" panose="020B0604020202020204" pitchFamily="34" charset="0"/>
              <a:buChar char="•"/>
            </a:pPr>
            <a:r>
              <a:rPr lang="en-CA" sz="1400"/>
              <a:t>Create automated reporting pipelines that update data visualizations and dashboards in real-time.</a:t>
            </a:r>
            <a:endParaRPr lang="en-CA" sz="1400">
              <a:ea typeface="Tahoma"/>
              <a:cs typeface="Tahoma"/>
            </a:endParaRPr>
          </a:p>
          <a:p>
            <a:pPr marL="285750" indent="-285750">
              <a:buFont typeface="Arial" panose="020B0604020202020204" pitchFamily="34" charset="0"/>
              <a:buChar char="•"/>
            </a:pPr>
            <a:r>
              <a:rPr lang="en-CA" sz="1400"/>
              <a:t>Perform manual edits</a:t>
            </a:r>
            <a:endParaRPr lang="en-CA" sz="1400">
              <a:ea typeface="Tahoma"/>
              <a:cs typeface="Tahoma"/>
            </a:endParaRPr>
          </a:p>
          <a:p>
            <a:pPr marL="285750" indent="-285750">
              <a:buFont typeface="Arial" panose="020B0604020202020204" pitchFamily="34" charset="0"/>
              <a:buChar char="•"/>
            </a:pPr>
            <a:endParaRPr lang="en-CA" sz="1600"/>
          </a:p>
        </p:txBody>
      </p:sp>
      <p:grpSp>
        <p:nvGrpSpPr>
          <p:cNvPr id="23" name="Group 22">
            <a:extLst>
              <a:ext uri="{FF2B5EF4-FFF2-40B4-BE49-F238E27FC236}">
                <a16:creationId xmlns:a16="http://schemas.microsoft.com/office/drawing/2014/main" id="{C6CF8A05-1F41-512C-BED0-79A008E36EBD}"/>
              </a:ext>
              <a:ext uri="{C183D7F6-B498-43B3-948B-1728B52AA6E4}">
                <adec:decorative xmlns:adec="http://schemas.microsoft.com/office/drawing/2017/decorative" val="1"/>
              </a:ext>
            </a:extLst>
          </p:cNvPr>
          <p:cNvGrpSpPr/>
          <p:nvPr/>
        </p:nvGrpSpPr>
        <p:grpSpPr>
          <a:xfrm>
            <a:off x="74200" y="5005719"/>
            <a:ext cx="1419183" cy="1325563"/>
            <a:chOff x="63691" y="5095540"/>
            <a:chExt cx="1419183" cy="1325563"/>
          </a:xfrm>
        </p:grpSpPr>
        <p:grpSp>
          <p:nvGrpSpPr>
            <p:cNvPr id="24" name="Group 23">
              <a:extLst>
                <a:ext uri="{FF2B5EF4-FFF2-40B4-BE49-F238E27FC236}">
                  <a16:creationId xmlns:a16="http://schemas.microsoft.com/office/drawing/2014/main" id="{42CBFDCB-B45E-B21B-45F8-2562A2606D6B}"/>
                </a:ext>
              </a:extLst>
            </p:cNvPr>
            <p:cNvGrpSpPr/>
            <p:nvPr/>
          </p:nvGrpSpPr>
          <p:grpSpPr>
            <a:xfrm>
              <a:off x="63691" y="5095540"/>
              <a:ext cx="1419183" cy="1325563"/>
              <a:chOff x="4361316" y="4130982"/>
              <a:chExt cx="1419183" cy="1325563"/>
            </a:xfrm>
            <a:solidFill>
              <a:schemeClr val="bg1"/>
            </a:solidFill>
          </p:grpSpPr>
          <p:sp>
            <p:nvSpPr>
              <p:cNvPr id="26" name="Oval 25">
                <a:extLst>
                  <a:ext uri="{FF2B5EF4-FFF2-40B4-BE49-F238E27FC236}">
                    <a16:creationId xmlns:a16="http://schemas.microsoft.com/office/drawing/2014/main" id="{D7B42B7C-7FA2-7988-D588-3F993E179EB8}"/>
                  </a:ext>
                </a:extLst>
              </p:cNvPr>
              <p:cNvSpPr/>
              <p:nvPr/>
            </p:nvSpPr>
            <p:spPr>
              <a:xfrm>
                <a:off x="4390581" y="4130982"/>
                <a:ext cx="1389918" cy="1325563"/>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A297F9AE-6F51-9F46-0CB8-571F8253B012}"/>
                  </a:ext>
                </a:extLst>
              </p:cNvPr>
              <p:cNvSpPr txBox="1"/>
              <p:nvPr/>
            </p:nvSpPr>
            <p:spPr>
              <a:xfrm>
                <a:off x="4361316" y="4974273"/>
                <a:ext cx="1389918" cy="307777"/>
              </a:xfrm>
              <a:prstGeom prst="rect">
                <a:avLst/>
              </a:prstGeom>
              <a:noFill/>
              <a:ln>
                <a:noFill/>
              </a:ln>
            </p:spPr>
            <p:txBody>
              <a:bodyPr wrap="square" rtlCol="0">
                <a:spAutoFit/>
              </a:bodyPr>
              <a:lstStyle/>
              <a:p>
                <a:pPr algn="ctr"/>
                <a:r>
                  <a:rPr lang="en-US" sz="1400"/>
                  <a:t>Analysis</a:t>
                </a:r>
                <a:endParaRPr lang="en-CA" sz="1400"/>
              </a:p>
            </p:txBody>
          </p:sp>
        </p:grpSp>
        <p:pic>
          <p:nvPicPr>
            <p:cNvPr id="25" name="Graphic 38" descr="Head with gears outline">
              <a:extLst>
                <a:ext uri="{FF2B5EF4-FFF2-40B4-BE49-F238E27FC236}">
                  <a16:creationId xmlns:a16="http://schemas.microsoft.com/office/drawing/2014/main" id="{D933ECBF-2646-A461-4CB4-99E6E8B479D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8927" y="5302608"/>
              <a:ext cx="657975" cy="657975"/>
            </a:xfrm>
            <a:prstGeom prst="rect">
              <a:avLst/>
            </a:prstGeom>
          </p:spPr>
        </p:pic>
      </p:grpSp>
      <p:sp>
        <p:nvSpPr>
          <p:cNvPr id="28" name="Title 1">
            <a:extLst>
              <a:ext uri="{FF2B5EF4-FFF2-40B4-BE49-F238E27FC236}">
                <a16:creationId xmlns:a16="http://schemas.microsoft.com/office/drawing/2014/main" id="{7C807D3E-E7FB-9791-D29D-54B097B61B6E}"/>
              </a:ext>
            </a:extLst>
          </p:cNvPr>
          <p:cNvSpPr>
            <a:spLocks noGrp="1"/>
          </p:cNvSpPr>
          <p:nvPr>
            <p:ph type="title"/>
          </p:nvPr>
        </p:nvSpPr>
        <p:spPr>
          <a:xfrm>
            <a:off x="16570" y="248443"/>
            <a:ext cx="12043619"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Processing and Analysis</a:t>
            </a:r>
            <a:br>
              <a:rPr lang="en-US" b="1">
                <a:effectLst>
                  <a:outerShdw blurRad="38100" dist="38100" dir="2700000" algn="tl">
                    <a:srgbClr val="000000">
                      <a:alpha val="43137"/>
                    </a:srgbClr>
                  </a:outerShdw>
                </a:effectLst>
                <a:latin typeface="Century Gothic"/>
              </a:rPr>
            </a:br>
            <a:r>
              <a:rPr lang="en-US" sz="4400" b="1">
                <a:ea typeface="Calibri" panose="020F0502020204030204" pitchFamily="34" charset="0"/>
                <a:cs typeface="Calibri" panose="020F0502020204030204" pitchFamily="34" charset="0"/>
              </a:rPr>
              <a:t>Activity Groups – Non-IT</a:t>
            </a:r>
            <a:endParaRPr lang="en-CA" b="1"/>
          </a:p>
        </p:txBody>
      </p:sp>
    </p:spTree>
    <p:extLst>
      <p:ext uri="{BB962C8B-B14F-4D97-AF65-F5344CB8AC3E}">
        <p14:creationId xmlns:p14="http://schemas.microsoft.com/office/powerpoint/2010/main" val="1325676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14898-112F-1399-3F15-EF41D6278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8AD04-D77F-F7F7-4030-D39344548A34}"/>
              </a:ext>
            </a:extLst>
          </p:cNvPr>
          <p:cNvSpPr>
            <a:spLocks noGrp="1"/>
          </p:cNvSpPr>
          <p:nvPr>
            <p:ph type="title"/>
          </p:nvPr>
        </p:nvSpPr>
        <p:spPr>
          <a:xfrm>
            <a:off x="39524" y="194012"/>
            <a:ext cx="12043619"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Processing and Analysis</a:t>
            </a:r>
            <a:br>
              <a:rPr lang="en-US" b="1">
                <a:effectLst>
                  <a:outerShdw blurRad="38100" dist="38100" dir="2700000" algn="tl">
                    <a:srgbClr val="000000">
                      <a:alpha val="43137"/>
                    </a:srgbClr>
                  </a:outerShdw>
                </a:effectLst>
                <a:latin typeface="Century Gothic"/>
              </a:rPr>
            </a:br>
            <a:r>
              <a:rPr lang="en-US" sz="4400" b="1">
                <a:ea typeface="Calibri" panose="020F0502020204030204" pitchFamily="34" charset="0"/>
                <a:cs typeface="Calibri" panose="020F0502020204030204" pitchFamily="34" charset="0"/>
              </a:rPr>
              <a:t>Activity Groups – Corporate vs. Business Development</a:t>
            </a:r>
            <a:endParaRPr lang="en-CA" b="1"/>
          </a:p>
        </p:txBody>
      </p:sp>
      <p:sp>
        <p:nvSpPr>
          <p:cNvPr id="4" name="Slide Number Placeholder 3">
            <a:extLst>
              <a:ext uri="{FF2B5EF4-FFF2-40B4-BE49-F238E27FC236}">
                <a16:creationId xmlns:a16="http://schemas.microsoft.com/office/drawing/2014/main" id="{A6675263-33AC-1AFD-56CA-C615A5976E71}"/>
              </a:ext>
            </a:extLst>
          </p:cNvPr>
          <p:cNvSpPr>
            <a:spLocks noGrp="1"/>
          </p:cNvSpPr>
          <p:nvPr>
            <p:ph type="sldNum" sz="quarter" idx="12"/>
          </p:nvPr>
        </p:nvSpPr>
        <p:spPr/>
        <p:txBody>
          <a:bodyPr/>
          <a:lstStyle/>
          <a:p>
            <a:fld id="{49DA9349-B3BD-4AC8-BE71-63081D1E6344}" type="slidenum">
              <a:rPr lang="en-CA" smtClean="0"/>
              <a:t>36</a:t>
            </a:fld>
            <a:endParaRPr lang="en-CA"/>
          </a:p>
        </p:txBody>
      </p:sp>
      <p:sp>
        <p:nvSpPr>
          <p:cNvPr id="3" name="Rectangle: Rounded Corners 2">
            <a:extLst>
              <a:ext uri="{FF2B5EF4-FFF2-40B4-BE49-F238E27FC236}">
                <a16:creationId xmlns:a16="http://schemas.microsoft.com/office/drawing/2014/main" id="{E1106E5E-31A6-5C99-66D2-D57780F429F7}"/>
              </a:ext>
              <a:ext uri="{C183D7F6-B498-43B3-948B-1728B52AA6E4}">
                <adec:decorative xmlns:adec="http://schemas.microsoft.com/office/drawing/2017/decorative" val="1"/>
              </a:ext>
            </a:extLst>
          </p:cNvPr>
          <p:cNvSpPr/>
          <p:nvPr/>
        </p:nvSpPr>
        <p:spPr>
          <a:xfrm>
            <a:off x="358556" y="1118478"/>
            <a:ext cx="5172184" cy="5630439"/>
          </a:xfrm>
          <a:prstGeom prst="roundRect">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CA"/>
          </a:p>
        </p:txBody>
      </p:sp>
      <p:grpSp>
        <p:nvGrpSpPr>
          <p:cNvPr id="7" name="Group 6">
            <a:extLst>
              <a:ext uri="{FF2B5EF4-FFF2-40B4-BE49-F238E27FC236}">
                <a16:creationId xmlns:a16="http://schemas.microsoft.com/office/drawing/2014/main" id="{702BC493-6A51-FDE9-DCFE-7DA198B02E98}"/>
              </a:ext>
              <a:ext uri="{C183D7F6-B498-43B3-948B-1728B52AA6E4}">
                <adec:decorative xmlns:adec="http://schemas.microsoft.com/office/drawing/2017/decorative" val="1"/>
              </a:ext>
            </a:extLst>
          </p:cNvPr>
          <p:cNvGrpSpPr/>
          <p:nvPr/>
        </p:nvGrpSpPr>
        <p:grpSpPr>
          <a:xfrm>
            <a:off x="39524" y="1025723"/>
            <a:ext cx="983375" cy="939597"/>
            <a:chOff x="1691409" y="1806706"/>
            <a:chExt cx="1448447" cy="1325563"/>
          </a:xfrm>
        </p:grpSpPr>
        <p:grpSp>
          <p:nvGrpSpPr>
            <p:cNvPr id="8" name="Group 7">
              <a:extLst>
                <a:ext uri="{FF2B5EF4-FFF2-40B4-BE49-F238E27FC236}">
                  <a16:creationId xmlns:a16="http://schemas.microsoft.com/office/drawing/2014/main" id="{A8F8B0A6-551A-C83D-8F56-5438B84A51C3}"/>
                </a:ext>
              </a:extLst>
            </p:cNvPr>
            <p:cNvGrpSpPr/>
            <p:nvPr/>
          </p:nvGrpSpPr>
          <p:grpSpPr>
            <a:xfrm>
              <a:off x="1691409" y="1806706"/>
              <a:ext cx="1448447" cy="1325563"/>
              <a:chOff x="4390581" y="4130982"/>
              <a:chExt cx="1448447" cy="1325563"/>
            </a:xfrm>
          </p:grpSpPr>
          <p:sp>
            <p:nvSpPr>
              <p:cNvPr id="10" name="Oval 9">
                <a:extLst>
                  <a:ext uri="{FF2B5EF4-FFF2-40B4-BE49-F238E27FC236}">
                    <a16:creationId xmlns:a16="http://schemas.microsoft.com/office/drawing/2014/main" id="{AAEE32D4-C811-02ED-F542-1AFF4B574901}"/>
                  </a:ext>
                </a:extLst>
              </p:cNvPr>
              <p:cNvSpPr/>
              <p:nvPr/>
            </p:nvSpPr>
            <p:spPr>
              <a:xfrm>
                <a:off x="4390581" y="4130982"/>
                <a:ext cx="1389918" cy="1325563"/>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en-CA"/>
              </a:p>
            </p:txBody>
          </p:sp>
          <p:sp>
            <p:nvSpPr>
              <p:cNvPr id="11" name="TextBox 10">
                <a:extLst>
                  <a:ext uri="{FF2B5EF4-FFF2-40B4-BE49-F238E27FC236}">
                    <a16:creationId xmlns:a16="http://schemas.microsoft.com/office/drawing/2014/main" id="{8317B972-8223-E66D-DEB4-DB3137508B0B}"/>
                  </a:ext>
                </a:extLst>
              </p:cNvPr>
              <p:cNvSpPr txBox="1"/>
              <p:nvPr/>
            </p:nvSpPr>
            <p:spPr>
              <a:xfrm>
                <a:off x="4449110" y="4793763"/>
                <a:ext cx="1389918" cy="521046"/>
              </a:xfrm>
              <a:prstGeom prst="rect">
                <a:avLst/>
              </a:prstGeom>
              <a:noFill/>
            </p:spPr>
            <p:txBody>
              <a:bodyPr wrap="square" rtlCol="0">
                <a:spAutoFit/>
              </a:bodyPr>
              <a:lstStyle/>
              <a:p>
                <a:pPr algn="ctr"/>
                <a:r>
                  <a:rPr lang="en-US" sz="900"/>
                  <a:t>Corporate Development</a:t>
                </a:r>
                <a:endParaRPr lang="en-CA" sz="900"/>
              </a:p>
            </p:txBody>
          </p:sp>
        </p:grpSp>
        <p:pic>
          <p:nvPicPr>
            <p:cNvPr id="9" name="Graphic 8" descr="Programmer male outline">
              <a:extLst>
                <a:ext uri="{FF2B5EF4-FFF2-40B4-BE49-F238E27FC236}">
                  <a16:creationId xmlns:a16="http://schemas.microsoft.com/office/drawing/2014/main" id="{F21594E2-6424-BB8D-330E-BB8D6547EF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78228" y="1813985"/>
              <a:ext cx="674811" cy="674811"/>
            </a:xfrm>
            <a:prstGeom prst="rect">
              <a:avLst/>
            </a:prstGeom>
          </p:spPr>
        </p:pic>
      </p:grpSp>
      <p:sp>
        <p:nvSpPr>
          <p:cNvPr id="12" name="TextBox 11">
            <a:extLst>
              <a:ext uri="{FF2B5EF4-FFF2-40B4-BE49-F238E27FC236}">
                <a16:creationId xmlns:a16="http://schemas.microsoft.com/office/drawing/2014/main" id="{C7225347-49E6-154E-8764-FD5DE6FFAEEF}"/>
              </a:ext>
            </a:extLst>
          </p:cNvPr>
          <p:cNvSpPr txBox="1"/>
          <p:nvPr/>
        </p:nvSpPr>
        <p:spPr>
          <a:xfrm>
            <a:off x="1003434" y="1155082"/>
            <a:ext cx="4528621" cy="549381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CA" sz="1600"/>
              <a:t>Mostly done by IT</a:t>
            </a:r>
            <a:endParaRPr lang="en-US" sz="1600"/>
          </a:p>
          <a:p>
            <a:pPr marL="285750" indent="-285750">
              <a:buFont typeface="Arial" panose="020B0604020202020204" pitchFamily="34" charset="0"/>
              <a:buChar char="•"/>
            </a:pPr>
            <a:endParaRPr lang="en-US" sz="800"/>
          </a:p>
          <a:p>
            <a:pPr marL="285750" indent="-285750">
              <a:buFont typeface="Arial" panose="020B0604020202020204" pitchFamily="34" charset="0"/>
              <a:buChar char="•"/>
            </a:pPr>
            <a:r>
              <a:rPr lang="en-US" sz="1600"/>
              <a:t>Develop corporate solutions and enterprise grade platforms that are monitored, maintained, and supported through SLAs (Collection, Dissemination, the Zone, Fabric, Enterprise Dev, etc.)</a:t>
            </a:r>
            <a:endParaRPr lang="en-US" sz="1600">
              <a:ea typeface="Tahoma"/>
              <a:cs typeface="Tahoma"/>
            </a:endParaRPr>
          </a:p>
          <a:p>
            <a:endParaRPr lang="en-US" sz="800">
              <a:ea typeface="Calibri"/>
              <a:cs typeface="Calibri"/>
            </a:endParaRPr>
          </a:p>
          <a:p>
            <a:pPr marL="285750" indent="-285750">
              <a:buFont typeface="Arial" panose="020B0604020202020204" pitchFamily="34" charset="0"/>
              <a:buChar char="•"/>
            </a:pPr>
            <a:r>
              <a:rPr lang="en-US" sz="1600"/>
              <a:t>Create enabling infrastructure (networking, AVDs, security monitoring, etc.)</a:t>
            </a:r>
            <a:endParaRPr lang="en-US" sz="1600">
              <a:ea typeface="Tahoma"/>
              <a:cs typeface="Tahoma"/>
            </a:endParaRPr>
          </a:p>
          <a:p>
            <a:endParaRPr lang="en-US" sz="1100">
              <a:ea typeface="Calibri" panose="020F0502020204030204"/>
              <a:cs typeface="Calibri" panose="020F0502020204030204"/>
            </a:endParaRPr>
          </a:p>
          <a:p>
            <a:pPr marL="285750" indent="-285750">
              <a:buFont typeface="Arial" panose="020B0604020202020204" pitchFamily="34" charset="0"/>
              <a:buChar char="•"/>
            </a:pPr>
            <a:r>
              <a:rPr lang="en-US" sz="1600"/>
              <a:t>Create web applications or highly complex systems / data analytics solutions using cloud technologies and cloud native platforms</a:t>
            </a:r>
            <a:endParaRPr lang="en-US" sz="1600">
              <a:ea typeface="Tahoma"/>
              <a:cs typeface="Tahoma"/>
            </a:endParaRPr>
          </a:p>
          <a:p>
            <a:endParaRPr lang="en-US" sz="1100">
              <a:ea typeface="Calibri" panose="020F0502020204030204"/>
              <a:cs typeface="Calibri" panose="020F0502020204030204"/>
            </a:endParaRPr>
          </a:p>
          <a:p>
            <a:pPr marL="285750" indent="-285750">
              <a:buFont typeface="Arial" panose="020B0604020202020204" pitchFamily="34" charset="0"/>
              <a:buChar char="•"/>
            </a:pPr>
            <a:r>
              <a:rPr lang="en-US" sz="1600"/>
              <a:t>Create applications or systems that impact multiple business areas, including mission critical programs</a:t>
            </a:r>
            <a:endParaRPr lang="en-US" sz="1600">
              <a:ea typeface="Tahoma"/>
              <a:cs typeface="Tahoma"/>
            </a:endParaRPr>
          </a:p>
          <a:p>
            <a:pPr marL="285750" indent="-285750">
              <a:buFont typeface="Arial" panose="020B0604020202020204" pitchFamily="34" charset="0"/>
              <a:buChar char="•"/>
            </a:pPr>
            <a:endParaRPr lang="en-CA" sz="1100">
              <a:ea typeface="Calibri"/>
              <a:cs typeface="Calibri"/>
            </a:endParaRPr>
          </a:p>
          <a:p>
            <a:pPr marL="285750" indent="-285750">
              <a:buFont typeface="Arial" panose="020B0604020202020204" pitchFamily="34" charset="0"/>
              <a:buChar char="•"/>
            </a:pPr>
            <a:r>
              <a:rPr lang="en-CA" sz="1600"/>
              <a:t>Follow corporate guidelines, policies, directives and SDLC practices</a:t>
            </a:r>
            <a:endParaRPr lang="en-CA" sz="1600">
              <a:ea typeface="Tahoma"/>
              <a:cs typeface="Tahoma"/>
            </a:endParaRPr>
          </a:p>
          <a:p>
            <a:endParaRPr lang="en-CA" sz="1100">
              <a:ea typeface="Calibri" panose="020F0502020204030204"/>
              <a:cs typeface="Calibri" panose="020F0502020204030204"/>
            </a:endParaRPr>
          </a:p>
          <a:p>
            <a:pPr marL="285750" indent="-285750">
              <a:buFont typeface="Arial" panose="020B0604020202020204" pitchFamily="34" charset="0"/>
              <a:buChar char="•"/>
            </a:pPr>
            <a:r>
              <a:rPr lang="en-CA" sz="1600"/>
              <a:t>Follow SA&amp;A process</a:t>
            </a:r>
            <a:endParaRPr lang="en-CA" sz="1600">
              <a:ea typeface="Tahoma"/>
              <a:cs typeface="Tahoma"/>
            </a:endParaRPr>
          </a:p>
          <a:p>
            <a:endParaRPr lang="en-CA" sz="1050">
              <a:ea typeface="Calibri" panose="020F0502020204030204"/>
              <a:cs typeface="Calibri" panose="020F0502020204030204"/>
            </a:endParaRPr>
          </a:p>
        </p:txBody>
      </p:sp>
      <p:cxnSp>
        <p:nvCxnSpPr>
          <p:cNvPr id="13" name="Straight Connector 12">
            <a:extLst>
              <a:ext uri="{FF2B5EF4-FFF2-40B4-BE49-F238E27FC236}">
                <a16:creationId xmlns:a16="http://schemas.microsoft.com/office/drawing/2014/main" id="{7D0396CF-F972-5AEF-97E1-11F499FA1A03}"/>
              </a:ext>
              <a:ext uri="{C183D7F6-B498-43B3-948B-1728B52AA6E4}">
                <adec:decorative xmlns:adec="http://schemas.microsoft.com/office/drawing/2017/decorative" val="1"/>
              </a:ext>
            </a:extLst>
          </p:cNvPr>
          <p:cNvCxnSpPr>
            <a:cxnSpLocks/>
          </p:cNvCxnSpPr>
          <p:nvPr/>
        </p:nvCxnSpPr>
        <p:spPr>
          <a:xfrm>
            <a:off x="5847850" y="2334460"/>
            <a:ext cx="0" cy="3074310"/>
          </a:xfrm>
          <a:prstGeom prst="line">
            <a:avLst/>
          </a:prstGeom>
        </p:spPr>
        <p:style>
          <a:lnRef idx="1">
            <a:schemeClr val="dk1"/>
          </a:lnRef>
          <a:fillRef idx="0">
            <a:schemeClr val="dk1"/>
          </a:fillRef>
          <a:effectRef idx="0">
            <a:schemeClr val="dk1"/>
          </a:effectRef>
          <a:fontRef idx="minor">
            <a:schemeClr val="tx1"/>
          </a:fontRef>
        </p:style>
      </p:cxnSp>
      <p:sp>
        <p:nvSpPr>
          <p:cNvPr id="14" name="Rectangle: Rounded Corners 13">
            <a:extLst>
              <a:ext uri="{FF2B5EF4-FFF2-40B4-BE49-F238E27FC236}">
                <a16:creationId xmlns:a16="http://schemas.microsoft.com/office/drawing/2014/main" id="{71D3BAFD-774B-9F6A-95E6-03659415955C}"/>
              </a:ext>
              <a:ext uri="{C183D7F6-B498-43B3-948B-1728B52AA6E4}">
                <adec:decorative xmlns:adec="http://schemas.microsoft.com/office/drawing/2017/decorative" val="1"/>
              </a:ext>
            </a:extLst>
          </p:cNvPr>
          <p:cNvSpPr/>
          <p:nvPr/>
        </p:nvSpPr>
        <p:spPr>
          <a:xfrm>
            <a:off x="6318880" y="1116607"/>
            <a:ext cx="5411955" cy="5632311"/>
          </a:xfrm>
          <a:prstGeom prst="roundRect">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5" name="Group 14">
            <a:extLst>
              <a:ext uri="{FF2B5EF4-FFF2-40B4-BE49-F238E27FC236}">
                <a16:creationId xmlns:a16="http://schemas.microsoft.com/office/drawing/2014/main" id="{ABD498AF-A638-6C2E-35B0-79222CEE11E1}"/>
              </a:ext>
              <a:ext uri="{C183D7F6-B498-43B3-948B-1728B52AA6E4}">
                <adec:decorative xmlns:adec="http://schemas.microsoft.com/office/drawing/2017/decorative" val="1"/>
              </a:ext>
            </a:extLst>
          </p:cNvPr>
          <p:cNvGrpSpPr/>
          <p:nvPr/>
        </p:nvGrpSpPr>
        <p:grpSpPr>
          <a:xfrm>
            <a:off x="6096000" y="1025357"/>
            <a:ext cx="913714" cy="875691"/>
            <a:chOff x="2230894" y="3925126"/>
            <a:chExt cx="1448447" cy="1325563"/>
          </a:xfrm>
        </p:grpSpPr>
        <p:grpSp>
          <p:nvGrpSpPr>
            <p:cNvPr id="16" name="Group 15">
              <a:extLst>
                <a:ext uri="{FF2B5EF4-FFF2-40B4-BE49-F238E27FC236}">
                  <a16:creationId xmlns:a16="http://schemas.microsoft.com/office/drawing/2014/main" id="{07CFA53A-2AA1-AB44-49EE-F15584345577}"/>
                </a:ext>
              </a:extLst>
            </p:cNvPr>
            <p:cNvGrpSpPr/>
            <p:nvPr/>
          </p:nvGrpSpPr>
          <p:grpSpPr>
            <a:xfrm>
              <a:off x="2230894" y="3925126"/>
              <a:ext cx="1448447" cy="1325563"/>
              <a:chOff x="4390581" y="4130982"/>
              <a:chExt cx="1448447" cy="1325563"/>
            </a:xfrm>
          </p:grpSpPr>
          <p:sp>
            <p:nvSpPr>
              <p:cNvPr id="18" name="Oval 17">
                <a:extLst>
                  <a:ext uri="{FF2B5EF4-FFF2-40B4-BE49-F238E27FC236}">
                    <a16:creationId xmlns:a16="http://schemas.microsoft.com/office/drawing/2014/main" id="{FCBA08EB-E826-9897-4D09-0AB5530A1732}"/>
                  </a:ext>
                </a:extLst>
              </p:cNvPr>
              <p:cNvSpPr/>
              <p:nvPr/>
            </p:nvSpPr>
            <p:spPr>
              <a:xfrm>
                <a:off x="4390581" y="4130982"/>
                <a:ext cx="1389918" cy="1325563"/>
              </a:xfrm>
              <a:prstGeom prst="ellipse">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BB0DF07D-C312-0FB7-C734-EA85A90A2E91}"/>
                  </a:ext>
                </a:extLst>
              </p:cNvPr>
              <p:cNvSpPr txBox="1"/>
              <p:nvPr/>
            </p:nvSpPr>
            <p:spPr>
              <a:xfrm>
                <a:off x="4449109" y="4793763"/>
                <a:ext cx="1389919" cy="512481"/>
              </a:xfrm>
              <a:prstGeom prst="rect">
                <a:avLst/>
              </a:prstGeom>
              <a:noFill/>
            </p:spPr>
            <p:txBody>
              <a:bodyPr wrap="square" rtlCol="0">
                <a:spAutoFit/>
              </a:bodyPr>
              <a:lstStyle/>
              <a:p>
                <a:pPr algn="ctr"/>
                <a:r>
                  <a:rPr lang="en-US" sz="800"/>
                  <a:t>Business Development</a:t>
                </a:r>
                <a:endParaRPr lang="en-CA" sz="800"/>
              </a:p>
            </p:txBody>
          </p:sp>
        </p:grpSp>
        <p:pic>
          <p:nvPicPr>
            <p:cNvPr id="17" name="Graphic 16" descr="Artificial Intelligence outline">
              <a:extLst>
                <a:ext uri="{FF2B5EF4-FFF2-40B4-BE49-F238E27FC236}">
                  <a16:creationId xmlns:a16="http://schemas.microsoft.com/office/drawing/2014/main" id="{9F8AF9C7-02D1-D2CD-ECC4-3826300600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24080" y="4017458"/>
              <a:ext cx="662077" cy="662077"/>
            </a:xfrm>
            <a:prstGeom prst="rect">
              <a:avLst/>
            </a:prstGeom>
          </p:spPr>
        </p:pic>
      </p:grpSp>
      <p:sp>
        <p:nvSpPr>
          <p:cNvPr id="20" name="TextBox 19">
            <a:extLst>
              <a:ext uri="{FF2B5EF4-FFF2-40B4-BE49-F238E27FC236}">
                <a16:creationId xmlns:a16="http://schemas.microsoft.com/office/drawing/2014/main" id="{276880F0-0D6E-0E79-0E93-A89300222B35}"/>
              </a:ext>
            </a:extLst>
          </p:cNvPr>
          <p:cNvSpPr txBox="1"/>
          <p:nvPr/>
        </p:nvSpPr>
        <p:spPr>
          <a:xfrm>
            <a:off x="7015885" y="1137811"/>
            <a:ext cx="4714949" cy="563231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Develop data analytics solutions (business logic) within IT supported, security assessed, AI-enabled production platforms (the Zone, Fabric) while following </a:t>
            </a:r>
            <a:r>
              <a:rPr lang="en-CA" sz="1600"/>
              <a:t>the </a:t>
            </a:r>
            <a:r>
              <a:rPr lang="en-CA" sz="1600">
                <a:hlinkClick r:id="rId6"/>
              </a:rPr>
              <a:t>Standard on Managing Data Analytics Solutions</a:t>
            </a:r>
            <a:endParaRPr lang="en-US" sz="1600">
              <a:ea typeface="Tahoma"/>
              <a:cs typeface="Tahoma"/>
            </a:endParaRPr>
          </a:p>
          <a:p>
            <a:pPr marL="285750" indent="-285750">
              <a:buFont typeface="Arial" panose="020B0604020202020204" pitchFamily="34" charset="0"/>
              <a:buChar char="•"/>
            </a:pPr>
            <a:endParaRPr lang="en-US" sz="800">
              <a:ea typeface="Calibri"/>
              <a:cs typeface="Calibri"/>
            </a:endParaRPr>
          </a:p>
          <a:p>
            <a:pPr marL="285750" indent="-285750">
              <a:buFont typeface="Arial" panose="020B0604020202020204" pitchFamily="34" charset="0"/>
              <a:buChar char="•"/>
            </a:pPr>
            <a:r>
              <a:rPr lang="en-US" sz="1600"/>
              <a:t>Create data pipelines, R/Python scripts, modules and packages, visualizations and dashboards incl. use of AI methods</a:t>
            </a:r>
            <a:endParaRPr lang="en-US" sz="1600">
              <a:ea typeface="Tahoma"/>
              <a:cs typeface="Tahoma"/>
            </a:endParaRPr>
          </a:p>
          <a:p>
            <a:pPr marL="285750" indent="-285750">
              <a:buFont typeface="Arial" panose="020B0604020202020204" pitchFamily="34" charset="0"/>
              <a:buChar char="•"/>
            </a:pPr>
            <a:endParaRPr lang="en-US" sz="800">
              <a:ea typeface="Calibri"/>
              <a:cs typeface="Calibri"/>
            </a:endParaRPr>
          </a:p>
          <a:p>
            <a:pPr marL="285750" indent="-285750">
              <a:buFont typeface="Arial" panose="020B0604020202020204" pitchFamily="34" charset="0"/>
              <a:buChar char="•"/>
            </a:pPr>
            <a:r>
              <a:rPr lang="en-US" sz="1600"/>
              <a:t>Create </a:t>
            </a:r>
            <a:r>
              <a:rPr lang="en-CA" sz="1600"/>
              <a:t>data edit / capture interfaces</a:t>
            </a:r>
            <a:r>
              <a:rPr lang="en-US" sz="1600"/>
              <a:t> within security assessed platforms to allow for manual edits and overrides </a:t>
            </a:r>
          </a:p>
          <a:p>
            <a:endParaRPr lang="en-US" sz="800"/>
          </a:p>
          <a:p>
            <a:pPr marL="285750" indent="-285750">
              <a:buFont typeface="Arial" panose="020B0604020202020204" pitchFamily="34" charset="0"/>
              <a:buChar char="•"/>
            </a:pPr>
            <a:r>
              <a:rPr lang="en-US" sz="1600"/>
              <a:t>Business process automation through established platforms -  PowerApps, RPA etc.</a:t>
            </a:r>
            <a:endParaRPr lang="en-US" sz="1600">
              <a:ea typeface="Tahoma"/>
              <a:cs typeface="Tahoma"/>
            </a:endParaRPr>
          </a:p>
          <a:p>
            <a:endParaRPr lang="en-US" sz="800">
              <a:ea typeface="Calibri"/>
              <a:cs typeface="Calibri"/>
            </a:endParaRPr>
          </a:p>
          <a:p>
            <a:pPr marL="285750" indent="-285750">
              <a:buFont typeface="Arial" panose="020B0604020202020204" pitchFamily="34" charset="0"/>
              <a:buChar char="•"/>
            </a:pPr>
            <a:r>
              <a:rPr lang="en-US" sz="1600"/>
              <a:t>Only allow access to what the user needs access to</a:t>
            </a:r>
            <a:endParaRPr lang="en-US" sz="1600">
              <a:ea typeface="Calibri"/>
              <a:cs typeface="Calibri"/>
            </a:endParaRPr>
          </a:p>
          <a:p>
            <a:pPr marL="285750" indent="-285750">
              <a:buFont typeface="Arial" panose="020B0604020202020204" pitchFamily="34" charset="0"/>
              <a:buChar char="•"/>
            </a:pPr>
            <a:endParaRPr lang="en-CA" sz="800">
              <a:ea typeface="Calibri"/>
              <a:cs typeface="Calibri"/>
            </a:endParaRPr>
          </a:p>
          <a:p>
            <a:pPr marL="285750" indent="-285750">
              <a:buFont typeface="Arial" panose="020B0604020202020204" pitchFamily="34" charset="0"/>
              <a:buChar char="•"/>
            </a:pPr>
            <a:r>
              <a:rPr lang="en-CA" sz="1600"/>
              <a:t>Follow corporate guidelines, policies, directives and Statistical Reproducible Framework practices - Data Analytics Solution development process (e.g., no security assessment before putting developed business logic in production- attestation and automatic approvals)</a:t>
            </a:r>
            <a:endParaRPr lang="en-CA" sz="1600">
              <a:ea typeface="Calibri"/>
              <a:cs typeface="Calibri"/>
            </a:endParaRPr>
          </a:p>
        </p:txBody>
      </p:sp>
    </p:spTree>
    <p:extLst>
      <p:ext uri="{BB962C8B-B14F-4D97-AF65-F5344CB8AC3E}">
        <p14:creationId xmlns:p14="http://schemas.microsoft.com/office/powerpoint/2010/main" val="50100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66B7-4D4C-928B-9A55-8AC60F049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921ED-926D-7E00-6321-64A818D1CC3C}"/>
              </a:ext>
            </a:extLst>
          </p:cNvPr>
          <p:cNvSpPr>
            <a:spLocks noGrp="1"/>
          </p:cNvSpPr>
          <p:nvPr>
            <p:ph type="title"/>
          </p:nvPr>
        </p:nvSpPr>
        <p:spPr>
          <a:xfrm>
            <a:off x="888610" y="112031"/>
            <a:ext cx="10515600"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Dissemination</a:t>
            </a:r>
            <a:endParaRPr lang="en-CA" b="1"/>
          </a:p>
        </p:txBody>
      </p:sp>
      <p:sp>
        <p:nvSpPr>
          <p:cNvPr id="4" name="Slide Number Placeholder 3">
            <a:extLst>
              <a:ext uri="{FF2B5EF4-FFF2-40B4-BE49-F238E27FC236}">
                <a16:creationId xmlns:a16="http://schemas.microsoft.com/office/drawing/2014/main" id="{6A0914F4-C90D-B15C-ED7D-02E85E485535}"/>
              </a:ext>
            </a:extLst>
          </p:cNvPr>
          <p:cNvSpPr>
            <a:spLocks noGrp="1"/>
          </p:cNvSpPr>
          <p:nvPr>
            <p:ph type="sldNum" sz="quarter" idx="12"/>
          </p:nvPr>
        </p:nvSpPr>
        <p:spPr/>
        <p:txBody>
          <a:bodyPr/>
          <a:lstStyle/>
          <a:p>
            <a:fld id="{49DA9349-B3BD-4AC8-BE71-63081D1E6344}" type="slidenum">
              <a:rPr lang="en-CA" smtClean="0"/>
              <a:t>37</a:t>
            </a:fld>
            <a:endParaRPr lang="en-CA"/>
          </a:p>
        </p:txBody>
      </p:sp>
      <p:pic>
        <p:nvPicPr>
          <p:cNvPr id="1026" name="Picture 2">
            <a:extLst>
              <a:ext uri="{FF2B5EF4-FFF2-40B4-BE49-F238E27FC236}">
                <a16:creationId xmlns:a16="http://schemas.microsoft.com/office/drawing/2014/main" id="{B59D3744-A32F-FADE-B7CA-0001EFB6C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950" y="774813"/>
            <a:ext cx="5478050" cy="50577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FF849A2C-CBB0-F287-00EF-ABD8E43A8C09}"/>
              </a:ext>
            </a:extLst>
          </p:cNvPr>
          <p:cNvSpPr/>
          <p:nvPr/>
        </p:nvSpPr>
        <p:spPr>
          <a:xfrm>
            <a:off x="162839" y="835642"/>
            <a:ext cx="6551112" cy="566536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CA">
              <a:solidFill>
                <a:schemeClr val="tx1"/>
              </a:solidFill>
            </a:endParaRPr>
          </a:p>
        </p:txBody>
      </p:sp>
      <p:sp>
        <p:nvSpPr>
          <p:cNvPr id="5" name="TextBox 5">
            <a:extLst>
              <a:ext uri="{FF2B5EF4-FFF2-40B4-BE49-F238E27FC236}">
                <a16:creationId xmlns:a16="http://schemas.microsoft.com/office/drawing/2014/main" id="{CB4A19F0-8E30-BAFD-2B0C-1C2A4BE0D27E}"/>
              </a:ext>
            </a:extLst>
          </p:cNvPr>
          <p:cNvSpPr txBox="1"/>
          <p:nvPr/>
        </p:nvSpPr>
        <p:spPr>
          <a:xfrm>
            <a:off x="438411" y="940248"/>
            <a:ext cx="6275538" cy="547842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t>Preparation of Dissemination outputs – activity groups for business development:</a:t>
            </a:r>
            <a:endParaRPr lang="en-US" sz="1400"/>
          </a:p>
          <a:p>
            <a:pPr marL="285750" indent="-285750">
              <a:buFont typeface="Arial" panose="020B0604020202020204" pitchFamily="34" charset="0"/>
              <a:buChar char="•"/>
            </a:pPr>
            <a:r>
              <a:rPr lang="en-CA" sz="1400"/>
              <a:t>Dissemination vision calls for a set of rules what dissemination outputs should be created for the web-site – using corporate tools</a:t>
            </a:r>
          </a:p>
          <a:p>
            <a:pPr marL="285750" indent="-285750">
              <a:buFont typeface="Arial" panose="020B0604020202020204" pitchFamily="34" charset="0"/>
              <a:buChar char="•"/>
            </a:pPr>
            <a:r>
              <a:rPr lang="en-CA" sz="1400"/>
              <a:t>Production of dissemination outputs will be the last step in the data pipelines – </a:t>
            </a:r>
            <a:r>
              <a:rPr lang="en-US" sz="1400">
                <a:ea typeface="Calibri"/>
                <a:cs typeface="Calibri"/>
              </a:rPr>
              <a:t>programs / operations will use activity groups for processing / analysis, incl. retrieval of external data for confrontation</a:t>
            </a:r>
            <a:r>
              <a:rPr lang="en-CA" sz="1400"/>
              <a:t> </a:t>
            </a:r>
          </a:p>
          <a:p>
            <a:pPr marL="285750" indent="-285750">
              <a:buFont typeface="Arial" panose="020B0604020202020204" pitchFamily="34" charset="0"/>
              <a:buChar char="•"/>
            </a:pPr>
            <a:r>
              <a:rPr lang="en-CA" sz="1400"/>
              <a:t>Processing / analysis activity groups will also be used to produce custom tabulations - design, certification, and production</a:t>
            </a:r>
          </a:p>
          <a:p>
            <a:pPr marL="285750" indent="-285750">
              <a:buFont typeface="Arial" panose="020B0604020202020204" pitchFamily="34" charset="0"/>
              <a:buChar char="•"/>
            </a:pPr>
            <a:r>
              <a:rPr lang="en-CA" sz="1400"/>
              <a:t>PUMP creation will be done with the use of corporate tools and business development will use processing / analysis activity groups if custom PUMF production is required</a:t>
            </a:r>
          </a:p>
          <a:p>
            <a:endParaRPr lang="en-CA" sz="1400">
              <a:solidFill>
                <a:schemeClr val="tx1"/>
              </a:solidFill>
            </a:endParaRPr>
          </a:p>
          <a:p>
            <a:r>
              <a:rPr lang="en-CA" sz="1400" b="1"/>
              <a:t>Disseminating outputs – for user consumption:</a:t>
            </a:r>
          </a:p>
          <a:p>
            <a:pPr marL="285750" indent="-285750">
              <a:buFont typeface="Arial" panose="020B0604020202020204" pitchFamily="34" charset="0"/>
              <a:buChar char="•"/>
            </a:pPr>
            <a:r>
              <a:rPr lang="en-CA" sz="1400">
                <a:solidFill>
                  <a:schemeClr val="tx1"/>
                </a:solidFill>
              </a:rPr>
              <a:t>Programs / operations will use corporate platform / toolkits to create and post outputs on the website – e.g., Drupal toolkit to create and post pages; data visualization platforms such as </a:t>
            </a:r>
            <a:r>
              <a:rPr lang="en-CA" sz="1400" err="1">
                <a:solidFill>
                  <a:schemeClr val="tx1"/>
                </a:solidFill>
              </a:rPr>
              <a:t>PowerBI</a:t>
            </a:r>
            <a:endParaRPr lang="en-CA" sz="1400">
              <a:solidFill>
                <a:schemeClr val="tx1"/>
              </a:solidFill>
            </a:endParaRPr>
          </a:p>
          <a:p>
            <a:pPr marL="285750" indent="-285750">
              <a:buFont typeface="Arial" panose="020B0604020202020204" pitchFamily="34" charset="0"/>
              <a:buChar char="•"/>
            </a:pPr>
            <a:r>
              <a:rPr lang="en-US" sz="1400"/>
              <a:t>Business process automation through established platforms -  PowerApps, RPA etc.</a:t>
            </a:r>
            <a:endParaRPr lang="en-CA" sz="1400">
              <a:solidFill>
                <a:schemeClr val="tx1"/>
              </a:solidFill>
            </a:endParaRPr>
          </a:p>
          <a:p>
            <a:endParaRPr lang="en-CA" sz="1400"/>
          </a:p>
          <a:p>
            <a:r>
              <a:rPr lang="en-CA" sz="1400" b="1"/>
              <a:t>Disseminating outputs – for AI consumption:</a:t>
            </a:r>
          </a:p>
          <a:p>
            <a:pPr marL="285750" indent="-285750">
              <a:buFont typeface="Arial" panose="020B0604020202020204" pitchFamily="34" charset="0"/>
              <a:buChar char="•"/>
            </a:pPr>
            <a:r>
              <a:rPr lang="en-CA" sz="1400"/>
              <a:t>Use corporate platforms to publish statistical data in format expected by AI bots / search engines</a:t>
            </a:r>
            <a:endParaRPr lang="en-CA" sz="1400">
              <a:solidFill>
                <a:schemeClr val="tx1"/>
              </a:solidFill>
            </a:endParaRPr>
          </a:p>
          <a:p>
            <a:endParaRPr lang="en-CA" sz="1400"/>
          </a:p>
          <a:p>
            <a:r>
              <a:rPr lang="en-CA" sz="1400" b="1"/>
              <a:t>Mission-critical dissemination processes</a:t>
            </a:r>
            <a:r>
              <a:rPr lang="en-CA" sz="1400"/>
              <a:t> – e.g., posting market moving data using embargo – will be done through platforms developed and maintained by IT</a:t>
            </a:r>
          </a:p>
        </p:txBody>
      </p:sp>
    </p:spTree>
    <p:extLst>
      <p:ext uri="{BB962C8B-B14F-4D97-AF65-F5344CB8AC3E}">
        <p14:creationId xmlns:p14="http://schemas.microsoft.com/office/powerpoint/2010/main" val="699506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E8F1DE-530F-7A0A-D400-C3CDE7F0E2EA}"/>
              </a:ext>
            </a:extLst>
          </p:cNvPr>
          <p:cNvSpPr>
            <a:spLocks noGrp="1"/>
          </p:cNvSpPr>
          <p:nvPr>
            <p:ph type="sldNum" sz="quarter" idx="4"/>
          </p:nvPr>
        </p:nvSpPr>
        <p:spPr>
          <a:xfrm>
            <a:off x="9264352" y="5445224"/>
            <a:ext cx="2743200" cy="365125"/>
          </a:xfrm>
        </p:spPr>
        <p:txBody>
          <a:bodyPr/>
          <a:lstStyle/>
          <a:p>
            <a:fld id="{D07C759C-DCD0-4873-B392-A44DD08CD415}" type="slidenum">
              <a:rPr lang="en-CA" smtClean="0"/>
              <a:t>38</a:t>
            </a:fld>
            <a:endParaRPr lang="en-CA"/>
          </a:p>
        </p:txBody>
      </p:sp>
      <p:sp>
        <p:nvSpPr>
          <p:cNvPr id="5" name="Title 36">
            <a:extLst>
              <a:ext uri="{FF2B5EF4-FFF2-40B4-BE49-F238E27FC236}">
                <a16:creationId xmlns:a16="http://schemas.microsoft.com/office/drawing/2014/main" id="{DCEB23F2-E6A4-4E88-5EC7-46B0AD0883A4}"/>
              </a:ext>
            </a:extLst>
          </p:cNvPr>
          <p:cNvSpPr txBox="1">
            <a:spLocks/>
          </p:cNvSpPr>
          <p:nvPr/>
        </p:nvSpPr>
        <p:spPr>
          <a:xfrm>
            <a:off x="0" y="758062"/>
            <a:ext cx="12191999"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defRPr/>
            </a:pPr>
            <a:r>
              <a:rPr lang="en-CA" sz="3600">
                <a:ea typeface="+mn-ea"/>
                <a:cs typeface="+mn-cs"/>
              </a:rPr>
              <a:t>Statistics Canada— </a:t>
            </a:r>
            <a:br>
              <a:rPr lang="en-CA" sz="3600">
                <a:ea typeface="+mn-ea"/>
                <a:cs typeface="+mn-cs"/>
              </a:rPr>
            </a:br>
            <a:r>
              <a:rPr lang="en-CA" sz="3600">
                <a:ea typeface="+mn-ea"/>
                <a:cs typeface="+mn-cs"/>
              </a:rPr>
              <a:t>Your National Statistical Agency</a:t>
            </a:r>
            <a:endParaRPr lang="en-US" sz="3600">
              <a:ea typeface="Lato" panose="020F0502020204030203" pitchFamily="34" charset="0"/>
              <a:cs typeface="Lato" panose="020F0502020204030203" pitchFamily="34" charset="0"/>
            </a:endParaRPr>
          </a:p>
        </p:txBody>
      </p:sp>
      <p:pic>
        <p:nvPicPr>
          <p:cNvPr id="6" name="Picture 5" descr="Logo&#10;&#10;National Capital Region's Top Employers 2024">
            <a:extLst>
              <a:ext uri="{FF2B5EF4-FFF2-40B4-BE49-F238E27FC236}">
                <a16:creationId xmlns:a16="http://schemas.microsoft.com/office/drawing/2014/main" id="{F502C0D3-EEEA-F93A-5F46-C4DB7897B8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82255" y="2933870"/>
            <a:ext cx="1775964" cy="1768860"/>
          </a:xfrm>
          <a:prstGeom prst="rect">
            <a:avLst/>
          </a:prstGeom>
        </p:spPr>
      </p:pic>
      <p:pic>
        <p:nvPicPr>
          <p:cNvPr id="7" name="Picture 6" descr="Logo&#10;&#10;2024 Canada's best diversity employers">
            <a:extLst>
              <a:ext uri="{FF2B5EF4-FFF2-40B4-BE49-F238E27FC236}">
                <a16:creationId xmlns:a16="http://schemas.microsoft.com/office/drawing/2014/main" id="{76552179-9FD0-EF46-3938-7832E88F2C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5865" y="3116749"/>
            <a:ext cx="1803200" cy="1420921"/>
          </a:xfrm>
          <a:prstGeom prst="rect">
            <a:avLst/>
          </a:prstGeom>
        </p:spPr>
      </p:pic>
      <p:pic>
        <p:nvPicPr>
          <p:cNvPr id="8" name="Picture 7" descr="Logo&#10;&#10;Canada's top employers for young people 2024">
            <a:extLst>
              <a:ext uri="{FF2B5EF4-FFF2-40B4-BE49-F238E27FC236}">
                <a16:creationId xmlns:a16="http://schemas.microsoft.com/office/drawing/2014/main" id="{4A68F282-05C9-2F4B-9A9C-71A6A2B6BE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68037" y="2868471"/>
            <a:ext cx="1914918" cy="1917475"/>
          </a:xfrm>
          <a:prstGeom prst="rect">
            <a:avLst/>
          </a:prstGeom>
        </p:spPr>
      </p:pic>
      <p:sp>
        <p:nvSpPr>
          <p:cNvPr id="9" name="TextBox 8">
            <a:extLst>
              <a:ext uri="{FF2B5EF4-FFF2-40B4-BE49-F238E27FC236}">
                <a16:creationId xmlns:a16="http://schemas.microsoft.com/office/drawing/2014/main" id="{58C65C3F-5480-973D-9399-32280D8F33BD}"/>
              </a:ext>
            </a:extLst>
          </p:cNvPr>
          <p:cNvSpPr txBox="1"/>
          <p:nvPr/>
        </p:nvSpPr>
        <p:spPr>
          <a:xfrm>
            <a:off x="1" y="5164857"/>
            <a:ext cx="12191998" cy="461665"/>
          </a:xfrm>
          <a:prstGeom prst="rect">
            <a:avLst/>
          </a:prstGeom>
          <a:noFill/>
        </p:spPr>
        <p:txBody>
          <a:bodyPr wrap="square" rtlCol="0">
            <a:spAutoFit/>
          </a:bodyPr>
          <a:lstStyle/>
          <a:p>
            <a:pPr algn="ctr"/>
            <a:r>
              <a:rPr lang="en-US" sz="2400">
                <a:solidFill>
                  <a:schemeClr val="tx1"/>
                </a:solidFill>
                <a:ea typeface="Lato" panose="020F0502020204030203" pitchFamily="34" charset="0"/>
                <a:cs typeface="Lato" panose="020F0502020204030203" pitchFamily="34" charset="0"/>
              </a:rPr>
              <a:t>Delivering insight through data for a better Canada</a:t>
            </a:r>
          </a:p>
        </p:txBody>
      </p:sp>
    </p:spTree>
    <p:extLst>
      <p:ext uri="{BB962C8B-B14F-4D97-AF65-F5344CB8AC3E}">
        <p14:creationId xmlns:p14="http://schemas.microsoft.com/office/powerpoint/2010/main" val="3200173994"/>
      </p:ext>
    </p:extLst>
  </p:cSld>
  <p:clrMapOvr>
    <a:masterClrMapping/>
  </p:clrMapOvr>
</p:sld>
</file>

<file path=ppt/theme/theme1.xml><?xml version="1.0" encoding="utf-8"?>
<a:theme xmlns:a="http://schemas.openxmlformats.org/drawingml/2006/main" name="Interior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ts template2">
      <a:majorFont>
        <a:latin typeface="Tahoma bol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ts template2">
      <a:majorFont>
        <a:latin typeface="Tahoma bol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38</Slides>
  <Notes>16</Notes>
  <HiddenSlides>0</HiddenSlides>
  <ScaleCrop>false</ScaleCrop>
  <HeadingPairs>
    <vt:vector size="4" baseType="variant">
      <vt:variant>
        <vt:lpstr>Theme</vt:lpstr>
      </vt:variant>
      <vt:variant>
        <vt:i4>2</vt:i4>
      </vt:variant>
      <vt:variant>
        <vt:lpstr>Slide Titles</vt:lpstr>
      </vt:variant>
      <vt:variant>
        <vt:i4>38</vt:i4>
      </vt:variant>
    </vt:vector>
  </HeadingPairs>
  <TitlesOfParts>
    <vt:vector size="40" baseType="lpstr">
      <vt:lpstr>Interior slide</vt:lpstr>
      <vt:lpstr>Title slide</vt:lpstr>
      <vt:lpstr>PowerPoint Presentation</vt:lpstr>
      <vt:lpstr>Objective</vt:lpstr>
      <vt:lpstr>PowerPoint Presentation</vt:lpstr>
      <vt:lpstr>PowerPoint Presentation</vt:lpstr>
      <vt:lpstr>PowerPoint Presentation</vt:lpstr>
      <vt:lpstr>Next steps</vt:lpstr>
      <vt:lpstr>GSBPM Roadmap  Data In</vt:lpstr>
      <vt:lpstr>PowerPoint Presentation</vt:lpstr>
      <vt:lpstr>PowerPoint Presentation</vt:lpstr>
      <vt:lpstr>GSBPM Roadmap  Data Out</vt:lpstr>
      <vt:lpstr>PowerPoint Presentation</vt:lpstr>
      <vt:lpstr>PowerPoint Presentation</vt:lpstr>
      <vt:lpstr>PowerPoint Presentation</vt:lpstr>
      <vt:lpstr>GSBPM Roadmap  Data and Information Governance and Stewardship</vt:lpstr>
      <vt:lpstr>PowerPoint Presentation</vt:lpstr>
      <vt:lpstr>PowerPoint Presentation</vt:lpstr>
      <vt:lpstr>PowerPoint Presentation</vt:lpstr>
      <vt:lpstr>GSBPM Roadmap  BARB</vt:lpstr>
      <vt:lpstr>PowerPoint Presentation</vt:lpstr>
      <vt:lpstr>PowerPoint Presentation</vt:lpstr>
      <vt:lpstr>PowerPoint Presentation</vt:lpstr>
      <vt:lpstr>PowerPoint Presentation</vt:lpstr>
      <vt:lpstr>PowerPoint Presentation</vt:lpstr>
      <vt:lpstr>PowerPoint Presentation</vt:lpstr>
      <vt:lpstr>GSBPM Roadmap  Business Development</vt:lpstr>
      <vt:lpstr>PowerPoint Presentation</vt:lpstr>
      <vt:lpstr>PowerPoint Presentation</vt:lpstr>
      <vt:lpstr>PowerPoint Presentation</vt:lpstr>
      <vt:lpstr>Annexe</vt:lpstr>
      <vt:lpstr>GSBPM Roadmap  DIGS</vt:lpstr>
      <vt:lpstr>GSBPM Sub-Processes with AI Applications</vt:lpstr>
      <vt:lpstr>Mapping AI Applications and Opportunities to the GSBPM (StatCan version)</vt:lpstr>
      <vt:lpstr>GSBPM Roadmap  Business Development</vt:lpstr>
      <vt:lpstr>Business Development: Collection</vt:lpstr>
      <vt:lpstr>Business Development: Processing and Analysis Activity Groups – Non-IT</vt:lpstr>
      <vt:lpstr>Business Development: Processing and Analysis Activity Groups – Corporate vs. Business Development</vt:lpstr>
      <vt:lpstr>Business Development: Dissemination</vt:lpstr>
      <vt:lpstr>PowerPoint Presentation</vt:lpstr>
    </vt:vector>
  </TitlesOfParts>
  <Company>StatCan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malopau</dc:creator>
  <cp:revision>3</cp:revision>
  <dcterms:created xsi:type="dcterms:W3CDTF">2015-08-04T19:39:59Z</dcterms:created>
  <dcterms:modified xsi:type="dcterms:W3CDTF">2025-09-20T18:06:58Z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