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2" r:id="rId3"/>
    <p:sldId id="271" r:id="rId4"/>
    <p:sldId id="274" r:id="rId5"/>
    <p:sldId id="275" r:id="rId6"/>
    <p:sldId id="273" r:id="rId7"/>
    <p:sldId id="257" r:id="rId8"/>
    <p:sldId id="259" r:id="rId9"/>
    <p:sldId id="260" r:id="rId10"/>
    <p:sldId id="261" r:id="rId11"/>
    <p:sldId id="262" r:id="rId12"/>
    <p:sldId id="265" r:id="rId13"/>
    <p:sldId id="263" r:id="rId14"/>
    <p:sldId id="264" r:id="rId15"/>
    <p:sldId id="268" r:id="rId16"/>
    <p:sldId id="269" r:id="rId17"/>
    <p:sldId id="266" r:id="rId18"/>
    <p:sldId id="270"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B7D23"/>
    <a:srgbClr val="FBA7A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p:scale>
          <a:sx n="50" d="100"/>
          <a:sy n="50" d="100"/>
        </p:scale>
        <p:origin x="1244"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E7AE4-0CA0-DA27-0FA6-E0481A9C0A8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EE5EE91-07C0-C1E7-7EA5-C23F338D6C0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6D8E3B1-FFAD-2B91-8577-838C490116C0}"/>
              </a:ext>
            </a:extLst>
          </p:cNvPr>
          <p:cNvSpPr>
            <a:spLocks noGrp="1"/>
          </p:cNvSpPr>
          <p:nvPr>
            <p:ph type="dt" sz="half" idx="10"/>
          </p:nvPr>
        </p:nvSpPr>
        <p:spPr/>
        <p:txBody>
          <a:bodyPr/>
          <a:lstStyle/>
          <a:p>
            <a:fld id="{C673FE50-EC67-4AD7-BC13-31F4524965B3}" type="datetimeFigureOut">
              <a:rPr lang="en-US" smtClean="0"/>
              <a:t>9/15/2025</a:t>
            </a:fld>
            <a:endParaRPr lang="en-US"/>
          </a:p>
        </p:txBody>
      </p:sp>
      <p:sp>
        <p:nvSpPr>
          <p:cNvPr id="5" name="Footer Placeholder 4">
            <a:extLst>
              <a:ext uri="{FF2B5EF4-FFF2-40B4-BE49-F238E27FC236}">
                <a16:creationId xmlns:a16="http://schemas.microsoft.com/office/drawing/2014/main" id="{314197B2-3ACF-702D-8540-3E0C06E00E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17A1AD7-84E9-3FF3-67DB-3A4A4907DA82}"/>
              </a:ext>
            </a:extLst>
          </p:cNvPr>
          <p:cNvSpPr>
            <a:spLocks noGrp="1"/>
          </p:cNvSpPr>
          <p:nvPr>
            <p:ph type="sldNum" sz="quarter" idx="12"/>
          </p:nvPr>
        </p:nvSpPr>
        <p:spPr/>
        <p:txBody>
          <a:bodyPr/>
          <a:lstStyle/>
          <a:p>
            <a:fld id="{B7940EF3-9989-418F-B99B-A913DF3B20BA}" type="slidenum">
              <a:rPr lang="en-US" smtClean="0"/>
              <a:t>‹#›</a:t>
            </a:fld>
            <a:endParaRPr lang="en-US"/>
          </a:p>
        </p:txBody>
      </p:sp>
    </p:spTree>
    <p:extLst>
      <p:ext uri="{BB962C8B-B14F-4D97-AF65-F5344CB8AC3E}">
        <p14:creationId xmlns:p14="http://schemas.microsoft.com/office/powerpoint/2010/main" val="14163740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91276-1658-D926-B1DC-8982A85481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5634083-081F-F35C-A44D-6A2E5BE06FD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4882F7-FA29-18D2-8F97-7A260552291B}"/>
              </a:ext>
            </a:extLst>
          </p:cNvPr>
          <p:cNvSpPr>
            <a:spLocks noGrp="1"/>
          </p:cNvSpPr>
          <p:nvPr>
            <p:ph type="dt" sz="half" idx="10"/>
          </p:nvPr>
        </p:nvSpPr>
        <p:spPr/>
        <p:txBody>
          <a:bodyPr/>
          <a:lstStyle/>
          <a:p>
            <a:fld id="{C673FE50-EC67-4AD7-BC13-31F4524965B3}" type="datetimeFigureOut">
              <a:rPr lang="en-US" smtClean="0"/>
              <a:t>9/15/2025</a:t>
            </a:fld>
            <a:endParaRPr lang="en-US"/>
          </a:p>
        </p:txBody>
      </p:sp>
      <p:sp>
        <p:nvSpPr>
          <p:cNvPr id="5" name="Footer Placeholder 4">
            <a:extLst>
              <a:ext uri="{FF2B5EF4-FFF2-40B4-BE49-F238E27FC236}">
                <a16:creationId xmlns:a16="http://schemas.microsoft.com/office/drawing/2014/main" id="{A5778A04-5E58-51BB-5081-8D3DC2B8CD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3D2DCA1-1E04-2D74-B411-30E4D229A0F4}"/>
              </a:ext>
            </a:extLst>
          </p:cNvPr>
          <p:cNvSpPr>
            <a:spLocks noGrp="1"/>
          </p:cNvSpPr>
          <p:nvPr>
            <p:ph type="sldNum" sz="quarter" idx="12"/>
          </p:nvPr>
        </p:nvSpPr>
        <p:spPr/>
        <p:txBody>
          <a:bodyPr/>
          <a:lstStyle/>
          <a:p>
            <a:fld id="{B7940EF3-9989-418F-B99B-A913DF3B20BA}" type="slidenum">
              <a:rPr lang="en-US" smtClean="0"/>
              <a:t>‹#›</a:t>
            </a:fld>
            <a:endParaRPr lang="en-US"/>
          </a:p>
        </p:txBody>
      </p:sp>
    </p:spTree>
    <p:extLst>
      <p:ext uri="{BB962C8B-B14F-4D97-AF65-F5344CB8AC3E}">
        <p14:creationId xmlns:p14="http://schemas.microsoft.com/office/powerpoint/2010/main" val="1768439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14B8AF-0512-204F-91B5-4DA9F036D0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57D5DF-7FA5-53E4-7705-8CA9DA6770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A34D35-3DCE-2649-09D1-0EDA463A7F36}"/>
              </a:ext>
            </a:extLst>
          </p:cNvPr>
          <p:cNvSpPr>
            <a:spLocks noGrp="1"/>
          </p:cNvSpPr>
          <p:nvPr>
            <p:ph type="dt" sz="half" idx="10"/>
          </p:nvPr>
        </p:nvSpPr>
        <p:spPr/>
        <p:txBody>
          <a:bodyPr/>
          <a:lstStyle/>
          <a:p>
            <a:fld id="{C673FE50-EC67-4AD7-BC13-31F4524965B3}" type="datetimeFigureOut">
              <a:rPr lang="en-US" smtClean="0"/>
              <a:t>9/15/2025</a:t>
            </a:fld>
            <a:endParaRPr lang="en-US"/>
          </a:p>
        </p:txBody>
      </p:sp>
      <p:sp>
        <p:nvSpPr>
          <p:cNvPr id="5" name="Footer Placeholder 4">
            <a:extLst>
              <a:ext uri="{FF2B5EF4-FFF2-40B4-BE49-F238E27FC236}">
                <a16:creationId xmlns:a16="http://schemas.microsoft.com/office/drawing/2014/main" id="{AAEBF02F-82A6-FB18-EDF8-AEE0FCA522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71B6A6-F488-A2F8-D4B0-C7BB26ECA5CC}"/>
              </a:ext>
            </a:extLst>
          </p:cNvPr>
          <p:cNvSpPr>
            <a:spLocks noGrp="1"/>
          </p:cNvSpPr>
          <p:nvPr>
            <p:ph type="sldNum" sz="quarter" idx="12"/>
          </p:nvPr>
        </p:nvSpPr>
        <p:spPr/>
        <p:txBody>
          <a:bodyPr/>
          <a:lstStyle/>
          <a:p>
            <a:fld id="{B7940EF3-9989-418F-B99B-A913DF3B20BA}" type="slidenum">
              <a:rPr lang="en-US" smtClean="0"/>
              <a:t>‹#›</a:t>
            </a:fld>
            <a:endParaRPr lang="en-US"/>
          </a:p>
        </p:txBody>
      </p:sp>
    </p:spTree>
    <p:extLst>
      <p:ext uri="{BB962C8B-B14F-4D97-AF65-F5344CB8AC3E}">
        <p14:creationId xmlns:p14="http://schemas.microsoft.com/office/powerpoint/2010/main" val="6850316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7455E-6957-5B6F-CBFC-47F104C941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183E6A3-64EB-ED03-4EE0-25EF7FA5D82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7735A8E-09BE-7A20-E013-AD4331DCEB0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7160601-24BE-B80E-2D56-65A73505EB97}"/>
              </a:ext>
            </a:extLst>
          </p:cNvPr>
          <p:cNvSpPr>
            <a:spLocks noGrp="1"/>
          </p:cNvSpPr>
          <p:nvPr>
            <p:ph type="dt" sz="half" idx="10"/>
          </p:nvPr>
        </p:nvSpPr>
        <p:spPr/>
        <p:txBody>
          <a:bodyPr/>
          <a:lstStyle/>
          <a:p>
            <a:fld id="{C673FE50-EC67-4AD7-BC13-31F4524965B3}" type="datetimeFigureOut">
              <a:rPr lang="en-US" smtClean="0"/>
              <a:t>9/15/2025</a:t>
            </a:fld>
            <a:endParaRPr lang="en-US"/>
          </a:p>
        </p:txBody>
      </p:sp>
      <p:sp>
        <p:nvSpPr>
          <p:cNvPr id="6" name="Footer Placeholder 5">
            <a:extLst>
              <a:ext uri="{FF2B5EF4-FFF2-40B4-BE49-F238E27FC236}">
                <a16:creationId xmlns:a16="http://schemas.microsoft.com/office/drawing/2014/main" id="{B3D5BA47-A4DE-53F9-CB43-0EBFCFDAC7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09239F2-23FF-ABF4-9AF4-FBCCF6349F8B}"/>
              </a:ext>
            </a:extLst>
          </p:cNvPr>
          <p:cNvSpPr>
            <a:spLocks noGrp="1"/>
          </p:cNvSpPr>
          <p:nvPr>
            <p:ph type="sldNum" sz="quarter" idx="12"/>
          </p:nvPr>
        </p:nvSpPr>
        <p:spPr/>
        <p:txBody>
          <a:bodyPr/>
          <a:lstStyle/>
          <a:p>
            <a:fld id="{B7940EF3-9989-418F-B99B-A913DF3B20BA}" type="slidenum">
              <a:rPr lang="en-US" smtClean="0"/>
              <a:t>‹#›</a:t>
            </a:fld>
            <a:endParaRPr lang="en-US"/>
          </a:p>
        </p:txBody>
      </p:sp>
    </p:spTree>
    <p:extLst>
      <p:ext uri="{BB962C8B-B14F-4D97-AF65-F5344CB8AC3E}">
        <p14:creationId xmlns:p14="http://schemas.microsoft.com/office/powerpoint/2010/main" val="8437309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410DDA-8973-19D0-9D04-123268C8936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669F61-8ED3-B5A3-BEF6-4075700DE9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493B93D-A387-D464-7C15-8392FC7F615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F0CF81-B90C-C280-2D57-6EE1F3B9B0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A2CCFD-31F9-6931-A39E-A7768FC5DF6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7822409-8394-F3A8-6C6E-1F9C3A19FC12}"/>
              </a:ext>
            </a:extLst>
          </p:cNvPr>
          <p:cNvSpPr>
            <a:spLocks noGrp="1"/>
          </p:cNvSpPr>
          <p:nvPr>
            <p:ph type="dt" sz="half" idx="10"/>
          </p:nvPr>
        </p:nvSpPr>
        <p:spPr/>
        <p:txBody>
          <a:bodyPr/>
          <a:lstStyle/>
          <a:p>
            <a:fld id="{C673FE50-EC67-4AD7-BC13-31F4524965B3}" type="datetimeFigureOut">
              <a:rPr lang="en-US" smtClean="0"/>
              <a:t>9/15/2025</a:t>
            </a:fld>
            <a:endParaRPr lang="en-US"/>
          </a:p>
        </p:txBody>
      </p:sp>
      <p:sp>
        <p:nvSpPr>
          <p:cNvPr id="8" name="Footer Placeholder 7">
            <a:extLst>
              <a:ext uri="{FF2B5EF4-FFF2-40B4-BE49-F238E27FC236}">
                <a16:creationId xmlns:a16="http://schemas.microsoft.com/office/drawing/2014/main" id="{33D266E6-A110-4D7C-9530-C3CAD86972B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775572F-22EE-53C6-D7D5-6AEA30B8B926}"/>
              </a:ext>
            </a:extLst>
          </p:cNvPr>
          <p:cNvSpPr>
            <a:spLocks noGrp="1"/>
          </p:cNvSpPr>
          <p:nvPr>
            <p:ph type="sldNum" sz="quarter" idx="12"/>
          </p:nvPr>
        </p:nvSpPr>
        <p:spPr/>
        <p:txBody>
          <a:bodyPr/>
          <a:lstStyle/>
          <a:p>
            <a:fld id="{B7940EF3-9989-418F-B99B-A913DF3B20BA}" type="slidenum">
              <a:rPr lang="en-US" smtClean="0"/>
              <a:t>‹#›</a:t>
            </a:fld>
            <a:endParaRPr lang="en-US"/>
          </a:p>
        </p:txBody>
      </p:sp>
    </p:spTree>
    <p:extLst>
      <p:ext uri="{BB962C8B-B14F-4D97-AF65-F5344CB8AC3E}">
        <p14:creationId xmlns:p14="http://schemas.microsoft.com/office/powerpoint/2010/main" val="5172928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6A8C3-2597-962B-BA26-5CE9CEEE2D6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92C492-7FBE-D1F0-B715-3C362FD0202B}"/>
              </a:ext>
            </a:extLst>
          </p:cNvPr>
          <p:cNvSpPr>
            <a:spLocks noGrp="1"/>
          </p:cNvSpPr>
          <p:nvPr>
            <p:ph type="dt" sz="half" idx="10"/>
          </p:nvPr>
        </p:nvSpPr>
        <p:spPr/>
        <p:txBody>
          <a:bodyPr/>
          <a:lstStyle/>
          <a:p>
            <a:fld id="{C673FE50-EC67-4AD7-BC13-31F4524965B3}" type="datetimeFigureOut">
              <a:rPr lang="en-US" smtClean="0"/>
              <a:t>9/15/2025</a:t>
            </a:fld>
            <a:endParaRPr lang="en-US"/>
          </a:p>
        </p:txBody>
      </p:sp>
      <p:sp>
        <p:nvSpPr>
          <p:cNvPr id="4" name="Footer Placeholder 3">
            <a:extLst>
              <a:ext uri="{FF2B5EF4-FFF2-40B4-BE49-F238E27FC236}">
                <a16:creationId xmlns:a16="http://schemas.microsoft.com/office/drawing/2014/main" id="{B016B1AB-4C89-CD27-7B62-29B59B979C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0CCD97-4D29-1E48-FABA-9959DC37D4E1}"/>
              </a:ext>
            </a:extLst>
          </p:cNvPr>
          <p:cNvSpPr>
            <a:spLocks noGrp="1"/>
          </p:cNvSpPr>
          <p:nvPr>
            <p:ph type="sldNum" sz="quarter" idx="12"/>
          </p:nvPr>
        </p:nvSpPr>
        <p:spPr/>
        <p:txBody>
          <a:bodyPr/>
          <a:lstStyle/>
          <a:p>
            <a:fld id="{B7940EF3-9989-418F-B99B-A913DF3B20BA}" type="slidenum">
              <a:rPr lang="en-US" smtClean="0"/>
              <a:t>‹#›</a:t>
            </a:fld>
            <a:endParaRPr lang="en-US"/>
          </a:p>
        </p:txBody>
      </p:sp>
    </p:spTree>
    <p:extLst>
      <p:ext uri="{BB962C8B-B14F-4D97-AF65-F5344CB8AC3E}">
        <p14:creationId xmlns:p14="http://schemas.microsoft.com/office/powerpoint/2010/main" val="2430516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6284C4-69B3-FFE0-4A41-884B0A955022}"/>
              </a:ext>
            </a:extLst>
          </p:cNvPr>
          <p:cNvSpPr>
            <a:spLocks noGrp="1"/>
          </p:cNvSpPr>
          <p:nvPr>
            <p:ph type="dt" sz="half" idx="10"/>
          </p:nvPr>
        </p:nvSpPr>
        <p:spPr/>
        <p:txBody>
          <a:bodyPr/>
          <a:lstStyle/>
          <a:p>
            <a:fld id="{C673FE50-EC67-4AD7-BC13-31F4524965B3}" type="datetimeFigureOut">
              <a:rPr lang="en-US" smtClean="0"/>
              <a:t>9/15/2025</a:t>
            </a:fld>
            <a:endParaRPr lang="en-US"/>
          </a:p>
        </p:txBody>
      </p:sp>
      <p:sp>
        <p:nvSpPr>
          <p:cNvPr id="3" name="Footer Placeholder 2">
            <a:extLst>
              <a:ext uri="{FF2B5EF4-FFF2-40B4-BE49-F238E27FC236}">
                <a16:creationId xmlns:a16="http://schemas.microsoft.com/office/drawing/2014/main" id="{FF0E596D-78EA-A88E-F5D8-59AF1FF1BDB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D862CC2-1050-BF0F-51C3-51E391FA0DC6}"/>
              </a:ext>
            </a:extLst>
          </p:cNvPr>
          <p:cNvSpPr>
            <a:spLocks noGrp="1"/>
          </p:cNvSpPr>
          <p:nvPr>
            <p:ph type="sldNum" sz="quarter" idx="12"/>
          </p:nvPr>
        </p:nvSpPr>
        <p:spPr/>
        <p:txBody>
          <a:bodyPr/>
          <a:lstStyle/>
          <a:p>
            <a:fld id="{B7940EF3-9989-418F-B99B-A913DF3B20BA}" type="slidenum">
              <a:rPr lang="en-US" smtClean="0"/>
              <a:t>‹#›</a:t>
            </a:fld>
            <a:endParaRPr lang="en-US"/>
          </a:p>
        </p:txBody>
      </p:sp>
    </p:spTree>
    <p:extLst>
      <p:ext uri="{BB962C8B-B14F-4D97-AF65-F5344CB8AC3E}">
        <p14:creationId xmlns:p14="http://schemas.microsoft.com/office/powerpoint/2010/main" val="2733246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BE4BBF-7BD3-3605-F268-6C7D8FEFE1C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0E66E98-6236-7DAF-1666-C366361EFD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A562062-72B2-2E1A-04E1-E54BAADD9B2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B34AA0-C7DC-2505-9CCF-3C7A7221E3B2}"/>
              </a:ext>
            </a:extLst>
          </p:cNvPr>
          <p:cNvSpPr>
            <a:spLocks noGrp="1"/>
          </p:cNvSpPr>
          <p:nvPr>
            <p:ph type="dt" sz="half" idx="10"/>
          </p:nvPr>
        </p:nvSpPr>
        <p:spPr/>
        <p:txBody>
          <a:bodyPr/>
          <a:lstStyle/>
          <a:p>
            <a:fld id="{C673FE50-EC67-4AD7-BC13-31F4524965B3}" type="datetimeFigureOut">
              <a:rPr lang="en-US" smtClean="0"/>
              <a:t>9/15/2025</a:t>
            </a:fld>
            <a:endParaRPr lang="en-US"/>
          </a:p>
        </p:txBody>
      </p:sp>
      <p:sp>
        <p:nvSpPr>
          <p:cNvPr id="6" name="Footer Placeholder 5">
            <a:extLst>
              <a:ext uri="{FF2B5EF4-FFF2-40B4-BE49-F238E27FC236}">
                <a16:creationId xmlns:a16="http://schemas.microsoft.com/office/drawing/2014/main" id="{DF81B063-8F2B-641E-CECC-9779518706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5EE77CB-5AD6-872F-F36B-A265B3C5B8BE}"/>
              </a:ext>
            </a:extLst>
          </p:cNvPr>
          <p:cNvSpPr>
            <a:spLocks noGrp="1"/>
          </p:cNvSpPr>
          <p:nvPr>
            <p:ph type="sldNum" sz="quarter" idx="12"/>
          </p:nvPr>
        </p:nvSpPr>
        <p:spPr/>
        <p:txBody>
          <a:bodyPr/>
          <a:lstStyle/>
          <a:p>
            <a:fld id="{B7940EF3-9989-418F-B99B-A913DF3B20BA}" type="slidenum">
              <a:rPr lang="en-US" smtClean="0"/>
              <a:t>‹#›</a:t>
            </a:fld>
            <a:endParaRPr lang="en-US"/>
          </a:p>
        </p:txBody>
      </p:sp>
    </p:spTree>
    <p:extLst>
      <p:ext uri="{BB962C8B-B14F-4D97-AF65-F5344CB8AC3E}">
        <p14:creationId xmlns:p14="http://schemas.microsoft.com/office/powerpoint/2010/main" val="17166499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3E946-A60C-C22F-4F3E-9BFFC37F15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6DA92A1-172A-3B88-7E06-E3656DF3A2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A7FF694-6253-C228-BF77-FD50C53882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9E4251-78A1-9596-4414-F0FE16135C58}"/>
              </a:ext>
            </a:extLst>
          </p:cNvPr>
          <p:cNvSpPr>
            <a:spLocks noGrp="1"/>
          </p:cNvSpPr>
          <p:nvPr>
            <p:ph type="dt" sz="half" idx="10"/>
          </p:nvPr>
        </p:nvSpPr>
        <p:spPr/>
        <p:txBody>
          <a:bodyPr/>
          <a:lstStyle/>
          <a:p>
            <a:fld id="{C673FE50-EC67-4AD7-BC13-31F4524965B3}" type="datetimeFigureOut">
              <a:rPr lang="en-US" smtClean="0"/>
              <a:t>9/15/2025</a:t>
            </a:fld>
            <a:endParaRPr lang="en-US"/>
          </a:p>
        </p:txBody>
      </p:sp>
      <p:sp>
        <p:nvSpPr>
          <p:cNvPr id="6" name="Footer Placeholder 5">
            <a:extLst>
              <a:ext uri="{FF2B5EF4-FFF2-40B4-BE49-F238E27FC236}">
                <a16:creationId xmlns:a16="http://schemas.microsoft.com/office/drawing/2014/main" id="{14D431CA-8D28-EDB6-D804-A94CDEB746D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8F57FDD-B37A-0871-2D3D-906A050D3A0D}"/>
              </a:ext>
            </a:extLst>
          </p:cNvPr>
          <p:cNvSpPr>
            <a:spLocks noGrp="1"/>
          </p:cNvSpPr>
          <p:nvPr>
            <p:ph type="sldNum" sz="quarter" idx="12"/>
          </p:nvPr>
        </p:nvSpPr>
        <p:spPr/>
        <p:txBody>
          <a:bodyPr/>
          <a:lstStyle/>
          <a:p>
            <a:fld id="{B7940EF3-9989-418F-B99B-A913DF3B20BA}" type="slidenum">
              <a:rPr lang="en-US" smtClean="0"/>
              <a:t>‹#›</a:t>
            </a:fld>
            <a:endParaRPr lang="en-US"/>
          </a:p>
        </p:txBody>
      </p:sp>
    </p:spTree>
    <p:extLst>
      <p:ext uri="{BB962C8B-B14F-4D97-AF65-F5344CB8AC3E}">
        <p14:creationId xmlns:p14="http://schemas.microsoft.com/office/powerpoint/2010/main" val="10719420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7F9E1-620B-0919-9BB1-F351AE9C61A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18C417D-D870-91E3-E80A-055CD2865F6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83D1E2E-AA44-CB04-55F5-3D85C4E7BB71}"/>
              </a:ext>
            </a:extLst>
          </p:cNvPr>
          <p:cNvSpPr>
            <a:spLocks noGrp="1"/>
          </p:cNvSpPr>
          <p:nvPr>
            <p:ph type="dt" sz="half" idx="10"/>
          </p:nvPr>
        </p:nvSpPr>
        <p:spPr/>
        <p:txBody>
          <a:bodyPr/>
          <a:lstStyle/>
          <a:p>
            <a:fld id="{C673FE50-EC67-4AD7-BC13-31F4524965B3}" type="datetimeFigureOut">
              <a:rPr lang="en-US" smtClean="0"/>
              <a:t>9/15/2025</a:t>
            </a:fld>
            <a:endParaRPr lang="en-US"/>
          </a:p>
        </p:txBody>
      </p:sp>
      <p:sp>
        <p:nvSpPr>
          <p:cNvPr id="5" name="Footer Placeholder 4">
            <a:extLst>
              <a:ext uri="{FF2B5EF4-FFF2-40B4-BE49-F238E27FC236}">
                <a16:creationId xmlns:a16="http://schemas.microsoft.com/office/drawing/2014/main" id="{2FB6C87C-973B-5A94-69F5-4AACB15FC7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48F9D26-D886-0C19-2819-E47A2D6DD07D}"/>
              </a:ext>
            </a:extLst>
          </p:cNvPr>
          <p:cNvSpPr>
            <a:spLocks noGrp="1"/>
          </p:cNvSpPr>
          <p:nvPr>
            <p:ph type="sldNum" sz="quarter" idx="12"/>
          </p:nvPr>
        </p:nvSpPr>
        <p:spPr/>
        <p:txBody>
          <a:bodyPr/>
          <a:lstStyle/>
          <a:p>
            <a:fld id="{B7940EF3-9989-418F-B99B-A913DF3B20BA}" type="slidenum">
              <a:rPr lang="en-US" smtClean="0"/>
              <a:t>‹#›</a:t>
            </a:fld>
            <a:endParaRPr lang="en-US"/>
          </a:p>
        </p:txBody>
      </p:sp>
    </p:spTree>
    <p:extLst>
      <p:ext uri="{BB962C8B-B14F-4D97-AF65-F5344CB8AC3E}">
        <p14:creationId xmlns:p14="http://schemas.microsoft.com/office/powerpoint/2010/main" val="24466552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5878A26-94BE-514F-F2F8-0E39A4BA943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53828E5-1C16-CB35-3C9D-02934BCE6D2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98A9D7-4359-ED9C-B0E8-EFB2878F4673}"/>
              </a:ext>
            </a:extLst>
          </p:cNvPr>
          <p:cNvSpPr>
            <a:spLocks noGrp="1"/>
          </p:cNvSpPr>
          <p:nvPr>
            <p:ph type="dt" sz="half" idx="10"/>
          </p:nvPr>
        </p:nvSpPr>
        <p:spPr/>
        <p:txBody>
          <a:bodyPr/>
          <a:lstStyle/>
          <a:p>
            <a:fld id="{C673FE50-EC67-4AD7-BC13-31F4524965B3}" type="datetimeFigureOut">
              <a:rPr lang="en-US" smtClean="0"/>
              <a:t>9/15/2025</a:t>
            </a:fld>
            <a:endParaRPr lang="en-US"/>
          </a:p>
        </p:txBody>
      </p:sp>
      <p:sp>
        <p:nvSpPr>
          <p:cNvPr id="5" name="Footer Placeholder 4">
            <a:extLst>
              <a:ext uri="{FF2B5EF4-FFF2-40B4-BE49-F238E27FC236}">
                <a16:creationId xmlns:a16="http://schemas.microsoft.com/office/drawing/2014/main" id="{4523D16D-8253-4EEF-2961-F09E8A3B7E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A54901-EFF5-6F25-67CA-76761611996A}"/>
              </a:ext>
            </a:extLst>
          </p:cNvPr>
          <p:cNvSpPr>
            <a:spLocks noGrp="1"/>
          </p:cNvSpPr>
          <p:nvPr>
            <p:ph type="sldNum" sz="quarter" idx="12"/>
          </p:nvPr>
        </p:nvSpPr>
        <p:spPr/>
        <p:txBody>
          <a:bodyPr/>
          <a:lstStyle/>
          <a:p>
            <a:fld id="{B7940EF3-9989-418F-B99B-A913DF3B20BA}" type="slidenum">
              <a:rPr lang="en-US" smtClean="0"/>
              <a:t>‹#›</a:t>
            </a:fld>
            <a:endParaRPr lang="en-US"/>
          </a:p>
        </p:txBody>
      </p:sp>
    </p:spTree>
    <p:extLst>
      <p:ext uri="{BB962C8B-B14F-4D97-AF65-F5344CB8AC3E}">
        <p14:creationId xmlns:p14="http://schemas.microsoft.com/office/powerpoint/2010/main" val="4077787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B3FDC9-69E4-4FBA-4A02-ACCFDD255C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BAA7B85-31F8-D4B7-207A-51DF3316124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0992E6-F00E-9AC3-303D-6AEA14BFD4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673FE50-EC67-4AD7-BC13-31F4524965B3}" type="datetimeFigureOut">
              <a:rPr lang="en-US" smtClean="0"/>
              <a:t>9/15/2025</a:t>
            </a:fld>
            <a:endParaRPr lang="en-US"/>
          </a:p>
        </p:txBody>
      </p:sp>
      <p:sp>
        <p:nvSpPr>
          <p:cNvPr id="5" name="Footer Placeholder 4">
            <a:extLst>
              <a:ext uri="{FF2B5EF4-FFF2-40B4-BE49-F238E27FC236}">
                <a16:creationId xmlns:a16="http://schemas.microsoft.com/office/drawing/2014/main" id="{95488937-722D-00FF-98D2-A97458702F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23D5A92-1264-A262-2AD7-D06B00488F9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7940EF3-9989-418F-B99B-A913DF3B20BA}" type="slidenum">
              <a:rPr lang="en-US" smtClean="0"/>
              <a:t>‹#›</a:t>
            </a:fld>
            <a:endParaRPr lang="en-US"/>
          </a:p>
        </p:txBody>
      </p:sp>
    </p:spTree>
    <p:extLst>
      <p:ext uri="{BB962C8B-B14F-4D97-AF65-F5344CB8AC3E}">
        <p14:creationId xmlns:p14="http://schemas.microsoft.com/office/powerpoint/2010/main" val="36236973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52D36B-9788-45D8-67ED-8DA10853E418}"/>
              </a:ext>
            </a:extLst>
          </p:cNvPr>
          <p:cNvSpPr>
            <a:spLocks noGrp="1"/>
          </p:cNvSpPr>
          <p:nvPr>
            <p:ph type="ctrTitle"/>
          </p:nvPr>
        </p:nvSpPr>
        <p:spPr>
          <a:xfrm>
            <a:off x="1524000" y="2235200"/>
            <a:ext cx="9144000" cy="2387600"/>
          </a:xfrm>
        </p:spPr>
        <p:txBody>
          <a:bodyPr anchor="ctr"/>
          <a:lstStyle/>
          <a:p>
            <a:r>
              <a:rPr lang="en-US" dirty="0"/>
              <a:t>Synthesizing GSBPM Updates</a:t>
            </a:r>
          </a:p>
        </p:txBody>
      </p:sp>
    </p:spTree>
    <p:extLst>
      <p:ext uri="{BB962C8B-B14F-4D97-AF65-F5344CB8AC3E}">
        <p14:creationId xmlns:p14="http://schemas.microsoft.com/office/powerpoint/2010/main" val="40542996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F4C18A-B9CA-64CC-2442-C450306918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F0AC32-7995-3883-B46C-B038D5D173CE}"/>
              </a:ext>
            </a:extLst>
          </p:cNvPr>
          <p:cNvSpPr>
            <a:spLocks noGrp="1"/>
          </p:cNvSpPr>
          <p:nvPr>
            <p:ph type="title"/>
          </p:nvPr>
        </p:nvSpPr>
        <p:spPr/>
        <p:txBody>
          <a:bodyPr/>
          <a:lstStyle/>
          <a:p>
            <a:r>
              <a:rPr lang="en-US" dirty="0"/>
              <a:t>Update</a:t>
            </a:r>
          </a:p>
        </p:txBody>
      </p:sp>
      <p:sp>
        <p:nvSpPr>
          <p:cNvPr id="3" name="Content Placeholder 2">
            <a:extLst>
              <a:ext uri="{FF2B5EF4-FFF2-40B4-BE49-F238E27FC236}">
                <a16:creationId xmlns:a16="http://schemas.microsoft.com/office/drawing/2014/main" id="{75D21E5D-9949-6CA8-FBC7-E5D5DF33C96E}"/>
              </a:ext>
            </a:extLst>
          </p:cNvPr>
          <p:cNvSpPr>
            <a:spLocks noGrp="1"/>
          </p:cNvSpPr>
          <p:nvPr>
            <p:ph idx="1"/>
          </p:nvPr>
        </p:nvSpPr>
        <p:spPr/>
        <p:txBody>
          <a:bodyPr>
            <a:normAutofit/>
          </a:bodyPr>
          <a:lstStyle/>
          <a:p>
            <a:pPr marL="514350" indent="-514350">
              <a:buFont typeface="+mj-lt"/>
              <a:buAutoNum type="arabicPeriod"/>
            </a:pPr>
            <a:r>
              <a:rPr lang="en-US" sz="3200" dirty="0"/>
              <a:t>Environment not ready for testing</a:t>
            </a:r>
          </a:p>
          <a:p>
            <a:pPr marL="514350" indent="-514350">
              <a:buFont typeface="+mj-lt"/>
              <a:buAutoNum type="arabicPeriod"/>
            </a:pPr>
            <a:r>
              <a:rPr lang="en-US" sz="3200" dirty="0"/>
              <a:t>(Radia) Proof-of-concept synthesizing one draft GSBPM update, from one deck.</a:t>
            </a:r>
          </a:p>
          <a:p>
            <a:pPr marL="514350" indent="-514350">
              <a:buFont typeface="+mj-lt"/>
              <a:buAutoNum type="arabicPeriod"/>
            </a:pPr>
            <a:r>
              <a:rPr lang="en-US" sz="3200" dirty="0"/>
              <a:t>2</a:t>
            </a:r>
            <a:r>
              <a:rPr lang="en-US" sz="3200" baseline="30000" dirty="0"/>
              <a:t>nd</a:t>
            </a:r>
            <a:r>
              <a:rPr lang="en-US" sz="3200" dirty="0"/>
              <a:t> workflow designed but needs input. </a:t>
            </a:r>
          </a:p>
        </p:txBody>
      </p:sp>
    </p:spTree>
    <p:extLst>
      <p:ext uri="{BB962C8B-B14F-4D97-AF65-F5344CB8AC3E}">
        <p14:creationId xmlns:p14="http://schemas.microsoft.com/office/powerpoint/2010/main" val="22151555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1332CF-E2BE-C958-3D2A-A9B62D6666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292134-10D0-D96D-E405-47DF976A9F2A}"/>
              </a:ext>
            </a:extLst>
          </p:cNvPr>
          <p:cNvSpPr>
            <a:spLocks noGrp="1"/>
          </p:cNvSpPr>
          <p:nvPr>
            <p:ph type="ctrTitle"/>
          </p:nvPr>
        </p:nvSpPr>
        <p:spPr>
          <a:xfrm>
            <a:off x="1524000" y="2235200"/>
            <a:ext cx="9144000" cy="2387600"/>
          </a:xfrm>
        </p:spPr>
        <p:txBody>
          <a:bodyPr anchor="ctr"/>
          <a:lstStyle/>
          <a:p>
            <a:r>
              <a:rPr lang="en-US" dirty="0"/>
              <a:t>Proof-of-Concept</a:t>
            </a:r>
          </a:p>
        </p:txBody>
      </p:sp>
    </p:spTree>
    <p:extLst>
      <p:ext uri="{BB962C8B-B14F-4D97-AF65-F5344CB8AC3E}">
        <p14:creationId xmlns:p14="http://schemas.microsoft.com/office/powerpoint/2010/main" val="4143648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1EFDF-9FE2-56EF-1854-FA28AD9CED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ECFD33-E7E4-575D-9BCC-DB70021E7F57}"/>
              </a:ext>
            </a:extLst>
          </p:cNvPr>
          <p:cNvSpPr>
            <a:spLocks noGrp="1"/>
          </p:cNvSpPr>
          <p:nvPr>
            <p:ph type="title"/>
          </p:nvPr>
        </p:nvSpPr>
        <p:spPr/>
        <p:txBody>
          <a:bodyPr/>
          <a:lstStyle/>
          <a:p>
            <a:r>
              <a:rPr lang="en-US" dirty="0"/>
              <a:t>Original description</a:t>
            </a:r>
          </a:p>
        </p:txBody>
      </p:sp>
      <p:sp>
        <p:nvSpPr>
          <p:cNvPr id="3" name="Content Placeholder 2">
            <a:extLst>
              <a:ext uri="{FF2B5EF4-FFF2-40B4-BE49-F238E27FC236}">
                <a16:creationId xmlns:a16="http://schemas.microsoft.com/office/drawing/2014/main" id="{2652E1A4-310C-DCE4-2DC4-DF83EE98BE70}"/>
              </a:ext>
            </a:extLst>
          </p:cNvPr>
          <p:cNvSpPr>
            <a:spLocks noGrp="1"/>
          </p:cNvSpPr>
          <p:nvPr>
            <p:ph idx="1"/>
          </p:nvPr>
        </p:nvSpPr>
        <p:spPr>
          <a:xfrm>
            <a:off x="838200" y="1371600"/>
            <a:ext cx="11049000" cy="4479686"/>
          </a:xfrm>
        </p:spPr>
        <p:txBody>
          <a:bodyPr>
            <a:noAutofit/>
          </a:bodyPr>
          <a:lstStyle/>
          <a:p>
            <a:pPr marL="0" indent="0">
              <a:lnSpc>
                <a:spcPct val="100000"/>
              </a:lnSpc>
              <a:spcBef>
                <a:spcPts val="0"/>
              </a:spcBef>
              <a:buNone/>
            </a:pPr>
            <a:r>
              <a:rPr lang="en-US" sz="2000" dirty="0"/>
              <a:t>{"</a:t>
            </a:r>
            <a:r>
              <a:rPr lang="en-US" sz="2000" dirty="0">
                <a:solidFill>
                  <a:srgbClr val="FF0000"/>
                </a:solidFill>
              </a:rPr>
              <a:t>id</a:t>
            </a:r>
            <a:r>
              <a:rPr lang="en-US" sz="2000" dirty="0"/>
              <a:t>": "</a:t>
            </a:r>
            <a:r>
              <a:rPr lang="en-US" sz="2000" dirty="0">
                <a:solidFill>
                  <a:srgbClr val="3B7D23"/>
                </a:solidFill>
              </a:rPr>
              <a:t>4.4</a:t>
            </a:r>
            <a:r>
              <a:rPr lang="en-US" sz="2000" dirty="0"/>
              <a:t>",</a:t>
            </a:r>
          </a:p>
          <a:p>
            <a:pPr marL="0" indent="0">
              <a:lnSpc>
                <a:spcPct val="100000"/>
              </a:lnSpc>
              <a:spcBef>
                <a:spcPts val="0"/>
              </a:spcBef>
              <a:buNone/>
            </a:pPr>
            <a:r>
              <a:rPr lang="en-US" sz="2000" dirty="0"/>
              <a:t>  "</a:t>
            </a:r>
            <a:r>
              <a:rPr lang="en-US" sz="2000" dirty="0">
                <a:solidFill>
                  <a:srgbClr val="FF0000"/>
                </a:solidFill>
              </a:rPr>
              <a:t>text</a:t>
            </a:r>
            <a:r>
              <a:rPr lang="en-US" sz="2000" dirty="0"/>
              <a:t>": "</a:t>
            </a:r>
            <a:r>
              <a:rPr lang="en-US" sz="2000" dirty="0" err="1">
                <a:solidFill>
                  <a:srgbClr val="3B7D23"/>
                </a:solidFill>
              </a:rPr>
              <a:t>Finalise</a:t>
            </a:r>
            <a:r>
              <a:rPr lang="en-US" sz="2000" dirty="0">
                <a:solidFill>
                  <a:srgbClr val="3B7D23"/>
                </a:solidFill>
              </a:rPr>
              <a:t> collection"</a:t>
            </a:r>
            <a:r>
              <a:rPr lang="en-US" sz="2000" dirty="0"/>
              <a:t>,</a:t>
            </a:r>
          </a:p>
          <a:p>
            <a:pPr marL="0" indent="0">
              <a:lnSpc>
                <a:spcPct val="100000"/>
              </a:lnSpc>
              <a:spcBef>
                <a:spcPts val="0"/>
              </a:spcBef>
              <a:buNone/>
            </a:pPr>
            <a:r>
              <a:rPr lang="en-US" sz="2000" dirty="0"/>
              <a:t>  "</a:t>
            </a:r>
            <a:r>
              <a:rPr lang="en-US" sz="2000" dirty="0">
                <a:solidFill>
                  <a:srgbClr val="FF0000"/>
                </a:solidFill>
              </a:rPr>
              <a:t>description</a:t>
            </a:r>
            <a:r>
              <a:rPr lang="en-US" sz="2000" dirty="0"/>
              <a:t>": "</a:t>
            </a:r>
            <a:r>
              <a:rPr lang="en-US" sz="2000" dirty="0">
                <a:solidFill>
                  <a:srgbClr val="3B7D23"/>
                </a:solidFill>
              </a:rPr>
              <a:t>This sub-process includes loading the collected data and metadata into a suitable electronic environment for further processing. It may include manual or automatic data capture, for example, using clerical staff or optical character recognition tools to extract information from paper questionnaires, or converting the formats of files or encoding the variables received from other </a:t>
            </a:r>
            <a:r>
              <a:rPr lang="en-US" sz="2000" dirty="0" err="1">
                <a:solidFill>
                  <a:srgbClr val="3B7D23"/>
                </a:solidFill>
              </a:rPr>
              <a:t>organisations</a:t>
            </a:r>
            <a:r>
              <a:rPr lang="en-US" sz="2000" dirty="0">
                <a:solidFill>
                  <a:srgbClr val="3B7D23"/>
                </a:solidFill>
              </a:rPr>
              <a:t>. It may also include analysis of the metadata and </a:t>
            </a:r>
            <a:r>
              <a:rPr lang="en-US" sz="2000" dirty="0" err="1">
                <a:solidFill>
                  <a:srgbClr val="3B7D23"/>
                </a:solidFill>
              </a:rPr>
              <a:t>paradata</a:t>
            </a:r>
            <a:r>
              <a:rPr lang="en-US" sz="2000" dirty="0">
                <a:solidFill>
                  <a:srgbClr val="3B7D23"/>
                </a:solidFill>
              </a:rPr>
              <a:t> associated with collection to ensure the collection activities have met requirements. In cases where there is a physical collection instrument, such as a paper questionnaire, which is not needed for further processing, this subprocess manages the archiving of that material. When the collection instrument uses software such as an API or an app, this sub-process also includes the versioning and archiving of these.</a:t>
            </a:r>
            <a:r>
              <a:rPr lang="en-US" sz="2000" dirty="0"/>
              <a:t>"}</a:t>
            </a:r>
          </a:p>
        </p:txBody>
      </p:sp>
    </p:spTree>
    <p:extLst>
      <p:ext uri="{BB962C8B-B14F-4D97-AF65-F5344CB8AC3E}">
        <p14:creationId xmlns:p14="http://schemas.microsoft.com/office/powerpoint/2010/main" val="34023701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23014B-1773-BF08-3A9C-25697AAB9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7C24A8-168D-9582-6DD6-441CA5ADB817}"/>
              </a:ext>
            </a:extLst>
          </p:cNvPr>
          <p:cNvSpPr>
            <a:spLocks noGrp="1"/>
          </p:cNvSpPr>
          <p:nvPr>
            <p:ph type="title"/>
          </p:nvPr>
        </p:nvSpPr>
        <p:spPr/>
        <p:txBody>
          <a:bodyPr/>
          <a:lstStyle/>
          <a:p>
            <a:r>
              <a:rPr lang="en-US" dirty="0"/>
              <a:t>Draft description</a:t>
            </a:r>
          </a:p>
        </p:txBody>
      </p:sp>
      <p:sp>
        <p:nvSpPr>
          <p:cNvPr id="3" name="Content Placeholder 2">
            <a:extLst>
              <a:ext uri="{FF2B5EF4-FFF2-40B4-BE49-F238E27FC236}">
                <a16:creationId xmlns:a16="http://schemas.microsoft.com/office/drawing/2014/main" id="{E282E537-76D0-5D4A-9C51-ECB88CCF1C63}"/>
              </a:ext>
            </a:extLst>
          </p:cNvPr>
          <p:cNvSpPr>
            <a:spLocks noGrp="1"/>
          </p:cNvSpPr>
          <p:nvPr>
            <p:ph idx="1"/>
          </p:nvPr>
        </p:nvSpPr>
        <p:spPr>
          <a:xfrm>
            <a:off x="838200" y="1371600"/>
            <a:ext cx="11049000" cy="4479686"/>
          </a:xfrm>
        </p:spPr>
        <p:txBody>
          <a:bodyPr>
            <a:noAutofit/>
          </a:bodyPr>
          <a:lstStyle/>
          <a:p>
            <a:pPr marL="0" indent="0">
              <a:lnSpc>
                <a:spcPct val="100000"/>
              </a:lnSpc>
              <a:spcBef>
                <a:spcPts val="0"/>
              </a:spcBef>
              <a:buNone/>
            </a:pPr>
            <a:r>
              <a:rPr lang="en-US" sz="2000" dirty="0"/>
              <a:t>{"</a:t>
            </a:r>
            <a:r>
              <a:rPr lang="en-US" sz="2000" dirty="0">
                <a:solidFill>
                  <a:srgbClr val="FF0000"/>
                </a:solidFill>
              </a:rPr>
              <a:t>id</a:t>
            </a:r>
            <a:r>
              <a:rPr lang="en-US" sz="2000" dirty="0"/>
              <a:t>": "</a:t>
            </a:r>
            <a:r>
              <a:rPr lang="en-US" sz="2000" dirty="0">
                <a:solidFill>
                  <a:srgbClr val="3B7D23"/>
                </a:solidFill>
              </a:rPr>
              <a:t>4.4</a:t>
            </a:r>
            <a:r>
              <a:rPr lang="en-US" sz="2000" dirty="0"/>
              <a:t>",</a:t>
            </a:r>
          </a:p>
          <a:p>
            <a:pPr marL="0" indent="0">
              <a:lnSpc>
                <a:spcPct val="100000"/>
              </a:lnSpc>
              <a:spcBef>
                <a:spcPts val="0"/>
              </a:spcBef>
              <a:buNone/>
            </a:pPr>
            <a:r>
              <a:rPr lang="en-US" sz="2000" dirty="0"/>
              <a:t>  "</a:t>
            </a:r>
            <a:r>
              <a:rPr lang="en-US" sz="2000" dirty="0">
                <a:solidFill>
                  <a:srgbClr val="FF0000"/>
                </a:solidFill>
              </a:rPr>
              <a:t>text</a:t>
            </a:r>
            <a:r>
              <a:rPr lang="en-US" sz="2000" dirty="0"/>
              <a:t>": "</a:t>
            </a:r>
            <a:r>
              <a:rPr lang="en-US" sz="2000" dirty="0" err="1">
                <a:solidFill>
                  <a:srgbClr val="3B7D23"/>
                </a:solidFill>
              </a:rPr>
              <a:t>Finalise</a:t>
            </a:r>
            <a:r>
              <a:rPr lang="en-US" sz="2000" dirty="0">
                <a:solidFill>
                  <a:srgbClr val="3B7D23"/>
                </a:solidFill>
              </a:rPr>
              <a:t> collection"</a:t>
            </a:r>
            <a:r>
              <a:rPr lang="en-US" sz="2000" dirty="0"/>
              <a:t>,</a:t>
            </a:r>
          </a:p>
          <a:p>
            <a:pPr marL="0" indent="0">
              <a:lnSpc>
                <a:spcPct val="100000"/>
              </a:lnSpc>
              <a:spcBef>
                <a:spcPts val="0"/>
              </a:spcBef>
              <a:buNone/>
            </a:pPr>
            <a:r>
              <a:rPr lang="en-US" sz="2000" dirty="0"/>
              <a:t>  "</a:t>
            </a:r>
            <a:r>
              <a:rPr lang="en-US" sz="2000" dirty="0">
                <a:solidFill>
                  <a:srgbClr val="FF0000"/>
                </a:solidFill>
              </a:rPr>
              <a:t>description</a:t>
            </a:r>
            <a:r>
              <a:rPr lang="en-US" sz="2000" dirty="0"/>
              <a:t>": "</a:t>
            </a:r>
            <a:r>
              <a:rPr lang="en-US" sz="2000" dirty="0">
                <a:solidFill>
                  <a:srgbClr val="3B7D23"/>
                </a:solidFill>
              </a:rPr>
              <a:t>This sub-process includes loading the collected data and metadata into a suitable electronic environment for further processing</a:t>
            </a:r>
            <a:r>
              <a:rPr lang="en-US" sz="2000" b="1" dirty="0">
                <a:solidFill>
                  <a:srgbClr val="3B7D23"/>
                </a:solidFill>
              </a:rPr>
              <a:t>. When handling 'risky' or sensitive data, this involves utilizing designated 'trusted environments' equipped with confidential computing and other emerging technologies</a:t>
            </a:r>
            <a:r>
              <a:rPr lang="en-US" sz="2000" dirty="0">
                <a:solidFill>
                  <a:srgbClr val="3B7D23"/>
                </a:solidFill>
              </a:rPr>
              <a:t>, adhering to enhanced security, privacy, and confidentiality protocols during ingestion and management. Data capture, whether manual or automatic (e.g., clerical, OCR, format conversion, variable encoding), may be performed internally or managed through the receipt, verification, and oversight of data and metadata loaded by external suppliers. Following the loading and an initial analysis of associated metadata and </a:t>
            </a:r>
            <a:r>
              <a:rPr lang="en-US" sz="2000" dirty="0" err="1">
                <a:solidFill>
                  <a:srgbClr val="3B7D23"/>
                </a:solidFill>
              </a:rPr>
              <a:t>paradata</a:t>
            </a:r>
            <a:r>
              <a:rPr lang="en-US" sz="2000" dirty="0">
                <a:solidFill>
                  <a:srgbClr val="3B7D23"/>
                </a:solidFill>
              </a:rPr>
              <a:t> to confirm that collection activities have met requirements, the collected data and metadata undergo a formal 'certification' by subject matter specialists, serving as an explicit quality assurance and accountability gate. The data finalized and certified in this sub-process, especially when originating from or processed within a trusted environment, is designated as the definitive 'master copy' for subsequent stages, thereby eliminating duplicative data holdings. Finally, this sub-process also manages the archiving of physical collection instruments (such as paper questionnaires) and includes the versioning and archiving of software-based collection instruments (like APIs or apps).</a:t>
            </a:r>
            <a:r>
              <a:rPr lang="en-US" sz="2000" dirty="0"/>
              <a:t>"}</a:t>
            </a:r>
          </a:p>
        </p:txBody>
      </p:sp>
    </p:spTree>
    <p:extLst>
      <p:ext uri="{BB962C8B-B14F-4D97-AF65-F5344CB8AC3E}">
        <p14:creationId xmlns:p14="http://schemas.microsoft.com/office/powerpoint/2010/main" val="21087317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283BE-6A4D-09F3-EBEB-F05FE82CD8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BE9856-A79A-0977-A985-81482A8C3A8E}"/>
              </a:ext>
            </a:extLst>
          </p:cNvPr>
          <p:cNvSpPr>
            <a:spLocks noGrp="1"/>
          </p:cNvSpPr>
          <p:nvPr>
            <p:ph type="ctrTitle"/>
          </p:nvPr>
        </p:nvSpPr>
        <p:spPr>
          <a:xfrm>
            <a:off x="1524000" y="2235200"/>
            <a:ext cx="9144000" cy="2387600"/>
          </a:xfrm>
        </p:spPr>
        <p:txBody>
          <a:bodyPr anchor="ctr"/>
          <a:lstStyle/>
          <a:p>
            <a:r>
              <a:rPr lang="en-US" dirty="0"/>
              <a:t>Workflow</a:t>
            </a:r>
          </a:p>
        </p:txBody>
      </p:sp>
    </p:spTree>
    <p:extLst>
      <p:ext uri="{BB962C8B-B14F-4D97-AF65-F5344CB8AC3E}">
        <p14:creationId xmlns:p14="http://schemas.microsoft.com/office/powerpoint/2010/main" val="38074644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D2B4F-385B-C5AC-78FD-54DBAAE4CC1B}"/>
              </a:ext>
            </a:extLst>
          </p:cNvPr>
          <p:cNvSpPr>
            <a:spLocks noGrp="1"/>
          </p:cNvSpPr>
          <p:nvPr>
            <p:ph type="title"/>
          </p:nvPr>
        </p:nvSpPr>
        <p:spPr/>
        <p:txBody>
          <a:bodyPr/>
          <a:lstStyle/>
          <a:p>
            <a:r>
              <a:rPr lang="en-US" dirty="0"/>
              <a:t>Workflow outline</a:t>
            </a:r>
          </a:p>
        </p:txBody>
      </p:sp>
      <p:sp>
        <p:nvSpPr>
          <p:cNvPr id="3" name="Content Placeholder 2">
            <a:extLst>
              <a:ext uri="{FF2B5EF4-FFF2-40B4-BE49-F238E27FC236}">
                <a16:creationId xmlns:a16="http://schemas.microsoft.com/office/drawing/2014/main" id="{28475440-7316-0C45-0245-1C24E7B33DD0}"/>
              </a:ext>
            </a:extLst>
          </p:cNvPr>
          <p:cNvSpPr>
            <a:spLocks noGrp="1"/>
          </p:cNvSpPr>
          <p:nvPr>
            <p:ph idx="1"/>
          </p:nvPr>
        </p:nvSpPr>
        <p:spPr/>
        <p:txBody>
          <a:bodyPr>
            <a:normAutofit/>
          </a:bodyPr>
          <a:lstStyle/>
          <a:p>
            <a:pPr marL="514350" indent="-514350">
              <a:buFont typeface="+mj-lt"/>
              <a:buAutoNum type="arabicPeriod"/>
            </a:pPr>
            <a:r>
              <a:rPr lang="en-US" sz="3200" dirty="0"/>
              <a:t>Apply structure to GSBPM content</a:t>
            </a:r>
          </a:p>
          <a:p>
            <a:pPr marL="514350" indent="-514350">
              <a:buFont typeface="+mj-lt"/>
              <a:buAutoNum type="arabicPeriod"/>
            </a:pPr>
            <a:r>
              <a:rPr lang="en-US" sz="3200" dirty="0"/>
              <a:t>Extract updates from strategic decks</a:t>
            </a:r>
          </a:p>
          <a:p>
            <a:pPr marL="514350" indent="-514350">
              <a:buFont typeface="+mj-lt"/>
              <a:buAutoNum type="arabicPeriod"/>
            </a:pPr>
            <a:r>
              <a:rPr lang="en-US" sz="3200" dirty="0"/>
              <a:t>Layer-in AI reasoning on updates</a:t>
            </a:r>
          </a:p>
          <a:p>
            <a:pPr marL="514350" indent="-514350">
              <a:buFont typeface="+mj-lt"/>
              <a:buAutoNum type="arabicPeriod"/>
            </a:pPr>
            <a:r>
              <a:rPr lang="en-US" sz="3200" dirty="0"/>
              <a:t>Aggregate updates per GSBPM (sub-)phase description</a:t>
            </a:r>
          </a:p>
          <a:p>
            <a:pPr marL="514350" indent="-514350">
              <a:buFont typeface="+mj-lt"/>
              <a:buAutoNum type="arabicPeriod"/>
            </a:pPr>
            <a:r>
              <a:rPr lang="en-US" sz="3200" dirty="0"/>
              <a:t>LLM drafts updated description</a:t>
            </a:r>
          </a:p>
        </p:txBody>
      </p:sp>
    </p:spTree>
    <p:extLst>
      <p:ext uri="{BB962C8B-B14F-4D97-AF65-F5344CB8AC3E}">
        <p14:creationId xmlns:p14="http://schemas.microsoft.com/office/powerpoint/2010/main" val="208540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18B0D2-7F6B-CE28-8628-4A6D2B4D9792}"/>
              </a:ext>
            </a:extLst>
          </p:cNvPr>
          <p:cNvSpPr>
            <a:spLocks noGrp="1"/>
          </p:cNvSpPr>
          <p:nvPr>
            <p:ph type="title"/>
          </p:nvPr>
        </p:nvSpPr>
        <p:spPr/>
        <p:txBody>
          <a:bodyPr/>
          <a:lstStyle/>
          <a:p>
            <a:r>
              <a:rPr lang="en-US" dirty="0"/>
              <a:t>1. Apply structure to GSBPM content </a:t>
            </a:r>
          </a:p>
        </p:txBody>
      </p:sp>
      <p:sp>
        <p:nvSpPr>
          <p:cNvPr id="3" name="Content Placeholder 2">
            <a:extLst>
              <a:ext uri="{FF2B5EF4-FFF2-40B4-BE49-F238E27FC236}">
                <a16:creationId xmlns:a16="http://schemas.microsoft.com/office/drawing/2014/main" id="{53E6D17F-0985-BAD5-194E-BCFEAC4FB617}"/>
              </a:ext>
            </a:extLst>
          </p:cNvPr>
          <p:cNvSpPr>
            <a:spLocks noGrp="1"/>
          </p:cNvSpPr>
          <p:nvPr>
            <p:ph idx="1"/>
          </p:nvPr>
        </p:nvSpPr>
        <p:spPr>
          <a:xfrm>
            <a:off x="838200" y="1825625"/>
            <a:ext cx="10515600" cy="765175"/>
          </a:xfrm>
        </p:spPr>
        <p:txBody>
          <a:bodyPr/>
          <a:lstStyle/>
          <a:p>
            <a:r>
              <a:rPr lang="en-US" dirty="0"/>
              <a:t>Extract data from GSBPM documentation</a:t>
            </a:r>
          </a:p>
        </p:txBody>
      </p:sp>
      <p:grpSp>
        <p:nvGrpSpPr>
          <p:cNvPr id="10" name="Group 9">
            <a:extLst>
              <a:ext uri="{FF2B5EF4-FFF2-40B4-BE49-F238E27FC236}">
                <a16:creationId xmlns:a16="http://schemas.microsoft.com/office/drawing/2014/main" id="{CFB8E484-4023-7B18-6298-E4CE55B9C335}"/>
              </a:ext>
            </a:extLst>
          </p:cNvPr>
          <p:cNvGrpSpPr/>
          <p:nvPr/>
        </p:nvGrpSpPr>
        <p:grpSpPr>
          <a:xfrm>
            <a:off x="931971" y="3115628"/>
            <a:ext cx="10328059" cy="2847340"/>
            <a:chOff x="931971" y="3115628"/>
            <a:chExt cx="10328059" cy="2847340"/>
          </a:xfrm>
        </p:grpSpPr>
        <p:grpSp>
          <p:nvGrpSpPr>
            <p:cNvPr id="13" name="Group 12">
              <a:extLst>
                <a:ext uri="{FF2B5EF4-FFF2-40B4-BE49-F238E27FC236}">
                  <a16:creationId xmlns:a16="http://schemas.microsoft.com/office/drawing/2014/main" id="{0EC1C1A0-E555-5170-AE2D-ADD06D00108E}"/>
                </a:ext>
              </a:extLst>
            </p:cNvPr>
            <p:cNvGrpSpPr/>
            <p:nvPr/>
          </p:nvGrpSpPr>
          <p:grpSpPr>
            <a:xfrm>
              <a:off x="3452571" y="3685858"/>
              <a:ext cx="2864145" cy="1706880"/>
              <a:chOff x="3506175" y="2854960"/>
              <a:chExt cx="2864145" cy="1706880"/>
            </a:xfrm>
          </p:grpSpPr>
          <p:sp>
            <p:nvSpPr>
              <p:cNvPr id="6" name="Arrow: Chevron 5">
                <a:extLst>
                  <a:ext uri="{FF2B5EF4-FFF2-40B4-BE49-F238E27FC236}">
                    <a16:creationId xmlns:a16="http://schemas.microsoft.com/office/drawing/2014/main" id="{23575842-DBBA-41BB-4C86-3B352D8678F3}"/>
                  </a:ext>
                </a:extLst>
              </p:cNvPr>
              <p:cNvSpPr/>
              <p:nvPr/>
            </p:nvSpPr>
            <p:spPr>
              <a:xfrm>
                <a:off x="3506175" y="2854960"/>
                <a:ext cx="2864145" cy="1706880"/>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 name="Picture 7" descr="A circuit board in the shape of a brain">
                <a:extLst>
                  <a:ext uri="{FF2B5EF4-FFF2-40B4-BE49-F238E27FC236}">
                    <a16:creationId xmlns:a16="http://schemas.microsoft.com/office/drawing/2014/main" id="{603F9D2B-094A-C511-8C83-BCA315C716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2947" y="3022600"/>
                <a:ext cx="1371600" cy="1371600"/>
              </a:xfrm>
              <a:prstGeom prst="rect">
                <a:avLst/>
              </a:prstGeom>
            </p:spPr>
          </p:pic>
        </p:grpSp>
        <p:pic>
          <p:nvPicPr>
            <p:cNvPr id="11" name="Picture 10">
              <a:extLst>
                <a:ext uri="{FF2B5EF4-FFF2-40B4-BE49-F238E27FC236}">
                  <a16:creationId xmlns:a16="http://schemas.microsoft.com/office/drawing/2014/main" id="{1C6E4405-071A-2A2D-60E9-BE44F2946D66}"/>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7110115" y="3115628"/>
              <a:ext cx="4149915" cy="2847340"/>
            </a:xfrm>
            <a:prstGeom prst="rect">
              <a:avLst/>
            </a:prstGeom>
          </p:spPr>
        </p:pic>
        <p:sp>
          <p:nvSpPr>
            <p:cNvPr id="7" name="Flowchart: Multidocument 6">
              <a:extLst>
                <a:ext uri="{FF2B5EF4-FFF2-40B4-BE49-F238E27FC236}">
                  <a16:creationId xmlns:a16="http://schemas.microsoft.com/office/drawing/2014/main" id="{71F71524-B9F8-9B08-67DB-7084C4EDC924}"/>
                </a:ext>
              </a:extLst>
            </p:cNvPr>
            <p:cNvSpPr/>
            <p:nvPr/>
          </p:nvSpPr>
          <p:spPr>
            <a:xfrm>
              <a:off x="931971" y="3478848"/>
              <a:ext cx="1727200" cy="2120900"/>
            </a:xfrm>
            <a:prstGeom prst="flowChartMultidocument">
              <a:avLst/>
            </a:prstGeom>
            <a:blipFill>
              <a:blip r:embed="rId4"/>
              <a:stretch>
                <a:fillRect/>
              </a:stretch>
            </a:blip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25300403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2">
            <a:extLst>
              <a:ext uri="{FF2B5EF4-FFF2-40B4-BE49-F238E27FC236}">
                <a16:creationId xmlns:a16="http://schemas.microsoft.com/office/drawing/2014/main" id="{25FEB2CF-9AB8-D540-583A-11DA232A76B6}"/>
              </a:ext>
            </a:extLst>
          </p:cNvPr>
          <p:cNvSpPr txBox="1">
            <a:spLocks/>
          </p:cNvSpPr>
          <p:nvPr/>
        </p:nvSpPr>
        <p:spPr>
          <a:xfrm>
            <a:off x="838200" y="1499948"/>
            <a:ext cx="1065530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Font typeface="Arial" panose="020B0604020202020204" pitchFamily="34" charset="0"/>
              <a:buNone/>
            </a:pPr>
            <a:r>
              <a:rPr lang="en-US" sz="1800" dirty="0"/>
              <a:t>[  {"</a:t>
            </a:r>
            <a:r>
              <a:rPr lang="en-US" sz="1800" dirty="0">
                <a:solidFill>
                  <a:srgbClr val="FF0000"/>
                </a:solidFill>
              </a:rPr>
              <a:t>phase</a:t>
            </a:r>
            <a:r>
              <a:rPr lang="en-US" sz="1800" dirty="0"/>
              <a:t>": "</a:t>
            </a:r>
            <a:r>
              <a:rPr lang="en-US" sz="1800" dirty="0">
                <a:solidFill>
                  <a:srgbClr val="3B7D23"/>
                </a:solidFill>
              </a:rPr>
              <a:t>Specify needs</a:t>
            </a:r>
            <a:r>
              <a:rPr lang="en-US" sz="1800" dirty="0"/>
              <a:t>",</a:t>
            </a:r>
          </a:p>
          <a:p>
            <a:pPr marL="0" indent="0">
              <a:lnSpc>
                <a:spcPct val="100000"/>
              </a:lnSpc>
              <a:spcBef>
                <a:spcPts val="0"/>
              </a:spcBef>
              <a:buFont typeface="Arial" panose="020B0604020202020204" pitchFamily="34" charset="0"/>
              <a:buNone/>
            </a:pPr>
            <a:r>
              <a:rPr lang="en-US" sz="1800" dirty="0"/>
              <a:t>    "</a:t>
            </a:r>
            <a:r>
              <a:rPr lang="en-US" sz="1800" dirty="0">
                <a:solidFill>
                  <a:srgbClr val="FF0000"/>
                </a:solidFill>
              </a:rPr>
              <a:t>description</a:t>
            </a:r>
            <a:r>
              <a:rPr lang="en-US" sz="1800" dirty="0"/>
              <a:t>": "</a:t>
            </a:r>
            <a:r>
              <a:rPr lang="en-US" sz="1800" dirty="0">
                <a:solidFill>
                  <a:srgbClr val="3B7D23"/>
                </a:solidFill>
              </a:rPr>
              <a:t>This phase is triggered when a need for new statistics is identified or feedback about current statistics initiates a review. It includes all activities associated with engaging stakeholders to identify their detailed statistical needs (current or future), proposing high level solution options and preparing a business case to meet these needs.</a:t>
            </a:r>
            <a:r>
              <a:rPr lang="en-US" sz="1800" dirty="0"/>
              <a:t>",</a:t>
            </a:r>
          </a:p>
          <a:p>
            <a:pPr marL="0" indent="0">
              <a:lnSpc>
                <a:spcPct val="100000"/>
              </a:lnSpc>
              <a:spcBef>
                <a:spcPts val="0"/>
              </a:spcBef>
              <a:buFont typeface="Arial" panose="020B0604020202020204" pitchFamily="34" charset="0"/>
              <a:buNone/>
            </a:pPr>
            <a:r>
              <a:rPr lang="en-US" sz="1800" dirty="0"/>
              <a:t>    "</a:t>
            </a:r>
            <a:r>
              <a:rPr lang="en-US" sz="1800" dirty="0">
                <a:solidFill>
                  <a:srgbClr val="FF0000"/>
                </a:solidFill>
              </a:rPr>
              <a:t>sub-processes</a:t>
            </a:r>
            <a:r>
              <a:rPr lang="en-US" sz="1800" dirty="0"/>
              <a:t>": [</a:t>
            </a:r>
          </a:p>
          <a:p>
            <a:pPr marL="0" indent="0">
              <a:lnSpc>
                <a:spcPct val="100000"/>
              </a:lnSpc>
              <a:spcBef>
                <a:spcPts val="0"/>
              </a:spcBef>
              <a:buFont typeface="Arial" panose="020B0604020202020204" pitchFamily="34" charset="0"/>
              <a:buNone/>
            </a:pPr>
            <a:r>
              <a:rPr lang="en-US" sz="1800" dirty="0"/>
              <a:t>      {"</a:t>
            </a:r>
            <a:r>
              <a:rPr lang="en-US" sz="1800" dirty="0">
                <a:solidFill>
                  <a:srgbClr val="FF0000"/>
                </a:solidFill>
              </a:rPr>
              <a:t>id</a:t>
            </a:r>
            <a:r>
              <a:rPr lang="en-US" sz="1800" dirty="0"/>
              <a:t>": "</a:t>
            </a:r>
            <a:r>
              <a:rPr lang="en-US" sz="1800" dirty="0">
                <a:solidFill>
                  <a:srgbClr val="3B7D23"/>
                </a:solidFill>
              </a:rPr>
              <a:t>1.1</a:t>
            </a:r>
            <a:r>
              <a:rPr lang="en-US" sz="1800" dirty="0"/>
              <a:t>",</a:t>
            </a:r>
          </a:p>
          <a:p>
            <a:pPr marL="0" indent="0">
              <a:lnSpc>
                <a:spcPct val="100000"/>
              </a:lnSpc>
              <a:spcBef>
                <a:spcPts val="0"/>
              </a:spcBef>
              <a:buFont typeface="Arial" panose="020B0604020202020204" pitchFamily="34" charset="0"/>
              <a:buNone/>
            </a:pPr>
            <a:r>
              <a:rPr lang="en-US" sz="1800" dirty="0"/>
              <a:t>        "</a:t>
            </a:r>
            <a:r>
              <a:rPr lang="en-US" sz="1800" dirty="0">
                <a:solidFill>
                  <a:srgbClr val="FF0000"/>
                </a:solidFill>
              </a:rPr>
              <a:t>text</a:t>
            </a:r>
            <a:r>
              <a:rPr lang="en-US" sz="1800" dirty="0"/>
              <a:t>": "</a:t>
            </a:r>
            <a:r>
              <a:rPr lang="en-US" sz="1800" dirty="0">
                <a:solidFill>
                  <a:srgbClr val="3B7D23"/>
                </a:solidFill>
              </a:rPr>
              <a:t>Identify needs</a:t>
            </a:r>
            <a:r>
              <a:rPr lang="en-US" sz="1800" dirty="0"/>
              <a:t>",</a:t>
            </a:r>
          </a:p>
          <a:p>
            <a:pPr marL="0" indent="0">
              <a:lnSpc>
                <a:spcPct val="100000"/>
              </a:lnSpc>
              <a:spcBef>
                <a:spcPts val="0"/>
              </a:spcBef>
              <a:buFont typeface="Arial" panose="020B0604020202020204" pitchFamily="34" charset="0"/>
              <a:buNone/>
            </a:pPr>
            <a:r>
              <a:rPr lang="en-US" sz="1800" dirty="0"/>
              <a:t>        "</a:t>
            </a:r>
            <a:r>
              <a:rPr lang="en-US" sz="1800" dirty="0">
                <a:solidFill>
                  <a:srgbClr val="FF0000"/>
                </a:solidFill>
              </a:rPr>
              <a:t>description</a:t>
            </a:r>
            <a:r>
              <a:rPr lang="en-US" sz="1800" dirty="0"/>
              <a:t>": "</a:t>
            </a:r>
            <a:r>
              <a:rPr lang="en-US" sz="1800" dirty="0">
                <a:solidFill>
                  <a:srgbClr val="3B7D23"/>
                </a:solidFill>
              </a:rPr>
              <a:t>This sub-process includes the initial investigation and identification of what statistics are needed and what is needed of the statistics. It may be triggered by a new information request or an environmental change such as a reduced budget. Action plans from evaluations of previous iterations of the process or from other processes might provide an input to this sub-process. It also includes consideration of practice amongst other (national and international) statistical </a:t>
            </a:r>
            <a:r>
              <a:rPr lang="en-US" sz="1800" dirty="0" err="1">
                <a:solidFill>
                  <a:srgbClr val="3B7D23"/>
                </a:solidFill>
              </a:rPr>
              <a:t>organisations</a:t>
            </a:r>
            <a:r>
              <a:rPr lang="en-US" sz="1800" dirty="0">
                <a:solidFill>
                  <a:srgbClr val="3B7D23"/>
                </a:solidFill>
              </a:rPr>
              <a:t> producing similar data and the methods used by those </a:t>
            </a:r>
            <a:r>
              <a:rPr lang="en-US" sz="1800" dirty="0" err="1">
                <a:solidFill>
                  <a:srgbClr val="3B7D23"/>
                </a:solidFill>
              </a:rPr>
              <a:t>organisations</a:t>
            </a:r>
            <a:r>
              <a:rPr lang="en-US" sz="1800" dirty="0">
                <a:solidFill>
                  <a:srgbClr val="3B7D23"/>
                </a:solidFill>
              </a:rPr>
              <a:t>.</a:t>
            </a:r>
            <a:r>
              <a:rPr lang="en-US" sz="1800" dirty="0"/>
              <a:t>"</a:t>
            </a:r>
          </a:p>
          <a:p>
            <a:pPr marL="0" indent="0">
              <a:lnSpc>
                <a:spcPct val="100000"/>
              </a:lnSpc>
              <a:spcBef>
                <a:spcPts val="0"/>
              </a:spcBef>
              <a:buFont typeface="Arial" panose="020B0604020202020204" pitchFamily="34" charset="0"/>
              <a:buNone/>
            </a:pPr>
            <a:r>
              <a:rPr lang="en-US" sz="1800" dirty="0"/>
              <a:t>      },</a:t>
            </a:r>
          </a:p>
          <a:p>
            <a:pPr marL="0" indent="0">
              <a:lnSpc>
                <a:spcPct val="100000"/>
              </a:lnSpc>
              <a:spcBef>
                <a:spcPts val="0"/>
              </a:spcBef>
              <a:buFont typeface="Arial" panose="020B0604020202020204" pitchFamily="34" charset="0"/>
              <a:buNone/>
            </a:pPr>
            <a:r>
              <a:rPr lang="en-US" sz="1800" dirty="0"/>
              <a:t>      { "</a:t>
            </a:r>
            <a:r>
              <a:rPr lang="en-US" sz="1800" dirty="0">
                <a:solidFill>
                  <a:srgbClr val="FF0000"/>
                </a:solidFill>
              </a:rPr>
              <a:t>id</a:t>
            </a:r>
            <a:r>
              <a:rPr lang="en-US" sz="1800" dirty="0"/>
              <a:t>": "</a:t>
            </a:r>
            <a:r>
              <a:rPr lang="en-US" sz="1800" dirty="0">
                <a:solidFill>
                  <a:srgbClr val="3B7D23"/>
                </a:solidFill>
              </a:rPr>
              <a:t>1.2"</a:t>
            </a:r>
            <a:r>
              <a:rPr lang="en-US" sz="1800" dirty="0"/>
              <a:t>,</a:t>
            </a:r>
          </a:p>
          <a:p>
            <a:pPr marL="0" indent="0">
              <a:lnSpc>
                <a:spcPct val="100000"/>
              </a:lnSpc>
              <a:spcBef>
                <a:spcPts val="0"/>
              </a:spcBef>
              <a:buFont typeface="Arial" panose="020B0604020202020204" pitchFamily="34" charset="0"/>
              <a:buNone/>
            </a:pPr>
            <a:r>
              <a:rPr lang="en-US" sz="1800" dirty="0"/>
              <a:t>        "</a:t>
            </a:r>
            <a:r>
              <a:rPr lang="en-US" sz="1800" dirty="0">
                <a:solidFill>
                  <a:srgbClr val="FF0000"/>
                </a:solidFill>
              </a:rPr>
              <a:t>text</a:t>
            </a:r>
            <a:r>
              <a:rPr lang="en-US" sz="1800" dirty="0"/>
              <a:t>": "</a:t>
            </a:r>
            <a:r>
              <a:rPr lang="en-US" sz="1800" dirty="0">
                <a:solidFill>
                  <a:srgbClr val="3B7D23"/>
                </a:solidFill>
              </a:rPr>
              <a:t>Consult and confirm needs</a:t>
            </a:r>
            <a:r>
              <a:rPr lang="en-US" sz="1800" dirty="0"/>
              <a:t>",</a:t>
            </a:r>
          </a:p>
          <a:p>
            <a:pPr marL="0" indent="0">
              <a:lnSpc>
                <a:spcPct val="100000"/>
              </a:lnSpc>
              <a:spcBef>
                <a:spcPts val="0"/>
              </a:spcBef>
              <a:buFont typeface="Arial" panose="020B0604020202020204" pitchFamily="34" charset="0"/>
              <a:buNone/>
            </a:pPr>
            <a:r>
              <a:rPr lang="en-US" sz="1800" dirty="0"/>
              <a:t>        "</a:t>
            </a:r>
            <a:r>
              <a:rPr lang="en-US" sz="1800" dirty="0">
                <a:solidFill>
                  <a:srgbClr val="FF0000"/>
                </a:solidFill>
              </a:rPr>
              <a:t>description</a:t>
            </a:r>
            <a:r>
              <a:rPr lang="en-US" sz="1800" dirty="0"/>
              <a:t>": "</a:t>
            </a:r>
            <a:r>
              <a:rPr lang="en-US" sz="1800" dirty="0">
                <a:solidFill>
                  <a:srgbClr val="3B7D23"/>
                </a:solidFill>
              </a:rPr>
              <a:t>This sub-process focuses on consulting with the internal and external stakeholders and confirming in detail the needs for the statistics.  …</a:t>
            </a:r>
          </a:p>
        </p:txBody>
      </p:sp>
      <p:sp>
        <p:nvSpPr>
          <p:cNvPr id="2" name="Title 1">
            <a:extLst>
              <a:ext uri="{FF2B5EF4-FFF2-40B4-BE49-F238E27FC236}">
                <a16:creationId xmlns:a16="http://schemas.microsoft.com/office/drawing/2014/main" id="{DB9278EA-7040-574F-CCD6-6D20DDA28C37}"/>
              </a:ext>
            </a:extLst>
          </p:cNvPr>
          <p:cNvSpPr>
            <a:spLocks noGrp="1"/>
          </p:cNvSpPr>
          <p:nvPr>
            <p:ph type="title"/>
          </p:nvPr>
        </p:nvSpPr>
        <p:spPr>
          <a:xfrm>
            <a:off x="838200" y="174385"/>
            <a:ext cx="10515600" cy="1325563"/>
          </a:xfrm>
        </p:spPr>
        <p:txBody>
          <a:bodyPr/>
          <a:lstStyle/>
          <a:p>
            <a:r>
              <a:rPr lang="en-US" dirty="0"/>
              <a:t>1. Structured GSBPM output	</a:t>
            </a:r>
          </a:p>
        </p:txBody>
      </p:sp>
    </p:spTree>
    <p:extLst>
      <p:ext uri="{BB962C8B-B14F-4D97-AF65-F5344CB8AC3E}">
        <p14:creationId xmlns:p14="http://schemas.microsoft.com/office/powerpoint/2010/main" val="9886265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06FA8-3564-6171-DC54-15097D2F14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4523A3-C668-C024-4DCF-34E061E3CA54}"/>
              </a:ext>
            </a:extLst>
          </p:cNvPr>
          <p:cNvSpPr>
            <a:spLocks noGrp="1"/>
          </p:cNvSpPr>
          <p:nvPr>
            <p:ph type="title"/>
          </p:nvPr>
        </p:nvSpPr>
        <p:spPr/>
        <p:txBody>
          <a:bodyPr/>
          <a:lstStyle/>
          <a:p>
            <a:r>
              <a:rPr lang="en-US" dirty="0"/>
              <a:t>2. Extract updates from strategic decks</a:t>
            </a:r>
          </a:p>
        </p:txBody>
      </p:sp>
      <p:sp>
        <p:nvSpPr>
          <p:cNvPr id="3" name="Content Placeholder 2">
            <a:extLst>
              <a:ext uri="{FF2B5EF4-FFF2-40B4-BE49-F238E27FC236}">
                <a16:creationId xmlns:a16="http://schemas.microsoft.com/office/drawing/2014/main" id="{9F18C4E8-974D-A7BC-0FE1-242A50CEFEFB}"/>
              </a:ext>
            </a:extLst>
          </p:cNvPr>
          <p:cNvSpPr>
            <a:spLocks noGrp="1"/>
          </p:cNvSpPr>
          <p:nvPr>
            <p:ph idx="1"/>
          </p:nvPr>
        </p:nvSpPr>
        <p:spPr>
          <a:xfrm>
            <a:off x="838200" y="1825625"/>
            <a:ext cx="10515600" cy="765175"/>
          </a:xfrm>
        </p:spPr>
        <p:txBody>
          <a:bodyPr>
            <a:normAutofit fontScale="85000" lnSpcReduction="20000"/>
          </a:bodyPr>
          <a:lstStyle/>
          <a:p>
            <a:r>
              <a:rPr lang="en-US" dirty="0"/>
              <a:t>Extract update items from strategic deck</a:t>
            </a:r>
          </a:p>
          <a:p>
            <a:r>
              <a:rPr lang="en-US" dirty="0"/>
              <a:t>Classify update items according to applicable GSPBM items</a:t>
            </a:r>
          </a:p>
        </p:txBody>
      </p:sp>
      <p:grpSp>
        <p:nvGrpSpPr>
          <p:cNvPr id="18" name="Group 17">
            <a:extLst>
              <a:ext uri="{FF2B5EF4-FFF2-40B4-BE49-F238E27FC236}">
                <a16:creationId xmlns:a16="http://schemas.microsoft.com/office/drawing/2014/main" id="{98106781-0213-2C6A-F1F8-E99AD4FD5F02}"/>
              </a:ext>
            </a:extLst>
          </p:cNvPr>
          <p:cNvGrpSpPr/>
          <p:nvPr/>
        </p:nvGrpSpPr>
        <p:grpSpPr>
          <a:xfrm>
            <a:off x="784509" y="2862433"/>
            <a:ext cx="10622983" cy="3630442"/>
            <a:chOff x="1105761" y="2862433"/>
            <a:chExt cx="10622983" cy="3630442"/>
          </a:xfrm>
        </p:grpSpPr>
        <p:grpSp>
          <p:nvGrpSpPr>
            <p:cNvPr id="13" name="Group 12">
              <a:extLst>
                <a:ext uri="{FF2B5EF4-FFF2-40B4-BE49-F238E27FC236}">
                  <a16:creationId xmlns:a16="http://schemas.microsoft.com/office/drawing/2014/main" id="{91E95E21-F271-C769-344B-2CCE403A1CE7}"/>
                </a:ext>
              </a:extLst>
            </p:cNvPr>
            <p:cNvGrpSpPr/>
            <p:nvPr/>
          </p:nvGrpSpPr>
          <p:grpSpPr>
            <a:xfrm>
              <a:off x="4854427" y="3824214"/>
              <a:ext cx="2864145" cy="1706880"/>
              <a:chOff x="3506175" y="2854960"/>
              <a:chExt cx="2864145" cy="1706880"/>
            </a:xfrm>
          </p:grpSpPr>
          <p:sp>
            <p:nvSpPr>
              <p:cNvPr id="6" name="Arrow: Chevron 5">
                <a:extLst>
                  <a:ext uri="{FF2B5EF4-FFF2-40B4-BE49-F238E27FC236}">
                    <a16:creationId xmlns:a16="http://schemas.microsoft.com/office/drawing/2014/main" id="{33E1F138-FA1E-F594-5F08-4E4A45938BAB}"/>
                  </a:ext>
                </a:extLst>
              </p:cNvPr>
              <p:cNvSpPr/>
              <p:nvPr/>
            </p:nvSpPr>
            <p:spPr>
              <a:xfrm>
                <a:off x="3506175" y="2854960"/>
                <a:ext cx="2864145" cy="1706880"/>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 name="Picture 7" descr="A circuit board in the shape of a brain">
                <a:extLst>
                  <a:ext uri="{FF2B5EF4-FFF2-40B4-BE49-F238E27FC236}">
                    <a16:creationId xmlns:a16="http://schemas.microsoft.com/office/drawing/2014/main" id="{7F60698E-6BF4-CA0A-985E-796265E953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2947" y="3022600"/>
                <a:ext cx="1371600" cy="1371600"/>
              </a:xfrm>
              <a:prstGeom prst="rect">
                <a:avLst/>
              </a:prstGeom>
            </p:spPr>
          </p:pic>
        </p:grpSp>
        <p:grpSp>
          <p:nvGrpSpPr>
            <p:cNvPr id="17" name="Group 16">
              <a:extLst>
                <a:ext uri="{FF2B5EF4-FFF2-40B4-BE49-F238E27FC236}">
                  <a16:creationId xmlns:a16="http://schemas.microsoft.com/office/drawing/2014/main" id="{32C3993A-7080-E34C-B923-B824217F8FEF}"/>
                </a:ext>
              </a:extLst>
            </p:cNvPr>
            <p:cNvGrpSpPr/>
            <p:nvPr/>
          </p:nvGrpSpPr>
          <p:grpSpPr>
            <a:xfrm>
              <a:off x="1105761" y="2862433"/>
              <a:ext cx="3002393" cy="3630442"/>
              <a:chOff x="1105761" y="2862433"/>
              <a:chExt cx="3002393" cy="3630442"/>
            </a:xfrm>
          </p:grpSpPr>
          <p:pic>
            <p:nvPicPr>
              <p:cNvPr id="7" name="Picture 6">
                <a:extLst>
                  <a:ext uri="{FF2B5EF4-FFF2-40B4-BE49-F238E27FC236}">
                    <a16:creationId xmlns:a16="http://schemas.microsoft.com/office/drawing/2014/main" id="{30B6C3E8-051B-85D8-EA52-92C32EB90E2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05761" y="2862433"/>
                <a:ext cx="2947927" cy="2022632"/>
              </a:xfrm>
              <a:prstGeom prst="rect">
                <a:avLst/>
              </a:prstGeom>
            </p:spPr>
          </p:pic>
          <p:pic>
            <p:nvPicPr>
              <p:cNvPr id="10" name="Picture 9">
                <a:extLst>
                  <a:ext uri="{FF2B5EF4-FFF2-40B4-BE49-F238E27FC236}">
                    <a16:creationId xmlns:a16="http://schemas.microsoft.com/office/drawing/2014/main" id="{7291F3A5-9AB5-17F0-4EC1-A4237A28A20F}"/>
                  </a:ext>
                </a:extLst>
              </p:cNvPr>
              <p:cNvPicPr>
                <a:picLocks noChangeAspect="1"/>
              </p:cNvPicPr>
              <p:nvPr/>
            </p:nvPicPr>
            <p:blipFill>
              <a:blip r:embed="rId4"/>
              <a:stretch>
                <a:fillRect/>
              </a:stretch>
            </p:blipFill>
            <p:spPr>
              <a:xfrm>
                <a:off x="1518576" y="5028157"/>
                <a:ext cx="2589578" cy="1464718"/>
              </a:xfrm>
              <a:prstGeom prst="rect">
                <a:avLst/>
              </a:prstGeom>
              <a:ln>
                <a:solidFill>
                  <a:schemeClr val="tx1"/>
                </a:solidFill>
              </a:ln>
            </p:spPr>
          </p:pic>
        </p:grpSp>
        <p:sp>
          <p:nvSpPr>
            <p:cNvPr id="16" name="Rectangle: Rounded Corners 15">
              <a:extLst>
                <a:ext uri="{FF2B5EF4-FFF2-40B4-BE49-F238E27FC236}">
                  <a16:creationId xmlns:a16="http://schemas.microsoft.com/office/drawing/2014/main" id="{7836CEE9-8CFD-3EB9-1F6B-15432FCA2600}"/>
                </a:ext>
              </a:extLst>
            </p:cNvPr>
            <p:cNvSpPr/>
            <p:nvPr/>
          </p:nvSpPr>
          <p:spPr>
            <a:xfrm>
              <a:off x="8464844" y="3648954"/>
              <a:ext cx="3263900" cy="2057400"/>
            </a:xfrm>
            <a:prstGeom prst="roundRect">
              <a:avLst/>
            </a:prstGeom>
            <a:solidFill>
              <a:srgbClr val="FBA7A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GSBPM</a:t>
              </a:r>
            </a:p>
            <a:p>
              <a:pPr algn="ctr"/>
              <a:r>
                <a:rPr lang="en-US" sz="4000" dirty="0"/>
                <a:t>updates</a:t>
              </a:r>
            </a:p>
          </p:txBody>
        </p:sp>
      </p:grpSp>
    </p:spTree>
    <p:extLst>
      <p:ext uri="{BB962C8B-B14F-4D97-AF65-F5344CB8AC3E}">
        <p14:creationId xmlns:p14="http://schemas.microsoft.com/office/powerpoint/2010/main" val="4078197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2043D-C99A-C83F-484B-FD09D73E55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63B79C-E36E-6119-652D-3E8CE4437B06}"/>
              </a:ext>
            </a:extLst>
          </p:cNvPr>
          <p:cNvSpPr>
            <a:spLocks noGrp="1"/>
          </p:cNvSpPr>
          <p:nvPr>
            <p:ph type="title"/>
          </p:nvPr>
        </p:nvSpPr>
        <p:spPr/>
        <p:txBody>
          <a:bodyPr/>
          <a:lstStyle/>
          <a:p>
            <a:r>
              <a:rPr lang="en-US" dirty="0"/>
              <a:t>2. Extracted updates output data</a:t>
            </a:r>
          </a:p>
        </p:txBody>
      </p:sp>
      <p:sp>
        <p:nvSpPr>
          <p:cNvPr id="3" name="Content Placeholder 2">
            <a:extLst>
              <a:ext uri="{FF2B5EF4-FFF2-40B4-BE49-F238E27FC236}">
                <a16:creationId xmlns:a16="http://schemas.microsoft.com/office/drawing/2014/main" id="{25205E20-E809-2B8B-7378-B64CE3C7A570}"/>
              </a:ext>
            </a:extLst>
          </p:cNvPr>
          <p:cNvSpPr>
            <a:spLocks noGrp="1"/>
          </p:cNvSpPr>
          <p:nvPr>
            <p:ph idx="1"/>
          </p:nvPr>
        </p:nvSpPr>
        <p:spPr>
          <a:xfrm>
            <a:off x="838200" y="1499948"/>
            <a:ext cx="10655300" cy="4351338"/>
          </a:xfrm>
        </p:spPr>
        <p:txBody>
          <a:bodyPr>
            <a:noAutofit/>
          </a:bodyPr>
          <a:lstStyle/>
          <a:p>
            <a:pPr marL="0" indent="0">
              <a:lnSpc>
                <a:spcPct val="100000"/>
              </a:lnSpc>
              <a:spcBef>
                <a:spcPts val="0"/>
              </a:spcBef>
              <a:buNone/>
            </a:pPr>
            <a:r>
              <a:rPr lang="en-US" sz="1800" dirty="0"/>
              <a:t>[{“</a:t>
            </a:r>
            <a:r>
              <a:rPr lang="en-US" sz="1800" dirty="0">
                <a:solidFill>
                  <a:srgbClr val="FF0000"/>
                </a:solidFill>
              </a:rPr>
              <a:t>update</a:t>
            </a:r>
            <a:r>
              <a:rPr lang="en-US" sz="1800" dirty="0"/>
              <a:t>": {</a:t>
            </a:r>
          </a:p>
          <a:p>
            <a:pPr marL="0" indent="0">
              <a:lnSpc>
                <a:spcPct val="100000"/>
              </a:lnSpc>
              <a:spcBef>
                <a:spcPts val="0"/>
              </a:spcBef>
              <a:buNone/>
            </a:pPr>
            <a:r>
              <a:rPr lang="en-US" sz="1800" dirty="0"/>
              <a:t>    "</a:t>
            </a:r>
            <a:r>
              <a:rPr lang="en-US" sz="1800" dirty="0">
                <a:solidFill>
                  <a:srgbClr val="FF0000"/>
                </a:solidFill>
              </a:rPr>
              <a:t>reference</a:t>
            </a:r>
            <a:r>
              <a:rPr lang="en-US" sz="1800" dirty="0"/>
              <a:t>": "</a:t>
            </a:r>
            <a:r>
              <a:rPr lang="en-US" sz="1800" dirty="0">
                <a:solidFill>
                  <a:schemeClr val="accent6">
                    <a:lumMod val="75000"/>
                  </a:schemeClr>
                </a:solidFill>
              </a:rPr>
              <a:t>Slide 2 - GSBPM Roadmap 2024-2025</a:t>
            </a:r>
            <a:r>
              <a:rPr lang="en-US" sz="1800" dirty="0"/>
              <a:t>",</a:t>
            </a:r>
          </a:p>
          <a:p>
            <a:pPr marL="0" indent="0">
              <a:lnSpc>
                <a:spcPct val="100000"/>
              </a:lnSpc>
              <a:spcBef>
                <a:spcPts val="0"/>
              </a:spcBef>
              <a:buNone/>
            </a:pPr>
            <a:r>
              <a:rPr lang="en-US" sz="1800" dirty="0"/>
              <a:t>    "</a:t>
            </a:r>
            <a:r>
              <a:rPr lang="en-US" sz="1800" dirty="0">
                <a:solidFill>
                  <a:srgbClr val="FF0000"/>
                </a:solidFill>
              </a:rPr>
              <a:t>description</a:t>
            </a:r>
            <a:r>
              <a:rPr lang="en-US" sz="1800" dirty="0"/>
              <a:t>": "</a:t>
            </a:r>
            <a:r>
              <a:rPr lang="en-US" sz="1800" dirty="0">
                <a:solidFill>
                  <a:schemeClr val="accent6">
                    <a:lumMod val="75000"/>
                  </a:schemeClr>
                </a:solidFill>
              </a:rPr>
              <a:t>Overall focus: GSBPM as an adaptable, modern, and data source-agnostic model, emphasizing reproducibility, efficiency, and coherence. Strategic priorities targeted: Reproducibility, Efficiency, Coherence, Adaptability, Modern, Data Source-Agnostic.</a:t>
            </a:r>
            <a:r>
              <a:rPr lang="en-US" sz="1800" dirty="0"/>
              <a:t>",</a:t>
            </a:r>
          </a:p>
          <a:p>
            <a:pPr marL="0" indent="0">
              <a:lnSpc>
                <a:spcPct val="100000"/>
              </a:lnSpc>
              <a:spcBef>
                <a:spcPts val="0"/>
              </a:spcBef>
              <a:buNone/>
            </a:pPr>
            <a:r>
              <a:rPr lang="en-US" sz="1800" dirty="0"/>
              <a:t>    "</a:t>
            </a:r>
            <a:r>
              <a:rPr lang="en-US" sz="1800" dirty="0">
                <a:solidFill>
                  <a:srgbClr val="FF0000"/>
                </a:solidFill>
              </a:rPr>
              <a:t>implicated phases and subphases</a:t>
            </a:r>
            <a:r>
              <a:rPr lang="en-US" sz="1800" dirty="0"/>
              <a:t>": [</a:t>
            </a:r>
          </a:p>
          <a:p>
            <a:pPr marL="457200" lvl="1" indent="0">
              <a:lnSpc>
                <a:spcPct val="100000"/>
              </a:lnSpc>
              <a:spcBef>
                <a:spcPts val="0"/>
              </a:spcBef>
              <a:buNone/>
            </a:pPr>
            <a:r>
              <a:rPr lang="en-US" sz="1800" dirty="0"/>
              <a:t>        {"</a:t>
            </a:r>
            <a:r>
              <a:rPr lang="en-US" sz="1800" dirty="0">
                <a:solidFill>
                  <a:srgbClr val="FF0000"/>
                </a:solidFill>
              </a:rPr>
              <a:t>justification</a:t>
            </a:r>
            <a:r>
              <a:rPr lang="en-US" sz="1800" dirty="0"/>
              <a:t>": "</a:t>
            </a:r>
            <a:r>
              <a:rPr lang="en-US" sz="1800" dirty="0">
                <a:solidFill>
                  <a:schemeClr val="accent6">
                    <a:lumMod val="75000"/>
                  </a:schemeClr>
                </a:solidFill>
              </a:rPr>
              <a:t>This statement describes the overarching strategic direction and desired characteristics for the entire GSBPM model. It influences the interpretation and future development of all phases and sub-phases, rather than making a specific change to any single one.</a:t>
            </a:r>
            <a:r>
              <a:rPr lang="en-US" sz="1800" dirty="0"/>
              <a:t>",</a:t>
            </a:r>
          </a:p>
          <a:p>
            <a:pPr marL="457200" lvl="1" indent="0">
              <a:lnSpc>
                <a:spcPct val="100000"/>
              </a:lnSpc>
              <a:spcBef>
                <a:spcPts val="0"/>
              </a:spcBef>
              <a:buNone/>
            </a:pPr>
            <a:r>
              <a:rPr lang="en-US" sz="1800" dirty="0"/>
              <a:t>          "</a:t>
            </a:r>
            <a:r>
              <a:rPr lang="en-US" sz="1800" dirty="0">
                <a:solidFill>
                  <a:srgbClr val="FF0000"/>
                </a:solidFill>
              </a:rPr>
              <a:t>id</a:t>
            </a:r>
            <a:r>
              <a:rPr lang="en-US" sz="1800" dirty="0"/>
              <a:t>": "</a:t>
            </a:r>
            <a:r>
              <a:rPr lang="en-US" sz="1800" dirty="0">
                <a:solidFill>
                  <a:schemeClr val="accent6">
                    <a:lumMod val="75000"/>
                  </a:schemeClr>
                </a:solidFill>
              </a:rPr>
              <a:t>N/A</a:t>
            </a:r>
            <a:r>
              <a:rPr lang="en-US" sz="1800" dirty="0"/>
              <a:t>",</a:t>
            </a:r>
          </a:p>
          <a:p>
            <a:pPr marL="457200" lvl="1" indent="0">
              <a:lnSpc>
                <a:spcPct val="100000"/>
              </a:lnSpc>
              <a:spcBef>
                <a:spcPts val="0"/>
              </a:spcBef>
              <a:buNone/>
            </a:pPr>
            <a:r>
              <a:rPr lang="en-US" sz="1800" dirty="0"/>
              <a:t>          "</a:t>
            </a:r>
            <a:r>
              <a:rPr lang="en-US" sz="1800" dirty="0">
                <a:solidFill>
                  <a:srgbClr val="FF0000"/>
                </a:solidFill>
              </a:rPr>
              <a:t>text</a:t>
            </a:r>
            <a:r>
              <a:rPr lang="en-US" sz="1800" dirty="0"/>
              <a:t>": "</a:t>
            </a:r>
            <a:r>
              <a:rPr lang="en-US" sz="1800" dirty="0">
                <a:solidFill>
                  <a:schemeClr val="accent6">
                    <a:lumMod val="75000"/>
                  </a:schemeClr>
                </a:solidFill>
              </a:rPr>
              <a:t>All GSBPM Phases (Overall Model)</a:t>
            </a:r>
            <a:r>
              <a:rPr lang="en-US" sz="1800" dirty="0"/>
              <a:t>"}</a:t>
            </a:r>
          </a:p>
          <a:p>
            <a:pPr marL="0" indent="0">
              <a:lnSpc>
                <a:spcPct val="100000"/>
              </a:lnSpc>
              <a:spcBef>
                <a:spcPts val="0"/>
              </a:spcBef>
              <a:buNone/>
            </a:pPr>
            <a:r>
              <a:rPr lang="en-US" sz="1800" dirty="0"/>
              <a:t>      ]}},</a:t>
            </a:r>
          </a:p>
          <a:p>
            <a:pPr marL="0" indent="0">
              <a:lnSpc>
                <a:spcPct val="100000"/>
              </a:lnSpc>
              <a:spcBef>
                <a:spcPts val="0"/>
              </a:spcBef>
              <a:buNone/>
            </a:pPr>
            <a:r>
              <a:rPr lang="en-US" sz="1800" dirty="0"/>
              <a:t>  {   "</a:t>
            </a:r>
            <a:r>
              <a:rPr lang="en-US" sz="1800" dirty="0">
                <a:solidFill>
                  <a:srgbClr val="FF0000"/>
                </a:solidFill>
              </a:rPr>
              <a:t>update</a:t>
            </a:r>
            <a:r>
              <a:rPr lang="en-US" sz="1800" dirty="0"/>
              <a:t>": {</a:t>
            </a:r>
          </a:p>
          <a:p>
            <a:pPr marL="0" indent="0">
              <a:lnSpc>
                <a:spcPct val="100000"/>
              </a:lnSpc>
              <a:spcBef>
                <a:spcPts val="0"/>
              </a:spcBef>
              <a:buNone/>
            </a:pPr>
            <a:r>
              <a:rPr lang="en-US" sz="1800" dirty="0"/>
              <a:t>      "</a:t>
            </a:r>
            <a:r>
              <a:rPr lang="en-US" sz="1800" dirty="0">
                <a:solidFill>
                  <a:srgbClr val="FF0000"/>
                </a:solidFill>
              </a:rPr>
              <a:t>reference</a:t>
            </a:r>
            <a:r>
              <a:rPr lang="en-US" sz="1800" dirty="0"/>
              <a:t>": "</a:t>
            </a:r>
            <a:r>
              <a:rPr lang="en-US" sz="1800" dirty="0">
                <a:solidFill>
                  <a:schemeClr val="accent6">
                    <a:lumMod val="75000"/>
                  </a:schemeClr>
                </a:solidFill>
              </a:rPr>
              <a:t>Slide 2 - GSBPM Roadmap 2024-2025</a:t>
            </a:r>
            <a:r>
              <a:rPr lang="en-US" sz="1800" dirty="0"/>
              <a:t>",</a:t>
            </a:r>
          </a:p>
          <a:p>
            <a:pPr marL="0" indent="0">
              <a:lnSpc>
                <a:spcPct val="100000"/>
              </a:lnSpc>
              <a:spcBef>
                <a:spcPts val="0"/>
              </a:spcBef>
              <a:buNone/>
            </a:pPr>
            <a:r>
              <a:rPr lang="en-US" sz="1800" dirty="0"/>
              <a:t>      "</a:t>
            </a:r>
            <a:r>
              <a:rPr lang="en-US" sz="1800" dirty="0">
                <a:solidFill>
                  <a:srgbClr val="FF0000"/>
                </a:solidFill>
              </a:rPr>
              <a:t>description</a:t>
            </a:r>
            <a:r>
              <a:rPr lang="en-US" sz="1800" dirty="0"/>
              <a:t>": "</a:t>
            </a:r>
            <a:r>
              <a:rPr lang="en-US" sz="1800" dirty="0">
                <a:solidFill>
                  <a:schemeClr val="accent6">
                    <a:lumMod val="75000"/>
                  </a:schemeClr>
                </a:solidFill>
              </a:rPr>
              <a:t>A shift towards more modular and standardized components, facilitating reuse …</a:t>
            </a:r>
          </a:p>
          <a:p>
            <a:pPr marL="0" indent="0">
              <a:lnSpc>
                <a:spcPct val="100000"/>
              </a:lnSpc>
              <a:spcBef>
                <a:spcPts val="0"/>
              </a:spcBef>
              <a:buNone/>
            </a:pPr>
            <a:r>
              <a:rPr lang="en-US" sz="1800" dirty="0"/>
              <a:t>…</a:t>
            </a:r>
          </a:p>
        </p:txBody>
      </p:sp>
    </p:spTree>
    <p:extLst>
      <p:ext uri="{BB962C8B-B14F-4D97-AF65-F5344CB8AC3E}">
        <p14:creationId xmlns:p14="http://schemas.microsoft.com/office/powerpoint/2010/main" val="32385560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F4FEF5-8584-02D9-221B-146B7B1210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4B5492-06CB-9D7B-CBFC-6B1CD8E84597}"/>
              </a:ext>
            </a:extLst>
          </p:cNvPr>
          <p:cNvSpPr>
            <a:spLocks noGrp="1"/>
          </p:cNvSpPr>
          <p:nvPr>
            <p:ph type="title"/>
          </p:nvPr>
        </p:nvSpPr>
        <p:spPr/>
        <p:txBody>
          <a:bodyPr/>
          <a:lstStyle/>
          <a:p>
            <a:r>
              <a:rPr lang="en-US" dirty="0"/>
              <a:t>3. Extracted updates with reasoning</a:t>
            </a:r>
          </a:p>
        </p:txBody>
      </p:sp>
      <p:sp>
        <p:nvSpPr>
          <p:cNvPr id="3" name="Content Placeholder 2">
            <a:extLst>
              <a:ext uri="{FF2B5EF4-FFF2-40B4-BE49-F238E27FC236}">
                <a16:creationId xmlns:a16="http://schemas.microsoft.com/office/drawing/2014/main" id="{79978151-636B-C62A-6234-8DC0C6C5229F}"/>
              </a:ext>
            </a:extLst>
          </p:cNvPr>
          <p:cNvSpPr>
            <a:spLocks noGrp="1"/>
          </p:cNvSpPr>
          <p:nvPr>
            <p:ph idx="1"/>
          </p:nvPr>
        </p:nvSpPr>
        <p:spPr>
          <a:xfrm>
            <a:off x="838200" y="1499948"/>
            <a:ext cx="11049000" cy="4351338"/>
          </a:xfrm>
        </p:spPr>
        <p:txBody>
          <a:bodyPr>
            <a:noAutofit/>
          </a:bodyPr>
          <a:lstStyle/>
          <a:p>
            <a:pPr marL="0" indent="0">
              <a:lnSpc>
                <a:spcPct val="100000"/>
              </a:lnSpc>
              <a:spcBef>
                <a:spcPts val="0"/>
              </a:spcBef>
              <a:buNone/>
            </a:pPr>
            <a:r>
              <a:rPr lang="en-US" sz="2000" dirty="0"/>
              <a:t>"</a:t>
            </a:r>
            <a:r>
              <a:rPr lang="en-US" sz="2000" dirty="0">
                <a:solidFill>
                  <a:srgbClr val="FF0000"/>
                </a:solidFill>
              </a:rPr>
              <a:t>update</a:t>
            </a:r>
            <a:r>
              <a:rPr lang="en-US" sz="2000" dirty="0"/>
              <a:t>": {</a:t>
            </a:r>
          </a:p>
          <a:p>
            <a:pPr marL="0" indent="0">
              <a:lnSpc>
                <a:spcPct val="100000"/>
              </a:lnSpc>
              <a:spcBef>
                <a:spcPts val="0"/>
              </a:spcBef>
              <a:buNone/>
            </a:pPr>
            <a:r>
              <a:rPr lang="en-US" sz="2000" dirty="0"/>
              <a:t>      "</a:t>
            </a:r>
            <a:r>
              <a:rPr lang="en-US" sz="2000" dirty="0">
                <a:solidFill>
                  <a:srgbClr val="FF0000"/>
                </a:solidFill>
              </a:rPr>
              <a:t>reference</a:t>
            </a:r>
            <a:r>
              <a:rPr lang="en-US" sz="2000" dirty="0"/>
              <a:t>": "</a:t>
            </a:r>
            <a:r>
              <a:rPr lang="en-US" sz="2000" dirty="0">
                <a:solidFill>
                  <a:schemeClr val="accent6">
                    <a:lumMod val="75000"/>
                  </a:schemeClr>
                </a:solidFill>
              </a:rPr>
              <a:t>Slide 2 - GSBPM Roadmap 2024-2025</a:t>
            </a:r>
            <a:r>
              <a:rPr lang="en-US" sz="2000" dirty="0"/>
              <a:t>",</a:t>
            </a:r>
          </a:p>
          <a:p>
            <a:pPr marL="0" indent="0">
              <a:lnSpc>
                <a:spcPct val="100000"/>
              </a:lnSpc>
              <a:spcBef>
                <a:spcPts val="0"/>
              </a:spcBef>
              <a:buNone/>
            </a:pPr>
            <a:r>
              <a:rPr lang="en-US" sz="2000" dirty="0"/>
              <a:t>      "</a:t>
            </a:r>
            <a:r>
              <a:rPr lang="en-US" sz="2000" dirty="0">
                <a:solidFill>
                  <a:srgbClr val="FF0000"/>
                </a:solidFill>
              </a:rPr>
              <a:t>description</a:t>
            </a:r>
            <a:r>
              <a:rPr lang="en-US" sz="2000" dirty="0"/>
              <a:t>": "</a:t>
            </a:r>
            <a:r>
              <a:rPr lang="en-US" sz="2000" dirty="0">
                <a:solidFill>
                  <a:schemeClr val="accent6">
                    <a:lumMod val="75000"/>
                  </a:schemeClr>
                </a:solidFill>
              </a:rPr>
              <a:t>A shift towards more modular and standardized components, facilitating reuse and interoperability. Strategic priorities targeted: Reusability, Interoperability, Efficiency.</a:t>
            </a:r>
            <a:r>
              <a:rPr lang="en-US" sz="2000" dirty="0"/>
              <a:t>",</a:t>
            </a:r>
          </a:p>
          <a:p>
            <a:pPr marL="0" indent="0">
              <a:lnSpc>
                <a:spcPct val="100000"/>
              </a:lnSpc>
              <a:spcBef>
                <a:spcPts val="0"/>
              </a:spcBef>
              <a:buNone/>
            </a:pPr>
            <a:r>
              <a:rPr lang="en-US" sz="2000" dirty="0"/>
              <a:t>      "</a:t>
            </a:r>
            <a:r>
              <a:rPr lang="en-US" sz="2000" dirty="0">
                <a:solidFill>
                  <a:srgbClr val="FF0000"/>
                </a:solidFill>
              </a:rPr>
              <a:t>implicated phases and subphases</a:t>
            </a:r>
            <a:r>
              <a:rPr lang="en-US" sz="2000" dirty="0"/>
              <a:t>": [</a:t>
            </a:r>
          </a:p>
          <a:p>
            <a:pPr marL="0" indent="0">
              <a:lnSpc>
                <a:spcPct val="100000"/>
              </a:lnSpc>
              <a:spcBef>
                <a:spcPts val="0"/>
              </a:spcBef>
              <a:buNone/>
            </a:pPr>
            <a:r>
              <a:rPr lang="en-US" sz="2000" dirty="0"/>
              <a:t>        {"</a:t>
            </a:r>
            <a:r>
              <a:rPr lang="en-US" sz="2000" dirty="0">
                <a:solidFill>
                  <a:srgbClr val="FF0000"/>
                </a:solidFill>
              </a:rPr>
              <a:t>justification</a:t>
            </a:r>
            <a:r>
              <a:rPr lang="en-US" sz="2000" dirty="0"/>
              <a:t>": "</a:t>
            </a:r>
            <a:r>
              <a:rPr lang="en-US" sz="2000" dirty="0">
                <a:solidFill>
                  <a:schemeClr val="accent6">
                    <a:lumMod val="75000"/>
                  </a:schemeClr>
                </a:solidFill>
              </a:rPr>
              <a:t>This update explicitly mentions 'modular and standardized components' and 'facilitating reuse and interoperability', which are key aspects of design and implementation within the 'Design' and 'Build' phases.</a:t>
            </a:r>
            <a:r>
              <a:rPr lang="en-US" sz="2000" dirty="0"/>
              <a:t>",</a:t>
            </a:r>
          </a:p>
          <a:p>
            <a:pPr marL="0" indent="0">
              <a:lnSpc>
                <a:spcPct val="100000"/>
              </a:lnSpc>
              <a:spcBef>
                <a:spcPts val="0"/>
              </a:spcBef>
              <a:buNone/>
            </a:pPr>
            <a:r>
              <a:rPr lang="en-US" sz="2000" dirty="0"/>
              <a:t>          "</a:t>
            </a:r>
            <a:r>
              <a:rPr lang="en-US" sz="2000" dirty="0">
                <a:solidFill>
                  <a:srgbClr val="FF0000"/>
                </a:solidFill>
              </a:rPr>
              <a:t>id</a:t>
            </a:r>
            <a:r>
              <a:rPr lang="en-US" sz="2000" dirty="0"/>
              <a:t>": "</a:t>
            </a:r>
            <a:r>
              <a:rPr lang="en-US" sz="2000" dirty="0">
                <a:solidFill>
                  <a:srgbClr val="3B7D23"/>
                </a:solidFill>
              </a:rPr>
              <a:t>2</a:t>
            </a:r>
            <a:r>
              <a:rPr lang="en-US" sz="2000" dirty="0"/>
              <a:t>",</a:t>
            </a:r>
          </a:p>
          <a:p>
            <a:pPr marL="0" indent="0">
              <a:lnSpc>
                <a:spcPct val="100000"/>
              </a:lnSpc>
              <a:spcBef>
                <a:spcPts val="0"/>
              </a:spcBef>
              <a:buNone/>
            </a:pPr>
            <a:r>
              <a:rPr lang="en-US" sz="2000" dirty="0"/>
              <a:t>          "</a:t>
            </a:r>
            <a:r>
              <a:rPr lang="en-US" sz="2000" dirty="0">
                <a:solidFill>
                  <a:srgbClr val="FF0000"/>
                </a:solidFill>
              </a:rPr>
              <a:t>text</a:t>
            </a:r>
            <a:r>
              <a:rPr lang="en-US" sz="2000" dirty="0"/>
              <a:t>": "</a:t>
            </a:r>
            <a:r>
              <a:rPr lang="en-US" sz="2000" dirty="0">
                <a:solidFill>
                  <a:srgbClr val="3B7D23"/>
                </a:solidFill>
              </a:rPr>
              <a:t>Design</a:t>
            </a:r>
            <a:r>
              <a:rPr lang="en-US" sz="2000" dirty="0"/>
              <a:t>"},</a:t>
            </a:r>
          </a:p>
          <a:p>
            <a:pPr marL="0" indent="0">
              <a:lnSpc>
                <a:spcPct val="100000"/>
              </a:lnSpc>
              <a:spcBef>
                <a:spcPts val="0"/>
              </a:spcBef>
              <a:buNone/>
            </a:pPr>
            <a:r>
              <a:rPr lang="en-US" sz="2000" dirty="0"/>
              <a:t>        {"</a:t>
            </a:r>
            <a:r>
              <a:rPr lang="en-US" sz="2000" dirty="0">
                <a:solidFill>
                  <a:srgbClr val="FF0000"/>
                </a:solidFill>
              </a:rPr>
              <a:t>justification</a:t>
            </a:r>
            <a:r>
              <a:rPr lang="en-US" sz="2000" dirty="0"/>
              <a:t>": "</a:t>
            </a:r>
            <a:r>
              <a:rPr lang="en-US" sz="2000" dirty="0">
                <a:solidFill>
                  <a:schemeClr val="accent6">
                    <a:lumMod val="75000"/>
                  </a:schemeClr>
                </a:solidFill>
              </a:rPr>
              <a:t>This update explicitly mentions 'modular and standardized components' and 'facilitating reuse and interoperability', </a:t>
            </a:r>
            <a:r>
              <a:rPr lang="en-US" sz="2000" dirty="0">
                <a:solidFill>
                  <a:srgbClr val="3B7D23"/>
                </a:solidFill>
              </a:rPr>
              <a:t>which</a:t>
            </a:r>
            <a:r>
              <a:rPr lang="en-US" sz="2000" dirty="0">
                <a:solidFill>
                  <a:schemeClr val="accent6">
                    <a:lumMod val="75000"/>
                  </a:schemeClr>
                </a:solidFill>
              </a:rPr>
              <a:t> are key aspects of design and implementation within the 'Design' and 'Build' phases. Sub-processes 3.1, 3.2, and 3.3 particularly focus on reusing or building components.</a:t>
            </a:r>
            <a:r>
              <a:rPr lang="en-US" sz="2000" dirty="0"/>
              <a:t>",</a:t>
            </a:r>
          </a:p>
          <a:p>
            <a:pPr marL="0" indent="0">
              <a:lnSpc>
                <a:spcPct val="100000"/>
              </a:lnSpc>
              <a:spcBef>
                <a:spcPts val="0"/>
              </a:spcBef>
              <a:buNone/>
            </a:pPr>
            <a:r>
              <a:rPr lang="en-US" sz="2000" dirty="0"/>
              <a:t>          "</a:t>
            </a:r>
            <a:r>
              <a:rPr lang="en-US" sz="2000" dirty="0">
                <a:solidFill>
                  <a:srgbClr val="FF0000"/>
                </a:solidFill>
              </a:rPr>
              <a:t>id</a:t>
            </a:r>
            <a:r>
              <a:rPr lang="en-US" sz="2000" dirty="0"/>
              <a:t>": "</a:t>
            </a:r>
            <a:r>
              <a:rPr lang="en-US" sz="2000" dirty="0">
                <a:solidFill>
                  <a:srgbClr val="3B7D23"/>
                </a:solidFill>
              </a:rPr>
              <a:t>3</a:t>
            </a:r>
            <a:r>
              <a:rPr lang="en-US" sz="2000" dirty="0"/>
              <a:t>",</a:t>
            </a:r>
          </a:p>
          <a:p>
            <a:pPr marL="0" indent="0">
              <a:lnSpc>
                <a:spcPct val="100000"/>
              </a:lnSpc>
              <a:spcBef>
                <a:spcPts val="0"/>
              </a:spcBef>
              <a:buNone/>
            </a:pPr>
            <a:r>
              <a:rPr lang="en-US" sz="2000" dirty="0"/>
              <a:t>          "</a:t>
            </a:r>
            <a:r>
              <a:rPr lang="en-US" sz="2000" dirty="0">
                <a:solidFill>
                  <a:srgbClr val="FF0000"/>
                </a:solidFill>
              </a:rPr>
              <a:t>text</a:t>
            </a:r>
            <a:r>
              <a:rPr lang="en-US" sz="2000" dirty="0"/>
              <a:t>": "</a:t>
            </a:r>
            <a:r>
              <a:rPr lang="en-US" sz="2000" dirty="0">
                <a:solidFill>
                  <a:srgbClr val="3B7D23"/>
                </a:solidFill>
              </a:rPr>
              <a:t>Build</a:t>
            </a:r>
            <a:r>
              <a:rPr lang="en-US" sz="2000" dirty="0"/>
              <a:t>"},</a:t>
            </a:r>
          </a:p>
          <a:p>
            <a:pPr marL="0" indent="0">
              <a:lnSpc>
                <a:spcPct val="100000"/>
              </a:lnSpc>
              <a:spcBef>
                <a:spcPts val="0"/>
              </a:spcBef>
              <a:buNone/>
            </a:pPr>
            <a:r>
              <a:rPr lang="en-US" sz="2000" dirty="0"/>
              <a:t>        {"</a:t>
            </a:r>
            <a:r>
              <a:rPr lang="en-US" sz="2000" dirty="0">
                <a:solidFill>
                  <a:srgbClr val="FF0000"/>
                </a:solidFill>
              </a:rPr>
              <a:t>justification</a:t>
            </a:r>
            <a:r>
              <a:rPr lang="en-US" sz="2000" dirty="0"/>
              <a:t>": "</a:t>
            </a:r>
            <a:r>
              <a:rPr lang="en-US" sz="2000" dirty="0">
                <a:solidFill>
                  <a:srgbClr val="3B7D23"/>
                </a:solidFill>
              </a:rPr>
              <a:t>The concept of 'standardized com…</a:t>
            </a:r>
            <a:endParaRPr lang="en-US" sz="1200" dirty="0">
              <a:solidFill>
                <a:srgbClr val="3B7D23"/>
              </a:solidFill>
            </a:endParaRPr>
          </a:p>
        </p:txBody>
      </p:sp>
    </p:spTree>
    <p:extLst>
      <p:ext uri="{BB962C8B-B14F-4D97-AF65-F5344CB8AC3E}">
        <p14:creationId xmlns:p14="http://schemas.microsoft.com/office/powerpoint/2010/main" val="23688209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50CD0-9FB8-C87B-32C3-F1D5F32C80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AF966F-BE4E-F683-F7B7-56BCA2D88904}"/>
              </a:ext>
            </a:extLst>
          </p:cNvPr>
          <p:cNvSpPr>
            <a:spLocks noGrp="1"/>
          </p:cNvSpPr>
          <p:nvPr>
            <p:ph type="title"/>
          </p:nvPr>
        </p:nvSpPr>
        <p:spPr/>
        <p:txBody>
          <a:bodyPr/>
          <a:lstStyle/>
          <a:p>
            <a:r>
              <a:rPr lang="en-US" dirty="0"/>
              <a:t>3. Layer-in AI reasoning on updates</a:t>
            </a:r>
          </a:p>
        </p:txBody>
      </p:sp>
      <p:sp>
        <p:nvSpPr>
          <p:cNvPr id="3" name="Content Placeholder 2">
            <a:extLst>
              <a:ext uri="{FF2B5EF4-FFF2-40B4-BE49-F238E27FC236}">
                <a16:creationId xmlns:a16="http://schemas.microsoft.com/office/drawing/2014/main" id="{7FEC12EE-8369-6E2C-2D0B-B6638B996B51}"/>
              </a:ext>
            </a:extLst>
          </p:cNvPr>
          <p:cNvSpPr>
            <a:spLocks noGrp="1"/>
          </p:cNvSpPr>
          <p:nvPr>
            <p:ph idx="1"/>
          </p:nvPr>
        </p:nvSpPr>
        <p:spPr>
          <a:xfrm>
            <a:off x="838200" y="1825625"/>
            <a:ext cx="10515600" cy="1220777"/>
          </a:xfrm>
        </p:spPr>
        <p:txBody>
          <a:bodyPr>
            <a:normAutofit fontScale="77500" lnSpcReduction="20000"/>
          </a:bodyPr>
          <a:lstStyle/>
          <a:p>
            <a:r>
              <a:rPr lang="en-US" dirty="0"/>
              <a:t>Include implicated BSP descriptions adjacent to extracted update data</a:t>
            </a:r>
          </a:p>
          <a:p>
            <a:r>
              <a:rPr lang="en-US" dirty="0"/>
              <a:t>Have LLM articulate how the update would change each implicated BSP description.</a:t>
            </a:r>
          </a:p>
          <a:p>
            <a:r>
              <a:rPr lang="en-US" dirty="0"/>
              <a:t>Repeat for each update</a:t>
            </a:r>
          </a:p>
        </p:txBody>
      </p:sp>
      <p:grpSp>
        <p:nvGrpSpPr>
          <p:cNvPr id="23" name="Group 22">
            <a:extLst>
              <a:ext uri="{FF2B5EF4-FFF2-40B4-BE49-F238E27FC236}">
                <a16:creationId xmlns:a16="http://schemas.microsoft.com/office/drawing/2014/main" id="{21920EDF-10B8-15AD-D005-F4876827317D}"/>
              </a:ext>
            </a:extLst>
          </p:cNvPr>
          <p:cNvGrpSpPr/>
          <p:nvPr/>
        </p:nvGrpSpPr>
        <p:grpSpPr>
          <a:xfrm>
            <a:off x="792692" y="2951333"/>
            <a:ext cx="10606617" cy="3629119"/>
            <a:chOff x="1160227" y="2862433"/>
            <a:chExt cx="10606617" cy="3629119"/>
          </a:xfrm>
        </p:grpSpPr>
        <p:grpSp>
          <p:nvGrpSpPr>
            <p:cNvPr id="4" name="Group 3">
              <a:extLst>
                <a:ext uri="{FF2B5EF4-FFF2-40B4-BE49-F238E27FC236}">
                  <a16:creationId xmlns:a16="http://schemas.microsoft.com/office/drawing/2014/main" id="{D785DFD5-453A-B5E2-5CA9-581CDEC16918}"/>
                </a:ext>
              </a:extLst>
            </p:cNvPr>
            <p:cNvGrpSpPr/>
            <p:nvPr/>
          </p:nvGrpSpPr>
          <p:grpSpPr>
            <a:xfrm>
              <a:off x="4644876" y="3823552"/>
              <a:ext cx="2864145" cy="1706880"/>
              <a:chOff x="3506175" y="2854960"/>
              <a:chExt cx="2864145" cy="1706880"/>
            </a:xfrm>
          </p:grpSpPr>
          <p:sp>
            <p:nvSpPr>
              <p:cNvPr id="7" name="Arrow: Chevron 6">
                <a:extLst>
                  <a:ext uri="{FF2B5EF4-FFF2-40B4-BE49-F238E27FC236}">
                    <a16:creationId xmlns:a16="http://schemas.microsoft.com/office/drawing/2014/main" id="{0C0BCDD0-B8C9-7E7A-C88B-152A780566DB}"/>
                  </a:ext>
                </a:extLst>
              </p:cNvPr>
              <p:cNvSpPr/>
              <p:nvPr/>
            </p:nvSpPr>
            <p:spPr>
              <a:xfrm>
                <a:off x="3506175" y="2854960"/>
                <a:ext cx="2864145" cy="1706880"/>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9" name="Picture 8" descr="A circuit board in the shape of a brain">
                <a:extLst>
                  <a:ext uri="{FF2B5EF4-FFF2-40B4-BE49-F238E27FC236}">
                    <a16:creationId xmlns:a16="http://schemas.microsoft.com/office/drawing/2014/main" id="{DF57F88D-7A2C-4DEA-3D6A-C90D5536F97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2947" y="3022600"/>
                <a:ext cx="1371600" cy="1371600"/>
              </a:xfrm>
              <a:prstGeom prst="rect">
                <a:avLst/>
              </a:prstGeom>
            </p:spPr>
          </p:pic>
        </p:grpSp>
        <p:grpSp>
          <p:nvGrpSpPr>
            <p:cNvPr id="22" name="Group 21">
              <a:extLst>
                <a:ext uri="{FF2B5EF4-FFF2-40B4-BE49-F238E27FC236}">
                  <a16:creationId xmlns:a16="http://schemas.microsoft.com/office/drawing/2014/main" id="{C1A14E23-AA93-86E8-9F68-64E6B6E87810}"/>
                </a:ext>
              </a:extLst>
            </p:cNvPr>
            <p:cNvGrpSpPr/>
            <p:nvPr/>
          </p:nvGrpSpPr>
          <p:grpSpPr>
            <a:xfrm>
              <a:off x="1160227" y="2862433"/>
              <a:ext cx="2947927" cy="3629119"/>
              <a:chOff x="1160227" y="2862433"/>
              <a:chExt cx="2947927" cy="3629119"/>
            </a:xfrm>
          </p:grpSpPr>
          <p:sp>
            <p:nvSpPr>
              <p:cNvPr id="16" name="Rectangle: Rounded Corners 15">
                <a:extLst>
                  <a:ext uri="{FF2B5EF4-FFF2-40B4-BE49-F238E27FC236}">
                    <a16:creationId xmlns:a16="http://schemas.microsoft.com/office/drawing/2014/main" id="{D10473C2-9D24-7A89-2272-9D4E1A8C7288}"/>
                  </a:ext>
                </a:extLst>
              </p:cNvPr>
              <p:cNvSpPr/>
              <p:nvPr/>
            </p:nvSpPr>
            <p:spPr>
              <a:xfrm>
                <a:off x="1520402" y="5028512"/>
                <a:ext cx="2587752" cy="1463040"/>
              </a:xfrm>
              <a:prstGeom prst="roundRect">
                <a:avLst/>
              </a:prstGeom>
              <a:solidFill>
                <a:srgbClr val="FBA7A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GSBPM</a:t>
                </a:r>
              </a:p>
              <a:p>
                <a:pPr algn="ctr"/>
                <a:r>
                  <a:rPr lang="en-US" sz="4000" dirty="0"/>
                  <a:t>updates</a:t>
                </a:r>
              </a:p>
            </p:txBody>
          </p:sp>
          <p:pic>
            <p:nvPicPr>
              <p:cNvPr id="12" name="Picture 11">
                <a:extLst>
                  <a:ext uri="{FF2B5EF4-FFF2-40B4-BE49-F238E27FC236}">
                    <a16:creationId xmlns:a16="http://schemas.microsoft.com/office/drawing/2014/main" id="{D3BA6D08-3C39-1D82-CDCF-4D68CEF4C2DB}"/>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1160227" y="2862433"/>
                <a:ext cx="2947927" cy="2022632"/>
              </a:xfrm>
              <a:prstGeom prst="rect">
                <a:avLst/>
              </a:prstGeom>
            </p:spPr>
          </p:pic>
        </p:grpSp>
        <p:grpSp>
          <p:nvGrpSpPr>
            <p:cNvPr id="21" name="Group 20">
              <a:extLst>
                <a:ext uri="{FF2B5EF4-FFF2-40B4-BE49-F238E27FC236}">
                  <a16:creationId xmlns:a16="http://schemas.microsoft.com/office/drawing/2014/main" id="{93DE62BB-B5C8-6D71-E22A-1D70EF9C2A09}"/>
                </a:ext>
              </a:extLst>
            </p:cNvPr>
            <p:cNvGrpSpPr/>
            <p:nvPr/>
          </p:nvGrpSpPr>
          <p:grpSpPr>
            <a:xfrm>
              <a:off x="8045744" y="3419692"/>
              <a:ext cx="3721100" cy="2514600"/>
              <a:chOff x="8045744" y="3648954"/>
              <a:chExt cx="3721100" cy="2514600"/>
            </a:xfrm>
          </p:grpSpPr>
          <p:sp>
            <p:nvSpPr>
              <p:cNvPr id="17" name="Rectangle: Rounded Corners 16">
                <a:extLst>
                  <a:ext uri="{FF2B5EF4-FFF2-40B4-BE49-F238E27FC236}">
                    <a16:creationId xmlns:a16="http://schemas.microsoft.com/office/drawing/2014/main" id="{964E965D-881B-B3C9-F78E-5AA679159534}"/>
                  </a:ext>
                </a:extLst>
              </p:cNvPr>
              <p:cNvSpPr/>
              <p:nvPr/>
            </p:nvSpPr>
            <p:spPr>
              <a:xfrm>
                <a:off x="8045744" y="3648954"/>
                <a:ext cx="3263900" cy="2057400"/>
              </a:xfrm>
              <a:prstGeom prst="roundRect">
                <a:avLst/>
              </a:prstGeom>
              <a:solidFill>
                <a:srgbClr val="FBA7A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GSBPM</a:t>
                </a:r>
              </a:p>
              <a:p>
                <a:pPr algn="ctr"/>
                <a:r>
                  <a:rPr lang="en-US" sz="4000" dirty="0"/>
                  <a:t>updates</a:t>
                </a:r>
              </a:p>
            </p:txBody>
          </p:sp>
          <p:sp>
            <p:nvSpPr>
              <p:cNvPr id="18" name="Rectangle: Rounded Corners 17">
                <a:extLst>
                  <a:ext uri="{FF2B5EF4-FFF2-40B4-BE49-F238E27FC236}">
                    <a16:creationId xmlns:a16="http://schemas.microsoft.com/office/drawing/2014/main" id="{D13CEEEE-C008-7486-59F2-CBA2C003BA4C}"/>
                  </a:ext>
                </a:extLst>
              </p:cNvPr>
              <p:cNvSpPr/>
              <p:nvPr/>
            </p:nvSpPr>
            <p:spPr>
              <a:xfrm>
                <a:off x="8198144" y="3801354"/>
                <a:ext cx="3263900" cy="2057400"/>
              </a:xfrm>
              <a:prstGeom prst="roundRect">
                <a:avLst/>
              </a:prstGeom>
              <a:solidFill>
                <a:srgbClr val="FBA7A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GSBPM</a:t>
                </a:r>
              </a:p>
              <a:p>
                <a:pPr algn="ctr"/>
                <a:r>
                  <a:rPr lang="en-US" sz="4000" dirty="0"/>
                  <a:t>updates</a:t>
                </a:r>
              </a:p>
            </p:txBody>
          </p:sp>
          <p:sp>
            <p:nvSpPr>
              <p:cNvPr id="19" name="Rectangle: Rounded Corners 18">
                <a:extLst>
                  <a:ext uri="{FF2B5EF4-FFF2-40B4-BE49-F238E27FC236}">
                    <a16:creationId xmlns:a16="http://schemas.microsoft.com/office/drawing/2014/main" id="{DEBD3F0A-3B4B-B20C-E737-A4818A704543}"/>
                  </a:ext>
                </a:extLst>
              </p:cNvPr>
              <p:cNvSpPr/>
              <p:nvPr/>
            </p:nvSpPr>
            <p:spPr>
              <a:xfrm>
                <a:off x="8350544" y="3953754"/>
                <a:ext cx="3263900" cy="2057400"/>
              </a:xfrm>
              <a:prstGeom prst="roundRect">
                <a:avLst/>
              </a:prstGeom>
              <a:solidFill>
                <a:srgbClr val="FBA7A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GSBPM</a:t>
                </a:r>
              </a:p>
              <a:p>
                <a:pPr algn="ctr"/>
                <a:r>
                  <a:rPr lang="en-US" sz="4000" dirty="0"/>
                  <a:t>updates</a:t>
                </a:r>
              </a:p>
            </p:txBody>
          </p:sp>
          <p:sp>
            <p:nvSpPr>
              <p:cNvPr id="20" name="Rectangle: Rounded Corners 19">
                <a:extLst>
                  <a:ext uri="{FF2B5EF4-FFF2-40B4-BE49-F238E27FC236}">
                    <a16:creationId xmlns:a16="http://schemas.microsoft.com/office/drawing/2014/main" id="{E539EC55-A4F8-86DC-63BD-151212775171}"/>
                  </a:ext>
                </a:extLst>
              </p:cNvPr>
              <p:cNvSpPr/>
              <p:nvPr/>
            </p:nvSpPr>
            <p:spPr>
              <a:xfrm>
                <a:off x="8502944" y="4106154"/>
                <a:ext cx="3263900" cy="2057400"/>
              </a:xfrm>
              <a:prstGeom prst="roundRect">
                <a:avLst/>
              </a:prstGeom>
              <a:solidFill>
                <a:srgbClr val="FBA7A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GSBPM Update</a:t>
                </a:r>
              </a:p>
              <a:p>
                <a:pPr algn="ctr"/>
                <a:r>
                  <a:rPr lang="en-US" sz="2800" dirty="0"/>
                  <a:t>+ reasoning/phase</a:t>
                </a:r>
              </a:p>
            </p:txBody>
          </p:sp>
        </p:grpSp>
      </p:grpSp>
    </p:spTree>
    <p:extLst>
      <p:ext uri="{BB962C8B-B14F-4D97-AF65-F5344CB8AC3E}">
        <p14:creationId xmlns:p14="http://schemas.microsoft.com/office/powerpoint/2010/main" val="35678885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D3BC2-1259-5750-85E1-0355AD8D5D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B3D000-BB0A-E6AF-6EAD-9D1FD7C43AEC}"/>
              </a:ext>
            </a:extLst>
          </p:cNvPr>
          <p:cNvSpPr>
            <a:spLocks noGrp="1"/>
          </p:cNvSpPr>
          <p:nvPr>
            <p:ph type="title"/>
          </p:nvPr>
        </p:nvSpPr>
        <p:spPr/>
        <p:txBody>
          <a:bodyPr>
            <a:normAutofit/>
          </a:bodyPr>
          <a:lstStyle/>
          <a:p>
            <a:r>
              <a:rPr lang="en-US" dirty="0"/>
              <a:t>4. Aggregate updates per GSBPM (sub-)phase</a:t>
            </a:r>
          </a:p>
        </p:txBody>
      </p:sp>
      <p:sp>
        <p:nvSpPr>
          <p:cNvPr id="3" name="Content Placeholder 2">
            <a:extLst>
              <a:ext uri="{FF2B5EF4-FFF2-40B4-BE49-F238E27FC236}">
                <a16:creationId xmlns:a16="http://schemas.microsoft.com/office/drawing/2014/main" id="{B77F4D07-0A85-EBC8-788B-15BA7E6124BE}"/>
              </a:ext>
            </a:extLst>
          </p:cNvPr>
          <p:cNvSpPr>
            <a:spLocks noGrp="1"/>
          </p:cNvSpPr>
          <p:nvPr>
            <p:ph idx="1"/>
          </p:nvPr>
        </p:nvSpPr>
        <p:spPr>
          <a:xfrm>
            <a:off x="838200" y="1825625"/>
            <a:ext cx="10515600" cy="1220777"/>
          </a:xfrm>
        </p:spPr>
        <p:txBody>
          <a:bodyPr>
            <a:normAutofit fontScale="77500" lnSpcReduction="20000"/>
          </a:bodyPr>
          <a:lstStyle/>
          <a:p>
            <a:r>
              <a:rPr lang="en-US" dirty="0"/>
              <a:t>Include implicated BSP descriptions adjacent to extracted update data</a:t>
            </a:r>
          </a:p>
          <a:p>
            <a:r>
              <a:rPr lang="en-US" dirty="0"/>
              <a:t>Have LLM articulate how the update would change each implicated BSP description.</a:t>
            </a:r>
          </a:p>
          <a:p>
            <a:r>
              <a:rPr lang="en-US" dirty="0"/>
              <a:t>Repeat for each update</a:t>
            </a:r>
          </a:p>
        </p:txBody>
      </p:sp>
      <p:grpSp>
        <p:nvGrpSpPr>
          <p:cNvPr id="13" name="Group 12">
            <a:extLst>
              <a:ext uri="{FF2B5EF4-FFF2-40B4-BE49-F238E27FC236}">
                <a16:creationId xmlns:a16="http://schemas.microsoft.com/office/drawing/2014/main" id="{C0CFA9F2-727D-5F5A-3B62-B2F7DC47E75B}"/>
              </a:ext>
            </a:extLst>
          </p:cNvPr>
          <p:cNvGrpSpPr/>
          <p:nvPr/>
        </p:nvGrpSpPr>
        <p:grpSpPr>
          <a:xfrm>
            <a:off x="348957" y="3610854"/>
            <a:ext cx="11494087" cy="2514600"/>
            <a:chOff x="272757" y="3610854"/>
            <a:chExt cx="11494087" cy="2514600"/>
          </a:xfrm>
        </p:grpSpPr>
        <p:grpSp>
          <p:nvGrpSpPr>
            <p:cNvPr id="4" name="Group 3">
              <a:extLst>
                <a:ext uri="{FF2B5EF4-FFF2-40B4-BE49-F238E27FC236}">
                  <a16:creationId xmlns:a16="http://schemas.microsoft.com/office/drawing/2014/main" id="{6014DE1A-EFC0-FF7A-5795-35CF2F91BB57}"/>
                </a:ext>
              </a:extLst>
            </p:cNvPr>
            <p:cNvGrpSpPr/>
            <p:nvPr/>
          </p:nvGrpSpPr>
          <p:grpSpPr>
            <a:xfrm>
              <a:off x="4587728" y="4014714"/>
              <a:ext cx="2864145" cy="1706880"/>
              <a:chOff x="3506175" y="2854960"/>
              <a:chExt cx="2864145" cy="1706880"/>
            </a:xfrm>
          </p:grpSpPr>
          <p:sp>
            <p:nvSpPr>
              <p:cNvPr id="7" name="Arrow: Chevron 6">
                <a:extLst>
                  <a:ext uri="{FF2B5EF4-FFF2-40B4-BE49-F238E27FC236}">
                    <a16:creationId xmlns:a16="http://schemas.microsoft.com/office/drawing/2014/main" id="{02FF9976-2461-6748-8AFD-058A4DCB7842}"/>
                  </a:ext>
                </a:extLst>
              </p:cNvPr>
              <p:cNvSpPr/>
              <p:nvPr/>
            </p:nvSpPr>
            <p:spPr>
              <a:xfrm>
                <a:off x="3506175" y="2854960"/>
                <a:ext cx="2864145" cy="1706880"/>
              </a:xfrm>
              <a:prstGeom prst="chevron">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solidFill>
                    <a:schemeClr val="tx1"/>
                  </a:solidFill>
                </a:endParaRPr>
              </a:p>
            </p:txBody>
          </p:sp>
          <p:pic>
            <p:nvPicPr>
              <p:cNvPr id="9" name="Picture 8">
                <a:extLst>
                  <a:ext uri="{FF2B5EF4-FFF2-40B4-BE49-F238E27FC236}">
                    <a16:creationId xmlns:a16="http://schemas.microsoft.com/office/drawing/2014/main" id="{516D396C-0E79-9B54-9BD5-035209AE7E2D}"/>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4442947" y="3022600"/>
                <a:ext cx="1371600" cy="1371600"/>
              </a:xfrm>
              <a:prstGeom prst="rect">
                <a:avLst/>
              </a:prstGeom>
            </p:spPr>
          </p:pic>
        </p:grpSp>
        <p:grpSp>
          <p:nvGrpSpPr>
            <p:cNvPr id="21" name="Group 20">
              <a:extLst>
                <a:ext uri="{FF2B5EF4-FFF2-40B4-BE49-F238E27FC236}">
                  <a16:creationId xmlns:a16="http://schemas.microsoft.com/office/drawing/2014/main" id="{11DFE029-8A8D-168A-0FF8-6FBB05ED3B1E}"/>
                </a:ext>
              </a:extLst>
            </p:cNvPr>
            <p:cNvGrpSpPr/>
            <p:nvPr/>
          </p:nvGrpSpPr>
          <p:grpSpPr>
            <a:xfrm>
              <a:off x="8045744" y="3610854"/>
              <a:ext cx="3721100" cy="2514600"/>
              <a:chOff x="8045744" y="3648954"/>
              <a:chExt cx="3721100" cy="2514600"/>
            </a:xfrm>
          </p:grpSpPr>
          <p:sp>
            <p:nvSpPr>
              <p:cNvPr id="17" name="Rectangle: Rounded Corners 16">
                <a:extLst>
                  <a:ext uri="{FF2B5EF4-FFF2-40B4-BE49-F238E27FC236}">
                    <a16:creationId xmlns:a16="http://schemas.microsoft.com/office/drawing/2014/main" id="{5E2A761C-3B52-5B83-EE1B-DF6E096E12C3}"/>
                  </a:ext>
                </a:extLst>
              </p:cNvPr>
              <p:cNvSpPr/>
              <p:nvPr/>
            </p:nvSpPr>
            <p:spPr>
              <a:xfrm>
                <a:off x="8045744" y="3648954"/>
                <a:ext cx="3263900" cy="2057400"/>
              </a:xfrm>
              <a:prstGeom prst="roundRect">
                <a:avLst/>
              </a:prstGeom>
              <a:solidFill>
                <a:srgbClr val="FBA7A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GSBPM</a:t>
                </a:r>
              </a:p>
              <a:p>
                <a:pPr algn="ctr"/>
                <a:r>
                  <a:rPr lang="en-US" sz="4000" dirty="0"/>
                  <a:t>updates</a:t>
                </a:r>
              </a:p>
            </p:txBody>
          </p:sp>
          <p:sp>
            <p:nvSpPr>
              <p:cNvPr id="18" name="Rectangle: Rounded Corners 17">
                <a:extLst>
                  <a:ext uri="{FF2B5EF4-FFF2-40B4-BE49-F238E27FC236}">
                    <a16:creationId xmlns:a16="http://schemas.microsoft.com/office/drawing/2014/main" id="{3930E8BE-E848-CFB6-E9D6-33304DAAB755}"/>
                  </a:ext>
                </a:extLst>
              </p:cNvPr>
              <p:cNvSpPr/>
              <p:nvPr/>
            </p:nvSpPr>
            <p:spPr>
              <a:xfrm>
                <a:off x="8198144" y="3801354"/>
                <a:ext cx="3263900" cy="2057400"/>
              </a:xfrm>
              <a:prstGeom prst="roundRect">
                <a:avLst/>
              </a:prstGeom>
              <a:solidFill>
                <a:srgbClr val="FBA7A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GSBPM</a:t>
                </a:r>
              </a:p>
              <a:p>
                <a:pPr algn="ctr"/>
                <a:r>
                  <a:rPr lang="en-US" sz="4000" dirty="0"/>
                  <a:t>updates</a:t>
                </a:r>
              </a:p>
            </p:txBody>
          </p:sp>
          <p:sp>
            <p:nvSpPr>
              <p:cNvPr id="19" name="Rectangle: Rounded Corners 18">
                <a:extLst>
                  <a:ext uri="{FF2B5EF4-FFF2-40B4-BE49-F238E27FC236}">
                    <a16:creationId xmlns:a16="http://schemas.microsoft.com/office/drawing/2014/main" id="{A254B1A8-DCF7-05B1-E92B-C435CB39DF23}"/>
                  </a:ext>
                </a:extLst>
              </p:cNvPr>
              <p:cNvSpPr/>
              <p:nvPr/>
            </p:nvSpPr>
            <p:spPr>
              <a:xfrm>
                <a:off x="8350544" y="3953754"/>
                <a:ext cx="3263900" cy="2057400"/>
              </a:xfrm>
              <a:prstGeom prst="roundRect">
                <a:avLst/>
              </a:prstGeom>
              <a:solidFill>
                <a:srgbClr val="FBA7A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GSBPM</a:t>
                </a:r>
              </a:p>
              <a:p>
                <a:pPr algn="ctr"/>
                <a:r>
                  <a:rPr lang="en-US" sz="4000" dirty="0"/>
                  <a:t>updates</a:t>
                </a:r>
              </a:p>
            </p:txBody>
          </p:sp>
          <p:sp>
            <p:nvSpPr>
              <p:cNvPr id="20" name="Rectangle: Rounded Corners 19">
                <a:extLst>
                  <a:ext uri="{FF2B5EF4-FFF2-40B4-BE49-F238E27FC236}">
                    <a16:creationId xmlns:a16="http://schemas.microsoft.com/office/drawing/2014/main" id="{C4E72D55-2BB8-7B5B-8528-01E1E699A2AA}"/>
                  </a:ext>
                </a:extLst>
              </p:cNvPr>
              <p:cNvSpPr/>
              <p:nvPr/>
            </p:nvSpPr>
            <p:spPr>
              <a:xfrm>
                <a:off x="8502944" y="4106154"/>
                <a:ext cx="3263900" cy="2057400"/>
              </a:xfrm>
              <a:prstGeom prst="roundRect">
                <a:avLst/>
              </a:prstGeom>
              <a:solidFill>
                <a:srgbClr val="FBA7A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GSBPM phase</a:t>
                </a:r>
              </a:p>
              <a:p>
                <a:pPr algn="ctr"/>
                <a:r>
                  <a:rPr lang="en-US" sz="2800" dirty="0"/>
                  <a:t>+ reasoning/update</a:t>
                </a:r>
              </a:p>
            </p:txBody>
          </p:sp>
        </p:grpSp>
        <p:grpSp>
          <p:nvGrpSpPr>
            <p:cNvPr id="5" name="Group 4">
              <a:extLst>
                <a:ext uri="{FF2B5EF4-FFF2-40B4-BE49-F238E27FC236}">
                  <a16:creationId xmlns:a16="http://schemas.microsoft.com/office/drawing/2014/main" id="{941F94F1-984F-751F-1B7F-6349A728E50E}"/>
                </a:ext>
              </a:extLst>
            </p:cNvPr>
            <p:cNvGrpSpPr/>
            <p:nvPr/>
          </p:nvGrpSpPr>
          <p:grpSpPr>
            <a:xfrm>
              <a:off x="272757" y="3610854"/>
              <a:ext cx="3721100" cy="2514600"/>
              <a:chOff x="8045744" y="3648954"/>
              <a:chExt cx="3721100" cy="2514600"/>
            </a:xfrm>
          </p:grpSpPr>
          <p:sp>
            <p:nvSpPr>
              <p:cNvPr id="6" name="Rectangle: Rounded Corners 5">
                <a:extLst>
                  <a:ext uri="{FF2B5EF4-FFF2-40B4-BE49-F238E27FC236}">
                    <a16:creationId xmlns:a16="http://schemas.microsoft.com/office/drawing/2014/main" id="{A7AC41E6-5536-D7A4-4CBA-3812F96D4C05}"/>
                  </a:ext>
                </a:extLst>
              </p:cNvPr>
              <p:cNvSpPr/>
              <p:nvPr/>
            </p:nvSpPr>
            <p:spPr>
              <a:xfrm>
                <a:off x="8045744" y="3648954"/>
                <a:ext cx="3263900" cy="2057400"/>
              </a:xfrm>
              <a:prstGeom prst="roundRect">
                <a:avLst/>
              </a:prstGeom>
              <a:solidFill>
                <a:srgbClr val="FBA7A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GSBPM</a:t>
                </a:r>
              </a:p>
              <a:p>
                <a:pPr algn="ctr"/>
                <a:r>
                  <a:rPr lang="en-US" sz="4000" dirty="0"/>
                  <a:t>updates</a:t>
                </a:r>
              </a:p>
            </p:txBody>
          </p:sp>
          <p:sp>
            <p:nvSpPr>
              <p:cNvPr id="8" name="Rectangle: Rounded Corners 7">
                <a:extLst>
                  <a:ext uri="{FF2B5EF4-FFF2-40B4-BE49-F238E27FC236}">
                    <a16:creationId xmlns:a16="http://schemas.microsoft.com/office/drawing/2014/main" id="{2F5CF00A-7289-7E59-0670-5A0E3F4333DB}"/>
                  </a:ext>
                </a:extLst>
              </p:cNvPr>
              <p:cNvSpPr/>
              <p:nvPr/>
            </p:nvSpPr>
            <p:spPr>
              <a:xfrm>
                <a:off x="8198144" y="3801354"/>
                <a:ext cx="3263900" cy="2057400"/>
              </a:xfrm>
              <a:prstGeom prst="roundRect">
                <a:avLst/>
              </a:prstGeom>
              <a:solidFill>
                <a:srgbClr val="FBA7A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GSBPM</a:t>
                </a:r>
              </a:p>
              <a:p>
                <a:pPr algn="ctr"/>
                <a:r>
                  <a:rPr lang="en-US" sz="4000" dirty="0"/>
                  <a:t>updates</a:t>
                </a:r>
              </a:p>
            </p:txBody>
          </p:sp>
          <p:sp>
            <p:nvSpPr>
              <p:cNvPr id="10" name="Rectangle: Rounded Corners 9">
                <a:extLst>
                  <a:ext uri="{FF2B5EF4-FFF2-40B4-BE49-F238E27FC236}">
                    <a16:creationId xmlns:a16="http://schemas.microsoft.com/office/drawing/2014/main" id="{F48D187A-9A02-9EC3-654C-EA2BB310D6BE}"/>
                  </a:ext>
                </a:extLst>
              </p:cNvPr>
              <p:cNvSpPr/>
              <p:nvPr/>
            </p:nvSpPr>
            <p:spPr>
              <a:xfrm>
                <a:off x="8350544" y="3953754"/>
                <a:ext cx="3263900" cy="2057400"/>
              </a:xfrm>
              <a:prstGeom prst="roundRect">
                <a:avLst/>
              </a:prstGeom>
              <a:solidFill>
                <a:srgbClr val="FBA7A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GSBPM</a:t>
                </a:r>
              </a:p>
              <a:p>
                <a:pPr algn="ctr"/>
                <a:r>
                  <a:rPr lang="en-US" sz="4000" dirty="0"/>
                  <a:t>updates</a:t>
                </a:r>
              </a:p>
            </p:txBody>
          </p:sp>
          <p:sp>
            <p:nvSpPr>
              <p:cNvPr id="11" name="Rectangle: Rounded Corners 10">
                <a:extLst>
                  <a:ext uri="{FF2B5EF4-FFF2-40B4-BE49-F238E27FC236}">
                    <a16:creationId xmlns:a16="http://schemas.microsoft.com/office/drawing/2014/main" id="{D28C487A-D160-B664-D6C9-6C21FEF00C46}"/>
                  </a:ext>
                </a:extLst>
              </p:cNvPr>
              <p:cNvSpPr/>
              <p:nvPr/>
            </p:nvSpPr>
            <p:spPr>
              <a:xfrm>
                <a:off x="8502944" y="4106154"/>
                <a:ext cx="3263900" cy="2057400"/>
              </a:xfrm>
              <a:prstGeom prst="roundRect">
                <a:avLst/>
              </a:prstGeom>
              <a:solidFill>
                <a:srgbClr val="FBA7A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GSBPM Update</a:t>
                </a:r>
              </a:p>
              <a:p>
                <a:pPr algn="ctr"/>
                <a:r>
                  <a:rPr lang="en-US" sz="2800" dirty="0"/>
                  <a:t>+</a:t>
                </a:r>
              </a:p>
              <a:p>
                <a:pPr algn="ctr"/>
                <a:r>
                  <a:rPr lang="en-US" sz="2800" dirty="0"/>
                  <a:t>reasoning/phase</a:t>
                </a:r>
              </a:p>
            </p:txBody>
          </p:sp>
        </p:grpSp>
      </p:grpSp>
    </p:spTree>
    <p:extLst>
      <p:ext uri="{BB962C8B-B14F-4D97-AF65-F5344CB8AC3E}">
        <p14:creationId xmlns:p14="http://schemas.microsoft.com/office/powerpoint/2010/main" val="8630642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9ADBA4-D6F0-73F4-CEB6-4E7B09887F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29E66B-EE66-1304-E421-BC85B7E38962}"/>
              </a:ext>
            </a:extLst>
          </p:cNvPr>
          <p:cNvSpPr>
            <a:spLocks noGrp="1"/>
          </p:cNvSpPr>
          <p:nvPr>
            <p:ph type="title"/>
          </p:nvPr>
        </p:nvSpPr>
        <p:spPr/>
        <p:txBody>
          <a:bodyPr>
            <a:normAutofit/>
          </a:bodyPr>
          <a:lstStyle/>
          <a:p>
            <a:r>
              <a:rPr lang="en-US" dirty="0"/>
              <a:t>4. Aggregate updates per GSBPM (sub-)phase</a:t>
            </a:r>
          </a:p>
        </p:txBody>
      </p:sp>
      <p:sp>
        <p:nvSpPr>
          <p:cNvPr id="3" name="Content Placeholder 2">
            <a:extLst>
              <a:ext uri="{FF2B5EF4-FFF2-40B4-BE49-F238E27FC236}">
                <a16:creationId xmlns:a16="http://schemas.microsoft.com/office/drawing/2014/main" id="{CE5833E9-3EAB-D00A-2A4C-DDDC918B9546}"/>
              </a:ext>
            </a:extLst>
          </p:cNvPr>
          <p:cNvSpPr>
            <a:spLocks noGrp="1"/>
          </p:cNvSpPr>
          <p:nvPr>
            <p:ph idx="1"/>
          </p:nvPr>
        </p:nvSpPr>
        <p:spPr>
          <a:xfrm>
            <a:off x="838200" y="1371600"/>
            <a:ext cx="11049000" cy="4479686"/>
          </a:xfrm>
        </p:spPr>
        <p:txBody>
          <a:bodyPr>
            <a:noAutofit/>
          </a:bodyPr>
          <a:lstStyle/>
          <a:p>
            <a:pPr marL="0" indent="0">
              <a:lnSpc>
                <a:spcPct val="100000"/>
              </a:lnSpc>
              <a:spcBef>
                <a:spcPts val="0"/>
              </a:spcBef>
              <a:buNone/>
            </a:pPr>
            <a:r>
              <a:rPr lang="en-US" sz="2000" dirty="0"/>
              <a:t>{"</a:t>
            </a:r>
            <a:r>
              <a:rPr lang="en-US" sz="2000" dirty="0">
                <a:solidFill>
                  <a:srgbClr val="FF0000"/>
                </a:solidFill>
              </a:rPr>
              <a:t>id</a:t>
            </a:r>
            <a:r>
              <a:rPr lang="en-US" sz="2000" dirty="0"/>
              <a:t>": "</a:t>
            </a:r>
            <a:r>
              <a:rPr lang="en-US" sz="2000" dirty="0">
                <a:solidFill>
                  <a:srgbClr val="3B7D23"/>
                </a:solidFill>
              </a:rPr>
              <a:t>4.4</a:t>
            </a:r>
            <a:r>
              <a:rPr lang="en-US" sz="2000" dirty="0"/>
              <a:t>",</a:t>
            </a:r>
          </a:p>
          <a:p>
            <a:pPr marL="0" indent="0">
              <a:lnSpc>
                <a:spcPct val="100000"/>
              </a:lnSpc>
              <a:spcBef>
                <a:spcPts val="0"/>
              </a:spcBef>
              <a:buNone/>
            </a:pPr>
            <a:r>
              <a:rPr lang="en-US" sz="2000" dirty="0"/>
              <a:t>"</a:t>
            </a:r>
            <a:r>
              <a:rPr lang="en-US" sz="2000" dirty="0">
                <a:solidFill>
                  <a:srgbClr val="FF0000"/>
                </a:solidFill>
              </a:rPr>
              <a:t>text</a:t>
            </a:r>
            <a:r>
              <a:rPr lang="en-US" sz="2000" dirty="0"/>
              <a:t>": "</a:t>
            </a:r>
            <a:r>
              <a:rPr lang="en-US" sz="2000" dirty="0" err="1">
                <a:solidFill>
                  <a:srgbClr val="3B7D23"/>
                </a:solidFill>
              </a:rPr>
              <a:t>Finalise</a:t>
            </a:r>
            <a:r>
              <a:rPr lang="en-US" sz="2000" dirty="0">
                <a:solidFill>
                  <a:srgbClr val="3B7D23"/>
                </a:solidFill>
              </a:rPr>
              <a:t> collection</a:t>
            </a:r>
            <a:r>
              <a:rPr lang="en-US" sz="2000" dirty="0"/>
              <a:t>",</a:t>
            </a:r>
          </a:p>
          <a:p>
            <a:pPr marL="0" indent="0">
              <a:lnSpc>
                <a:spcPct val="100000"/>
              </a:lnSpc>
              <a:spcBef>
                <a:spcPts val="0"/>
              </a:spcBef>
              <a:buNone/>
            </a:pPr>
            <a:r>
              <a:rPr lang="en-US" sz="2000" dirty="0"/>
              <a:t>"</a:t>
            </a:r>
            <a:r>
              <a:rPr lang="en-US" sz="2000" dirty="0">
                <a:solidFill>
                  <a:srgbClr val="FF0000"/>
                </a:solidFill>
              </a:rPr>
              <a:t>updates</a:t>
            </a:r>
            <a:r>
              <a:rPr lang="en-US" sz="2000" dirty="0"/>
              <a:t>": [</a:t>
            </a:r>
          </a:p>
          <a:p>
            <a:pPr marL="457200" lvl="1" indent="0">
              <a:lnSpc>
                <a:spcPct val="100000"/>
              </a:lnSpc>
              <a:spcBef>
                <a:spcPts val="0"/>
              </a:spcBef>
              <a:buNone/>
            </a:pPr>
            <a:r>
              <a:rPr lang="en-US" sz="2000" dirty="0"/>
              <a:t>	“{"</a:t>
            </a:r>
            <a:r>
              <a:rPr lang="en-US" sz="2000" dirty="0">
                <a:solidFill>
                  <a:srgbClr val="FF0000"/>
                </a:solidFill>
              </a:rPr>
              <a:t>reference</a:t>
            </a:r>
            <a:r>
              <a:rPr lang="en-US" sz="2000" dirty="0"/>
              <a:t>": "</a:t>
            </a:r>
            <a:r>
              <a:rPr lang="en-US" sz="2000" dirty="0">
                <a:solidFill>
                  <a:srgbClr val="3B7D23"/>
                </a:solidFill>
              </a:rPr>
              <a:t>8 - GSBPM Roadmap Data In</a:t>
            </a:r>
            <a:r>
              <a:rPr lang="en-US" sz="2000" dirty="0"/>
              <a:t>",</a:t>
            </a:r>
          </a:p>
          <a:p>
            <a:pPr marL="457200" lvl="1" indent="0">
              <a:lnSpc>
                <a:spcPct val="100000"/>
              </a:lnSpc>
              <a:spcBef>
                <a:spcPts val="0"/>
              </a:spcBef>
              <a:buNone/>
            </a:pPr>
            <a:r>
              <a:rPr lang="en-US" sz="2000" dirty="0"/>
              <a:t>"</a:t>
            </a:r>
            <a:r>
              <a:rPr lang="en-US" sz="2000" dirty="0">
                <a:solidFill>
                  <a:srgbClr val="FF0000"/>
                </a:solidFill>
              </a:rPr>
              <a:t>description</a:t>
            </a:r>
            <a:r>
              <a:rPr lang="en-US" sz="2000" dirty="0"/>
              <a:t>": "</a:t>
            </a:r>
            <a:r>
              <a:rPr lang="en-US" sz="2000" dirty="0">
                <a:solidFill>
                  <a:srgbClr val="3B7D23"/>
                </a:solidFill>
              </a:rPr>
              <a:t>Clear delineation sponsor (subject matter) roles and accountabilities, based on the minimum requirement that sponsors / subject matter are responsible for specification and certification (1.4, 1.5, 3.1, 4.4)</a:t>
            </a:r>
            <a:r>
              <a:rPr lang="en-US" sz="2000" dirty="0"/>
              <a:t>",</a:t>
            </a:r>
          </a:p>
          <a:p>
            <a:pPr marL="457200" lvl="1" indent="0">
              <a:lnSpc>
                <a:spcPct val="100000"/>
              </a:lnSpc>
              <a:spcBef>
                <a:spcPts val="0"/>
              </a:spcBef>
              <a:buNone/>
            </a:pPr>
            <a:r>
              <a:rPr lang="en-US" sz="2000" dirty="0"/>
              <a:t>"</a:t>
            </a:r>
            <a:r>
              <a:rPr lang="en-US" sz="2000" dirty="0">
                <a:solidFill>
                  <a:srgbClr val="FF0000"/>
                </a:solidFill>
              </a:rPr>
              <a:t>justification</a:t>
            </a:r>
            <a:r>
              <a:rPr lang="en-US" sz="2000" dirty="0"/>
              <a:t>": "</a:t>
            </a:r>
            <a:r>
              <a:rPr lang="en-US" sz="2000" dirty="0">
                <a:solidFill>
                  <a:srgbClr val="3B7D23"/>
                </a:solidFill>
              </a:rPr>
              <a:t>The update explicitly states that subject matter is responsible for 'certification' in this sub-process.</a:t>
            </a:r>
            <a:r>
              <a:rPr lang="en-US" sz="2000" dirty="0"/>
              <a:t>",</a:t>
            </a:r>
          </a:p>
          <a:p>
            <a:pPr marL="457200" lvl="1" indent="0">
              <a:lnSpc>
                <a:spcPct val="100000"/>
              </a:lnSpc>
              <a:spcBef>
                <a:spcPts val="0"/>
              </a:spcBef>
              <a:buNone/>
            </a:pPr>
            <a:r>
              <a:rPr lang="en-US" sz="2000" b="1" dirty="0"/>
              <a:t>"</a:t>
            </a:r>
            <a:r>
              <a:rPr lang="en-US" sz="2000" b="1" dirty="0">
                <a:solidFill>
                  <a:srgbClr val="FF0000"/>
                </a:solidFill>
              </a:rPr>
              <a:t>reasoning</a:t>
            </a:r>
            <a:r>
              <a:rPr lang="en-US" sz="2000" b="1" dirty="0"/>
              <a:t>": "</a:t>
            </a:r>
            <a:r>
              <a:rPr lang="en-US" sz="2000" b="1" dirty="0">
                <a:solidFill>
                  <a:srgbClr val="3B7D23"/>
                </a:solidFill>
              </a:rPr>
              <a:t>The description for sub-process 4.4 would need to be updated to explicitly include a step for 'certification' by subject matter specialists. This would involve adding a statement that the collected data and metadata, after initial loading and analysis, must undergo a formal certification process by relevant subject matter experts to ensure it meets specified requirements before proceeding to the 'Process' phase. This adds an explicit quality assurance and accountability gate.</a:t>
            </a:r>
            <a:r>
              <a:rPr lang="en-US" sz="2000" b="1" dirty="0"/>
              <a:t>"</a:t>
            </a:r>
            <a:r>
              <a:rPr lang="en-US" sz="2000" dirty="0"/>
              <a:t>},</a:t>
            </a:r>
          </a:p>
          <a:p>
            <a:pPr marL="457200" lvl="1" indent="0">
              <a:lnSpc>
                <a:spcPct val="100000"/>
              </a:lnSpc>
              <a:spcBef>
                <a:spcPts val="0"/>
              </a:spcBef>
              <a:buNone/>
            </a:pPr>
            <a:r>
              <a:rPr lang="en-US" sz="2000" dirty="0"/>
              <a:t>	{"</a:t>
            </a:r>
            <a:r>
              <a:rPr lang="en-US" sz="2000" dirty="0">
                <a:solidFill>
                  <a:srgbClr val="FF0000"/>
                </a:solidFill>
              </a:rPr>
              <a:t>reference</a:t>
            </a:r>
            <a:r>
              <a:rPr lang="en-US" sz="2000" dirty="0"/>
              <a:t>": "</a:t>
            </a:r>
            <a:r>
              <a:rPr lang="en-US" sz="2000" dirty="0">
                <a:solidFill>
                  <a:srgbClr val="3B7D23"/>
                </a:solidFill>
              </a:rPr>
              <a:t>8 - GSBPM Roadmap Data In</a:t>
            </a:r>
            <a:r>
              <a:rPr lang="en-US" sz="2000" dirty="0"/>
              <a:t>",</a:t>
            </a:r>
          </a:p>
          <a:p>
            <a:pPr marL="457200" lvl="1" indent="0">
              <a:lnSpc>
                <a:spcPct val="100000"/>
              </a:lnSpc>
              <a:spcBef>
                <a:spcPts val="0"/>
              </a:spcBef>
              <a:buNone/>
            </a:pPr>
            <a:r>
              <a:rPr lang="en-US" sz="2000" dirty="0"/>
              <a:t>"</a:t>
            </a:r>
            <a:r>
              <a:rPr lang="en-US" sz="2000" dirty="0">
                <a:solidFill>
                  <a:srgbClr val="FF0000"/>
                </a:solidFill>
              </a:rPr>
              <a:t>description</a:t>
            </a:r>
            <a:r>
              <a:rPr lang="en-US" sz="2000" dirty="0"/>
              <a:t>": "</a:t>
            </a:r>
            <a:r>
              <a:rPr lang="en-US" sz="2000" dirty="0">
                <a:solidFill>
                  <a:srgbClr val="3B7D23"/>
                </a:solidFill>
              </a:rPr>
              <a:t>Full transfer of accountabilities for activities and functions related to data acquisition and collection to sup…</a:t>
            </a:r>
            <a:endParaRPr lang="en-US" sz="1500" dirty="0">
              <a:solidFill>
                <a:srgbClr val="3B7D23"/>
              </a:solidFill>
            </a:endParaRPr>
          </a:p>
        </p:txBody>
      </p:sp>
    </p:spTree>
    <p:extLst>
      <p:ext uri="{BB962C8B-B14F-4D97-AF65-F5344CB8AC3E}">
        <p14:creationId xmlns:p14="http://schemas.microsoft.com/office/powerpoint/2010/main" val="23869670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3ADF5-AB49-5B9F-5487-EDE7F43FA2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A9B55E-C5B2-7905-9B34-B7202161A6CC}"/>
              </a:ext>
            </a:extLst>
          </p:cNvPr>
          <p:cNvSpPr>
            <a:spLocks noGrp="1"/>
          </p:cNvSpPr>
          <p:nvPr>
            <p:ph type="title"/>
          </p:nvPr>
        </p:nvSpPr>
        <p:spPr/>
        <p:txBody>
          <a:bodyPr>
            <a:normAutofit/>
          </a:bodyPr>
          <a:lstStyle/>
          <a:p>
            <a:r>
              <a:rPr lang="en-US" dirty="0"/>
              <a:t>5. LLM drafts updated description</a:t>
            </a:r>
          </a:p>
        </p:txBody>
      </p:sp>
      <p:sp>
        <p:nvSpPr>
          <p:cNvPr id="3" name="Content Placeholder 2">
            <a:extLst>
              <a:ext uri="{FF2B5EF4-FFF2-40B4-BE49-F238E27FC236}">
                <a16:creationId xmlns:a16="http://schemas.microsoft.com/office/drawing/2014/main" id="{59EAFEA2-C82F-186F-31ED-3DD3EF1E8461}"/>
              </a:ext>
            </a:extLst>
          </p:cNvPr>
          <p:cNvSpPr>
            <a:spLocks noGrp="1"/>
          </p:cNvSpPr>
          <p:nvPr>
            <p:ph idx="1"/>
          </p:nvPr>
        </p:nvSpPr>
        <p:spPr>
          <a:xfrm>
            <a:off x="838200" y="1825625"/>
            <a:ext cx="10515600" cy="1220777"/>
          </a:xfrm>
        </p:spPr>
        <p:txBody>
          <a:bodyPr>
            <a:normAutofit fontScale="77500" lnSpcReduction="20000"/>
          </a:bodyPr>
          <a:lstStyle/>
          <a:p>
            <a:r>
              <a:rPr lang="en-US" dirty="0"/>
              <a:t>Include implicated BSP descriptions adjacent to extracted update data</a:t>
            </a:r>
          </a:p>
          <a:p>
            <a:r>
              <a:rPr lang="en-US" dirty="0"/>
              <a:t>Have LLM articulate how the update would change each implicated BSP description.</a:t>
            </a:r>
          </a:p>
          <a:p>
            <a:r>
              <a:rPr lang="en-US" dirty="0"/>
              <a:t>Repeat for each update</a:t>
            </a:r>
          </a:p>
        </p:txBody>
      </p:sp>
      <p:grpSp>
        <p:nvGrpSpPr>
          <p:cNvPr id="27" name="Group 26">
            <a:extLst>
              <a:ext uri="{FF2B5EF4-FFF2-40B4-BE49-F238E27FC236}">
                <a16:creationId xmlns:a16="http://schemas.microsoft.com/office/drawing/2014/main" id="{52A452BF-A47F-6BE7-DFEA-BE5A5E347AA2}"/>
              </a:ext>
            </a:extLst>
          </p:cNvPr>
          <p:cNvGrpSpPr/>
          <p:nvPr/>
        </p:nvGrpSpPr>
        <p:grpSpPr>
          <a:xfrm>
            <a:off x="537942" y="3691867"/>
            <a:ext cx="11116117" cy="2514600"/>
            <a:chOff x="474441" y="3691867"/>
            <a:chExt cx="11116117" cy="2514600"/>
          </a:xfrm>
        </p:grpSpPr>
        <p:grpSp>
          <p:nvGrpSpPr>
            <p:cNvPr id="22" name="Group 21">
              <a:extLst>
                <a:ext uri="{FF2B5EF4-FFF2-40B4-BE49-F238E27FC236}">
                  <a16:creationId xmlns:a16="http://schemas.microsoft.com/office/drawing/2014/main" id="{2ECE855F-7990-8ABA-452C-DC0655B1843E}"/>
                </a:ext>
              </a:extLst>
            </p:cNvPr>
            <p:cNvGrpSpPr/>
            <p:nvPr/>
          </p:nvGrpSpPr>
          <p:grpSpPr>
            <a:xfrm>
              <a:off x="4740127" y="4095727"/>
              <a:ext cx="2864145" cy="1706880"/>
              <a:chOff x="3506175" y="2854960"/>
              <a:chExt cx="2864145" cy="1706880"/>
            </a:xfrm>
          </p:grpSpPr>
          <p:sp>
            <p:nvSpPr>
              <p:cNvPr id="23" name="Arrow: Chevron 22">
                <a:extLst>
                  <a:ext uri="{FF2B5EF4-FFF2-40B4-BE49-F238E27FC236}">
                    <a16:creationId xmlns:a16="http://schemas.microsoft.com/office/drawing/2014/main" id="{5D7AAB30-328A-10B9-7294-722E3339604A}"/>
                  </a:ext>
                </a:extLst>
              </p:cNvPr>
              <p:cNvSpPr/>
              <p:nvPr/>
            </p:nvSpPr>
            <p:spPr>
              <a:xfrm>
                <a:off x="3506175" y="2854960"/>
                <a:ext cx="2864145" cy="1706880"/>
              </a:xfrm>
              <a:prstGeom prst="chevr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24" name="Picture 23" descr="A circuit board in the shape of a brain">
                <a:extLst>
                  <a:ext uri="{FF2B5EF4-FFF2-40B4-BE49-F238E27FC236}">
                    <a16:creationId xmlns:a16="http://schemas.microsoft.com/office/drawing/2014/main" id="{8C11C7AC-D2A5-5BAD-13BC-1559613184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2947" y="3022600"/>
                <a:ext cx="1371600" cy="1371600"/>
              </a:xfrm>
              <a:prstGeom prst="rect">
                <a:avLst/>
              </a:prstGeom>
            </p:spPr>
          </p:pic>
        </p:grpSp>
        <p:grpSp>
          <p:nvGrpSpPr>
            <p:cNvPr id="12" name="Group 11">
              <a:extLst>
                <a:ext uri="{FF2B5EF4-FFF2-40B4-BE49-F238E27FC236}">
                  <a16:creationId xmlns:a16="http://schemas.microsoft.com/office/drawing/2014/main" id="{14376F00-23E5-F00F-C021-CB09FDCDD4FA}"/>
                </a:ext>
              </a:extLst>
            </p:cNvPr>
            <p:cNvGrpSpPr/>
            <p:nvPr/>
          </p:nvGrpSpPr>
          <p:grpSpPr>
            <a:xfrm>
              <a:off x="474441" y="3691867"/>
              <a:ext cx="3721100" cy="2514600"/>
              <a:chOff x="8045744" y="3648954"/>
              <a:chExt cx="3721100" cy="2514600"/>
            </a:xfrm>
          </p:grpSpPr>
          <p:sp>
            <p:nvSpPr>
              <p:cNvPr id="13" name="Rectangle: Rounded Corners 12">
                <a:extLst>
                  <a:ext uri="{FF2B5EF4-FFF2-40B4-BE49-F238E27FC236}">
                    <a16:creationId xmlns:a16="http://schemas.microsoft.com/office/drawing/2014/main" id="{9DCB843A-29DC-6355-CEDC-4AC3AB9EE1BE}"/>
                  </a:ext>
                </a:extLst>
              </p:cNvPr>
              <p:cNvSpPr/>
              <p:nvPr/>
            </p:nvSpPr>
            <p:spPr>
              <a:xfrm>
                <a:off x="8045744" y="3648954"/>
                <a:ext cx="3263900" cy="2057400"/>
              </a:xfrm>
              <a:prstGeom prst="roundRect">
                <a:avLst/>
              </a:prstGeom>
              <a:solidFill>
                <a:srgbClr val="FBA7A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GSBPM</a:t>
                </a:r>
              </a:p>
              <a:p>
                <a:pPr algn="ctr"/>
                <a:r>
                  <a:rPr lang="en-US" sz="4000" dirty="0"/>
                  <a:t>updates</a:t>
                </a:r>
              </a:p>
            </p:txBody>
          </p:sp>
          <p:sp>
            <p:nvSpPr>
              <p:cNvPr id="14" name="Rectangle: Rounded Corners 13">
                <a:extLst>
                  <a:ext uri="{FF2B5EF4-FFF2-40B4-BE49-F238E27FC236}">
                    <a16:creationId xmlns:a16="http://schemas.microsoft.com/office/drawing/2014/main" id="{4A7C7502-D20A-0E54-DA01-E3AF6F97305A}"/>
                  </a:ext>
                </a:extLst>
              </p:cNvPr>
              <p:cNvSpPr/>
              <p:nvPr/>
            </p:nvSpPr>
            <p:spPr>
              <a:xfrm>
                <a:off x="8198144" y="3801354"/>
                <a:ext cx="3263900" cy="2057400"/>
              </a:xfrm>
              <a:prstGeom prst="roundRect">
                <a:avLst/>
              </a:prstGeom>
              <a:solidFill>
                <a:srgbClr val="FBA7A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GSBPM</a:t>
                </a:r>
              </a:p>
              <a:p>
                <a:pPr algn="ctr"/>
                <a:r>
                  <a:rPr lang="en-US" sz="4000" dirty="0"/>
                  <a:t>updates</a:t>
                </a:r>
              </a:p>
            </p:txBody>
          </p:sp>
          <p:sp>
            <p:nvSpPr>
              <p:cNvPr id="15" name="Rectangle: Rounded Corners 14">
                <a:extLst>
                  <a:ext uri="{FF2B5EF4-FFF2-40B4-BE49-F238E27FC236}">
                    <a16:creationId xmlns:a16="http://schemas.microsoft.com/office/drawing/2014/main" id="{8828F94C-0A1F-5D8F-55E6-87C1ACD1D2B6}"/>
                  </a:ext>
                </a:extLst>
              </p:cNvPr>
              <p:cNvSpPr/>
              <p:nvPr/>
            </p:nvSpPr>
            <p:spPr>
              <a:xfrm>
                <a:off x="8350544" y="3953754"/>
                <a:ext cx="3263900" cy="2057400"/>
              </a:xfrm>
              <a:prstGeom prst="roundRect">
                <a:avLst/>
              </a:prstGeom>
              <a:solidFill>
                <a:srgbClr val="FBA7A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4000" dirty="0"/>
                  <a:t>GSBPM</a:t>
                </a:r>
              </a:p>
              <a:p>
                <a:pPr algn="ctr"/>
                <a:r>
                  <a:rPr lang="en-US" sz="4000" dirty="0"/>
                  <a:t>updates</a:t>
                </a:r>
              </a:p>
            </p:txBody>
          </p:sp>
          <p:sp>
            <p:nvSpPr>
              <p:cNvPr id="16" name="Rectangle: Rounded Corners 15">
                <a:extLst>
                  <a:ext uri="{FF2B5EF4-FFF2-40B4-BE49-F238E27FC236}">
                    <a16:creationId xmlns:a16="http://schemas.microsoft.com/office/drawing/2014/main" id="{2650E47D-E6DE-0ABF-1A59-17B04E913AF0}"/>
                  </a:ext>
                </a:extLst>
              </p:cNvPr>
              <p:cNvSpPr/>
              <p:nvPr/>
            </p:nvSpPr>
            <p:spPr>
              <a:xfrm>
                <a:off x="8502944" y="4106154"/>
                <a:ext cx="3263900" cy="2057400"/>
              </a:xfrm>
              <a:prstGeom prst="roundRect">
                <a:avLst/>
              </a:prstGeom>
              <a:solidFill>
                <a:srgbClr val="FBA7A7"/>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dirty="0"/>
                  <a:t>GSBPM phase</a:t>
                </a:r>
              </a:p>
              <a:p>
                <a:pPr algn="ctr"/>
                <a:r>
                  <a:rPr lang="en-US" sz="2800" dirty="0"/>
                  <a:t>+ reasoning/update</a:t>
                </a:r>
              </a:p>
            </p:txBody>
          </p:sp>
        </p:grpSp>
        <p:sp>
          <p:nvSpPr>
            <p:cNvPr id="26" name="Flowchart: Multidocument 25">
              <a:extLst>
                <a:ext uri="{FF2B5EF4-FFF2-40B4-BE49-F238E27FC236}">
                  <a16:creationId xmlns:a16="http://schemas.microsoft.com/office/drawing/2014/main" id="{895A2E63-ACFC-C130-D67A-F516059EB26A}"/>
                </a:ext>
              </a:extLst>
            </p:cNvPr>
            <p:cNvSpPr/>
            <p:nvPr/>
          </p:nvSpPr>
          <p:spPr>
            <a:xfrm>
              <a:off x="8148858" y="3717869"/>
              <a:ext cx="3441700" cy="2462596"/>
            </a:xfrm>
            <a:prstGeom prst="flowChartMultidocumen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sz="2800" dirty="0"/>
                <a:t>Draft GSBPM</a:t>
              </a:r>
            </a:p>
            <a:p>
              <a:pPr algn="ctr"/>
              <a:r>
                <a:rPr lang="en-US" sz="2800" dirty="0"/>
                <a:t>descriptions</a:t>
              </a:r>
            </a:p>
          </p:txBody>
        </p:sp>
      </p:grpSp>
    </p:spTree>
    <p:extLst>
      <p:ext uri="{BB962C8B-B14F-4D97-AF65-F5344CB8AC3E}">
        <p14:creationId xmlns:p14="http://schemas.microsoft.com/office/powerpoint/2010/main" val="12206555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B2D17-B688-8D7A-6A7B-39F6472EC1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E3DF51-102B-91F1-83BD-5C94F1A0491D}"/>
              </a:ext>
            </a:extLst>
          </p:cNvPr>
          <p:cNvSpPr>
            <a:spLocks noGrp="1"/>
          </p:cNvSpPr>
          <p:nvPr>
            <p:ph type="title"/>
          </p:nvPr>
        </p:nvSpPr>
        <p:spPr/>
        <p:txBody>
          <a:bodyPr/>
          <a:lstStyle/>
          <a:p>
            <a:r>
              <a:rPr lang="en-US" dirty="0"/>
              <a:t>5. Draft descriptions</a:t>
            </a:r>
          </a:p>
        </p:txBody>
      </p:sp>
      <p:sp>
        <p:nvSpPr>
          <p:cNvPr id="3" name="Content Placeholder 2">
            <a:extLst>
              <a:ext uri="{FF2B5EF4-FFF2-40B4-BE49-F238E27FC236}">
                <a16:creationId xmlns:a16="http://schemas.microsoft.com/office/drawing/2014/main" id="{3EB3FFFE-F2F5-BD92-3E5B-30C303C28380}"/>
              </a:ext>
            </a:extLst>
          </p:cNvPr>
          <p:cNvSpPr>
            <a:spLocks noGrp="1"/>
          </p:cNvSpPr>
          <p:nvPr>
            <p:ph idx="1"/>
          </p:nvPr>
        </p:nvSpPr>
        <p:spPr>
          <a:xfrm>
            <a:off x="838200" y="1371600"/>
            <a:ext cx="11049000" cy="4479686"/>
          </a:xfrm>
        </p:spPr>
        <p:txBody>
          <a:bodyPr>
            <a:noAutofit/>
          </a:bodyPr>
          <a:lstStyle/>
          <a:p>
            <a:pPr marL="0" indent="0">
              <a:lnSpc>
                <a:spcPct val="100000"/>
              </a:lnSpc>
              <a:spcBef>
                <a:spcPts val="0"/>
              </a:spcBef>
              <a:buNone/>
            </a:pPr>
            <a:r>
              <a:rPr lang="en-US" sz="2000" dirty="0"/>
              <a:t>{"</a:t>
            </a:r>
            <a:r>
              <a:rPr lang="en-US" sz="2000" dirty="0">
                <a:solidFill>
                  <a:srgbClr val="FF0000"/>
                </a:solidFill>
              </a:rPr>
              <a:t>id</a:t>
            </a:r>
            <a:r>
              <a:rPr lang="en-US" sz="2000" dirty="0"/>
              <a:t>": "</a:t>
            </a:r>
            <a:r>
              <a:rPr lang="en-US" sz="2000" dirty="0">
                <a:solidFill>
                  <a:srgbClr val="3B7D23"/>
                </a:solidFill>
              </a:rPr>
              <a:t>4.4</a:t>
            </a:r>
            <a:r>
              <a:rPr lang="en-US" sz="2000" dirty="0"/>
              <a:t>",</a:t>
            </a:r>
          </a:p>
          <a:p>
            <a:pPr marL="0" indent="0">
              <a:lnSpc>
                <a:spcPct val="100000"/>
              </a:lnSpc>
              <a:spcBef>
                <a:spcPts val="0"/>
              </a:spcBef>
              <a:buNone/>
            </a:pPr>
            <a:r>
              <a:rPr lang="en-US" sz="2000" dirty="0"/>
              <a:t>  "</a:t>
            </a:r>
            <a:r>
              <a:rPr lang="en-US" sz="2000" dirty="0">
                <a:solidFill>
                  <a:srgbClr val="FF0000"/>
                </a:solidFill>
              </a:rPr>
              <a:t>text</a:t>
            </a:r>
            <a:r>
              <a:rPr lang="en-US" sz="2000" dirty="0"/>
              <a:t>": "</a:t>
            </a:r>
            <a:r>
              <a:rPr lang="en-US" sz="2000" dirty="0" err="1">
                <a:solidFill>
                  <a:srgbClr val="3B7D23"/>
                </a:solidFill>
              </a:rPr>
              <a:t>Finalise</a:t>
            </a:r>
            <a:r>
              <a:rPr lang="en-US" sz="2000" dirty="0">
                <a:solidFill>
                  <a:srgbClr val="3B7D23"/>
                </a:solidFill>
              </a:rPr>
              <a:t> collection"</a:t>
            </a:r>
            <a:r>
              <a:rPr lang="en-US" sz="2000" dirty="0"/>
              <a:t>,</a:t>
            </a:r>
          </a:p>
          <a:p>
            <a:pPr marL="0" indent="0">
              <a:lnSpc>
                <a:spcPct val="100000"/>
              </a:lnSpc>
              <a:spcBef>
                <a:spcPts val="0"/>
              </a:spcBef>
              <a:buNone/>
            </a:pPr>
            <a:r>
              <a:rPr lang="en-US" sz="2000" dirty="0"/>
              <a:t>  "</a:t>
            </a:r>
            <a:r>
              <a:rPr lang="en-US" sz="2000" dirty="0">
                <a:solidFill>
                  <a:srgbClr val="FF0000"/>
                </a:solidFill>
              </a:rPr>
              <a:t>description</a:t>
            </a:r>
            <a:r>
              <a:rPr lang="en-US" sz="2000" dirty="0"/>
              <a:t>": "</a:t>
            </a:r>
            <a:r>
              <a:rPr lang="en-US" sz="2000" dirty="0">
                <a:solidFill>
                  <a:srgbClr val="3B7D23"/>
                </a:solidFill>
              </a:rPr>
              <a:t>This sub-process includes loading the collected data and metadata into a suitable electronic environment for further processing. When handling 'risky' or sensitive data, this involves utilizing designated 'trusted environments' equipped with confidential computing and other emerging technologies, adhering to enhanced security, privacy, and confidentiality protocols during ingestion and management. Data capture, whether manual or automatic (e.g., clerical, OCR, format conversion, variable encoding), may be performed internally or managed through the receipt, verification, and oversight of data and metadata loaded by external suppliers. Following the loading and an initial analysis of associated metadata and </a:t>
            </a:r>
            <a:r>
              <a:rPr lang="en-US" sz="2000" dirty="0" err="1">
                <a:solidFill>
                  <a:srgbClr val="3B7D23"/>
                </a:solidFill>
              </a:rPr>
              <a:t>paradata</a:t>
            </a:r>
            <a:r>
              <a:rPr lang="en-US" sz="2000" dirty="0">
                <a:solidFill>
                  <a:srgbClr val="3B7D23"/>
                </a:solidFill>
              </a:rPr>
              <a:t> to confirm that collection activities have met requirements, the collected data and metadata undergo a formal 'certification' by subject matter specialists, serving as an explicit quality assurance and accountability gate. The data finalized and certified in this sub-process, especially when originating from or processed within a trusted environment, is designated as the definitive 'master copy' for subsequent stages, thereby eliminating duplicative data holdings. Finally, this sub-process also manages the archiving of physical collection instruments (such as paper questionnaires) and includes the versioning and archiving of software-based collection instruments (like APIs or apps).</a:t>
            </a:r>
            <a:r>
              <a:rPr lang="en-US" sz="2000" dirty="0"/>
              <a:t>"}</a:t>
            </a:r>
          </a:p>
        </p:txBody>
      </p:sp>
    </p:spTree>
    <p:extLst>
      <p:ext uri="{BB962C8B-B14F-4D97-AF65-F5344CB8AC3E}">
        <p14:creationId xmlns:p14="http://schemas.microsoft.com/office/powerpoint/2010/main" val="33505367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diagram&#10;&#10;AI-generated content may be incorrect.">
            <a:extLst>
              <a:ext uri="{FF2B5EF4-FFF2-40B4-BE49-F238E27FC236}">
                <a16:creationId xmlns:a16="http://schemas.microsoft.com/office/drawing/2014/main" id="{6A2B0787-D38D-C4CD-B820-1A6B67B950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65179" y="0"/>
            <a:ext cx="2261642" cy="6858000"/>
          </a:xfrm>
          <a:prstGeom prst="rect">
            <a:avLst/>
          </a:prstGeom>
        </p:spPr>
      </p:pic>
    </p:spTree>
    <p:extLst>
      <p:ext uri="{BB962C8B-B14F-4D97-AF65-F5344CB8AC3E}">
        <p14:creationId xmlns:p14="http://schemas.microsoft.com/office/powerpoint/2010/main" val="24433347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231</TotalTime>
  <Words>1709</Words>
  <Application>Microsoft Office PowerPoint</Application>
  <PresentationFormat>Widescreen</PresentationFormat>
  <Paragraphs>127</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Aptos Display</vt:lpstr>
      <vt:lpstr>Arial</vt:lpstr>
      <vt:lpstr>Office Theme</vt:lpstr>
      <vt:lpstr>Synthesizing GSBPM Updates</vt:lpstr>
      <vt:lpstr>Update</vt:lpstr>
      <vt:lpstr>Proof-of-Concept</vt:lpstr>
      <vt:lpstr>Original description</vt:lpstr>
      <vt:lpstr>Draft description</vt:lpstr>
      <vt:lpstr>Workflow</vt:lpstr>
      <vt:lpstr>Workflow outline</vt:lpstr>
      <vt:lpstr>1. Apply structure to GSBPM content </vt:lpstr>
      <vt:lpstr>1. Structured GSBPM output </vt:lpstr>
      <vt:lpstr>2. Extract updates from strategic decks</vt:lpstr>
      <vt:lpstr>2. Extracted updates output data</vt:lpstr>
      <vt:lpstr>3. Extracted updates with reasoning</vt:lpstr>
      <vt:lpstr>3. Layer-in AI reasoning on updates</vt:lpstr>
      <vt:lpstr>4. Aggregate updates per GSBPM (sub-)phase</vt:lpstr>
      <vt:lpstr>4. Aggregate updates per GSBPM (sub-)phase</vt:lpstr>
      <vt:lpstr>5. LLM drafts updated description</vt:lpstr>
      <vt:lpstr>5. Draft descriptions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Evan (StatCan)</dc:creator>
  <cp:lastModifiedBy>Thomas, Evan (StatCan)</cp:lastModifiedBy>
  <cp:revision>4</cp:revision>
  <dcterms:created xsi:type="dcterms:W3CDTF">2025-09-15T18:57:23Z</dcterms:created>
  <dcterms:modified xsi:type="dcterms:W3CDTF">2025-09-15T22:49:22Z</dcterms:modified>
</cp:coreProperties>
</file>